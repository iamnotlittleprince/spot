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7583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 •  VISÃO ATUAL DO SISTEMA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652760" y="65196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583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SET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47DAD">
              <a:alpha val="90000"/>
            </a:srgbClr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635240" y="594360"/>
            <a:ext cx="3657600" cy="3657600"/>
          </a:xfrm>
          <a:prstGeom prst="arc">
            <a:avLst/>
          </a:prstGeom>
          <a:solidFill>
            <a:srgbClr val="19B5D1">
              <a:alpha val="90000"/>
            </a:srgbClr>
          </a:solidFill>
          <a:ln w="12700">
            <a:solidFill>
              <a:srgbClr val="19B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297680"/>
            <a:ext cx="1920240" cy="1920240"/>
          </a:xfrm>
          <a:prstGeom prst="ellipse">
            <a:avLst/>
          </a:prstGeom>
          <a:solidFill>
            <a:srgbClr val="19B5D1">
              <a:alpha val="82000"/>
            </a:srgbClr>
          </a:solidFill>
          <a:ln w="12700">
            <a:solidFill>
              <a:srgbClr val="19B5D1">
                <a:alpha val="0"/>
              </a:srgbClr>
            </a:solidFill>
            <a:prstDash val="solid"/>
          </a:ln>
        </p:spPr>
      </p:sp>
      <p:pic>
        <p:nvPicPr>
          <p:cNvPr id="5" name="Image 0" descr="/home/alexander/Documentos/Spot/public/spo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1792"/>
            <a:ext cx="123444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481328"/>
            <a:ext cx="2423160" cy="274320"/>
          </a:xfrm>
          <a:prstGeom prst="roundRect">
            <a:avLst>
              <a:gd name="adj" fmla="val 50000"/>
            </a:avLst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36192"/>
            <a:ext cx="2276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</a:rPr>
              <a:t>VISÃO ATUAL  •  SETEMBRO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Spot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D8E8F2"/>
                </a:solidFill>
              </a:rPr>
              <a:t>Gestão de projetos com operação, governança e resultado em uma única plataforma.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85800" y="49834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B5D1"/>
                </a:solidFill>
              </a:rPr>
              <a:t>O que já existe • como funciona • próximos passos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6053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0D1"/>
                </a:solidFill>
              </a:rPr>
              <a:t>Computécnica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RESUMO EXECUTIVO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Um núcleo operacional já funcional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O Spot conecta execução diária, gestão financeira e controles de acesso em uma experiência web única.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47088"/>
            <a:ext cx="64008" cy="914400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75104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92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A"/>
                </a:solidFill>
              </a:rPr>
              <a:t>rotas de API mapeadas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84708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847088"/>
            <a:ext cx="64008" cy="914400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975104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52 / 52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395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A"/>
                </a:solidFill>
              </a:rPr>
              <a:t>testes automatizados aprovados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184708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847088"/>
            <a:ext cx="64008" cy="914400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975104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262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395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A"/>
                </a:solidFill>
              </a:rPr>
              <a:t>asserções validadas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49640" y="184708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1847088"/>
            <a:ext cx="64008" cy="914400"/>
          </a:xfrm>
          <a:prstGeom prst="rect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69096" y="1975104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23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78240" y="23957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A"/>
                </a:solidFill>
              </a:rPr>
              <a:t>modelos de domínio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127248"/>
            <a:ext cx="10424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401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O que isso significa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794760" y="3310128"/>
            <a:ext cx="67665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Fluxos centrais de projetos, tarefas, equipes, horas e despesas já estão representados no backend.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A interface React entrega painel, portfólio, agenda, inbox, projetos, tarefas e perfil.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Autenticação por sessão, permissões e auditoria protegem operações sensíveis.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A solução já compila e passa integralmente pela suíte automatizada no estado analisado.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PRODUTO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O mapa de capacidades do Spot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plataforma foi desenhada em torno do ciclo completo do projeto — da entrada ao resultado.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64992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84832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76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0665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Projetos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Cadastro, responsáveis, prazos, escopo e ciclo de vida.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364992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084832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176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48072" y="20665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Execução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3712" y="260604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Tarefas, quadro Kanban, horas e equipes ativas.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55864" y="1828800"/>
            <a:ext cx="3364992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084832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176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78824" y="20665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Financeiro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4464" y="260604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Contratos, tarifas, impostos, despesas e lucro.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703320"/>
            <a:ext cx="3364992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59352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507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9410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Governança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Finalizar, reabrir, excluir e revisar com justificativa.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703320"/>
            <a:ext cx="3364992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3959352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0507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48072" y="39410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Colaboração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53712" y="448056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Inbox, convites, agenda e integrações Google/Microsoft.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55864" y="3703320"/>
            <a:ext cx="3364992" cy="1490472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3959352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40507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78824" y="39410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Estoque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84464" y="448056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Categorias, produtos e movimentações atômicas via API.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FLUXO PRINCIPAL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Da oportunidade ao resultado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O dado nasce no cadastro, ganha contexto operacional e termina em indicadores de decisão.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2843784"/>
            <a:ext cx="10012680" cy="0"/>
          </a:xfrm>
          <a:prstGeom prst="line">
            <a:avLst/>
          </a:prstGeom>
          <a:noFill/>
          <a:ln w="50800">
            <a:solidFill>
              <a:srgbClr val="19B5D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88720" y="2487168"/>
            <a:ext cx="694944" cy="694944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88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Cadastrar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2648" y="3813048"/>
            <a:ext cx="18288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Proposta, cliente, responsáveis, prazo e contrato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487168"/>
            <a:ext cx="694944" cy="694944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688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2928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Configurar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52928" y="3813048"/>
            <a:ext cx="18288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Equipe, função, tarifa vigente e composição tributária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2487168"/>
            <a:ext cx="694944" cy="694944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688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93208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Executar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93208" y="3813048"/>
            <a:ext cx="18288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Tarefas, horas, horas extras e despesas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09560" y="2487168"/>
            <a:ext cx="694944" cy="694944"/>
          </a:xfrm>
          <a:prstGeom prst="ellipse">
            <a:avLst/>
          </a:prstGeom>
          <a:solidFill>
            <a:srgbClr val="147DA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688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33488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Governar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33488" y="3813048"/>
            <a:ext cx="18288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Aprovar despesas, finalizar ou reabrir com justificativa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49840" y="2487168"/>
            <a:ext cx="694944" cy="694944"/>
          </a:xfrm>
          <a:prstGeom prst="ellipse">
            <a:avLst/>
          </a:prstGeom>
          <a:solidFill>
            <a:srgbClr val="2E9B6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2688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73768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Analisar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573768" y="3813048"/>
            <a:ext cx="18288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Receita, custo, lucro, prazo e evolução do portfólio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71800" y="5285232"/>
            <a:ext cx="6236208" cy="274320"/>
          </a:xfrm>
          <a:prstGeom prst="roundRect">
            <a:avLst>
              <a:gd name="adj" fmla="val 50000"/>
            </a:avLst>
          </a:prstGeom>
          <a:solidFill>
            <a:srgbClr val="DDF5F8"/>
          </a:solidFill>
          <a:ln w="12700">
            <a:solidFill>
              <a:srgbClr val="DDF5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4952" y="5340096"/>
            <a:ext cx="6089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7DAD"/>
                </a:solidFill>
              </a:rPr>
              <a:t>HISTÓRICO FINANCEIRO PRESERVADO POR “FOTOGRAFIA” DAS TARIFAS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GESTÃO FINANCEIRA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Resultado planejado e realizado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lógica financeira evita distorções históricas e considera apenas eventos governados.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1783080"/>
            <a:ext cx="4572000" cy="3977640"/>
          </a:xfrm>
          <a:prstGeom prst="roundRect">
            <a:avLst>
              <a:gd name="adj" fmla="val NaN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Motor de resultado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7E8"/>
                </a:solidFill>
              </a:rPr>
              <a:t>Receita realizada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–  custos de horas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–  despesas aprovadas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–  impostos e comissão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626864"/>
            <a:ext cx="3566160" cy="0"/>
          </a:xfrm>
          <a:prstGeom prst="line">
            <a:avLst/>
          </a:prstGeom>
          <a:noFill/>
          <a:ln w="25400">
            <a:solidFill>
              <a:srgbClr val="19B5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64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B5D1"/>
                </a:solidFill>
              </a:rPr>
              <a:t>=  resultado do projeto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623560" y="1847088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9385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18653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Tarifas com vigência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Sem sobreposição; custo e venda separados.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2551176"/>
            <a:ext cx="4736592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2834640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9260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852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Horas extras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Custos e faturamento podem ter valores distintos.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6208" y="3538728"/>
            <a:ext cx="4736592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3822192"/>
            <a:ext cx="438912" cy="438912"/>
          </a:xfrm>
          <a:prstGeom prst="ellipse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9136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Despesas aprovadas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66760" y="3822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Pendências e rejeições não contaminam o realizado.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36208" y="4526280"/>
            <a:ext cx="4736592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4809744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9011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4828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Visibilidade por permissão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66760" y="48097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Campos financeiros são omitidos quando necessário.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CONFIANÇA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Governança e segurança por desenho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Operações críticas exigem identidade válida, permissão explícita e deixam rastros.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" y="1828800"/>
            <a:ext cx="3383280" cy="38862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2140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76272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IDENTIDADE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779776"/>
            <a:ext cx="2852928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Sem cadastro público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Primeiro acesso por link único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Login Google e Microsoft autorizado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2FA e gestão de sessões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383280" cy="38862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212140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2176272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AUTORIZAÇÃO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5152" y="2779776"/>
            <a:ext cx="2852928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Perfis e permissões granulares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Escopo limitado para convidados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Proteção do último administrador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Dados financeiros por privilégio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9016" y="1828800"/>
            <a:ext cx="3383280" cy="38862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5048" y="212140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176272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RASTREABILIDADE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03336" y="2779776"/>
            <a:ext cx="2852928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Justificativa em ações críticas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Audit logs de mudanças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Convites armazenados por hash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Projetos finalizados ficam bloqueados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ARQUITETURA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Uma SPA moderna sobre um domínio Laravel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Separação clara entre experiência, API, regras de negócio, persistência e analytics.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7552" y="1746504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0F8F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46504"/>
            <a:ext cx="109728" cy="768096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1883664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9B5D1"/>
                </a:solidFill>
              </a:rPr>
              <a:t>EXPERIÊNCIA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07792" y="185623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React 18 + Vite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0" y="1883664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Painel, portfólio, projetos, tarefas, agenda, inbox e perfil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5715000" y="2505456"/>
            <a:ext cx="502920" cy="274320"/>
          </a:xfrm>
          <a:prstGeom prst="chevron">
            <a:avLst/>
          </a:prstGeom>
          <a:solidFill>
            <a:srgbClr val="D7E1E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779776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779776"/>
            <a:ext cx="109728" cy="768096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291693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7DAD"/>
                </a:solidFill>
              </a:rPr>
              <a:t>API PRINCIPAL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07792" y="288950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Laravel 13 + Sanctum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2916936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REST /api/v1, sessão, CSRF, throttling e validação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5715000" y="3538728"/>
            <a:ext cx="502920" cy="274320"/>
          </a:xfrm>
          <a:prstGeom prst="chevron">
            <a:avLst/>
          </a:prstGeom>
          <a:solidFill>
            <a:srgbClr val="D7E1E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3813048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0F8F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3813048"/>
            <a:ext cx="109728" cy="768096"/>
          </a:xfrm>
          <a:prstGeom prst="rect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395020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467D8"/>
                </a:solidFill>
              </a:rPr>
              <a:t>DOMÍNIO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07792" y="392277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Actions + Models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3950208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Projetos, despesas, horas, convites, auditoria e estoque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5715000" y="4572000"/>
            <a:ext cx="502920" cy="274320"/>
          </a:xfrm>
          <a:prstGeom prst="chevron">
            <a:avLst/>
          </a:prstGeom>
          <a:solidFill>
            <a:srgbClr val="D7E1E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4846320"/>
            <a:ext cx="1005840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" y="4846320"/>
            <a:ext cx="109728" cy="768096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4983480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9B69"/>
                </a:solidFill>
              </a:rPr>
              <a:t>DADOS &amp; ANÁLISE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07792" y="495604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PostgreSQL + Python/Pandas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0" y="498348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Persistência relacional e consolidação de indicadores gráficos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0" y="5961888"/>
            <a:ext cx="4892040" cy="274320"/>
          </a:xfrm>
          <a:prstGeom prst="roundRect">
            <a:avLst>
              <a:gd name="adj" fmla="val 50000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6016752"/>
            <a:ext cx="4745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651B"/>
                </a:solidFill>
              </a:rPr>
              <a:t>JWT permanece apenas como camada temporária de compatibilidade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EXPERIÊNCIA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A interface organiza o trabalho em três ritmos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Visão rápida para o dia, profundidade para a operação e consolidação para a gestão.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" y="1874520"/>
            <a:ext cx="3401568" cy="3474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74520"/>
            <a:ext cx="3401568" cy="109728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9B5D1"/>
                </a:solidFill>
              </a:rPr>
              <a:t>AGORA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2670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Painel e inbox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86968" y="3456432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58A"/>
                </a:solidFill>
              </a:rPr>
              <a:t>Projetos, tarefas, times ativos, busca, filtros e mensagens em um só ponto.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" y="470916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7640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B3A"/>
                </a:solidFill>
              </a:rPr>
              <a:t>OPERACIONAL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79976" y="1874520"/>
            <a:ext cx="3401568" cy="3474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1874520"/>
            <a:ext cx="3401568" cy="109728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7DAD"/>
                </a:solidFill>
              </a:rPr>
              <a:t>EXECUÇÃO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54296" y="2670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Projetos e tarefas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654296" y="3456432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58A"/>
                </a:solidFill>
              </a:rPr>
              <a:t>Lista de projetos, novo projeto em etapas e quadro Kanban para priorização.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54296" y="470916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47640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B3A"/>
                </a:solidFill>
              </a:rPr>
              <a:t>COLABORATIVO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47304" y="1874520"/>
            <a:ext cx="3401568" cy="3474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47304" y="1874520"/>
            <a:ext cx="3401568" cy="109728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9B69"/>
                </a:solidFill>
              </a:rPr>
              <a:t>DECISÃO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21624" y="26700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Portfólio e agenda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421624" y="3456432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58A"/>
                </a:solidFill>
              </a:rPr>
              <a:t>KPIs, gráficos por período/projeto e compromissos Spot, Google e Microsoft.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21624" y="470916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4776" y="47640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B3A"/>
                </a:solidFill>
              </a:rPr>
              <a:t>GERENCIAL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ESTADO 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O que já está comprovado — e o que pede consolidação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Leitura baseada no código, nas rotas e nos testes existentes em 11/09/2026.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" y="1783080"/>
            <a:ext cx="5257800" cy="4069080"/>
          </a:xfrm>
          <a:prstGeom prst="roundRect">
            <a:avLst>
              <a:gd name="adj" fmla="val NaN"/>
            </a:avLst>
          </a:prstGeom>
          <a:solidFill>
            <a:srgbClr val="F2FBF7"/>
          </a:solidFill>
          <a:ln w="12700">
            <a:solidFill>
              <a:srgbClr val="BFE5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848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39696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COMPROVADO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2670048"/>
            <a:ext cx="44805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Build de produção concluído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52 testes / 262 asserções aprovados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API principal protegida por sessão e CSRF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Fluxos financeiros e governados cobertos por testes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Interface responsiva com principais áreas navegáveis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074920" cy="4069080"/>
          </a:xfrm>
          <a:prstGeom prst="roundRect">
            <a:avLst>
              <a:gd name="adj" fmla="val NaN"/>
            </a:avLst>
          </a:prstGeom>
          <a:solidFill>
            <a:srgbClr val="FFF9EE"/>
          </a:solidFill>
          <a:ln w="12700">
            <a:solidFill>
              <a:srgbClr val="F0D7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084832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E8A23B"/>
          </a:solidFill>
          <a:ln w="12700">
            <a:solidFill>
              <a:srgbClr val="E8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2139696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 CONSOLIDAR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10528" y="2670048"/>
            <a:ext cx="42519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Concluir telas ainda demonstrativas ou parcialmente conectadas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Ampliar testes do frontend e de ponta a ponta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Hospedar PostgreSQL e sessão em infraestrutura de produção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Retirar gradualmente a compatibilidade JWT legada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</a:rPr>
              <a:t>Formalizar observabilidade, backup e operação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9B5D1"/>
                </a:solidFill>
              </a:rPr>
              <a:t>PRÓXIMOS PASSOS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Uma rota pragmática para a próxima versão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Priorizar confiabilidade operacional antes de ampliar o escopo funcional.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438912" cy="438912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933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8562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FECHAR O NÚCLEO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801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Conectar e validar integralmente projetos, tarefas, horas, despesas e configurações na interface.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75520" y="190195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48672" y="1956816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B3A"/>
                </a:solidFill>
              </a:rPr>
              <a:t>0–30 dias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" y="2340864"/>
            <a:ext cx="0" cy="804672"/>
          </a:xfrm>
          <a:prstGeom prst="line">
            <a:avLst/>
          </a:prstGeom>
          <a:noFill/>
          <a:ln w="25400">
            <a:solidFill>
              <a:srgbClr val="D7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200400"/>
            <a:ext cx="438912" cy="438912"/>
          </a:xfrm>
          <a:prstGeom prst="ellipse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2918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3312" y="3154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ENDURECER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309981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Adicionar E2E, observabilidade, política de backup, Redis e banco de produção.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75520" y="320040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8672" y="3255264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B3A"/>
                </a:solidFill>
              </a:rPr>
              <a:t>30–60 dias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2688" y="3639312"/>
            <a:ext cx="0" cy="804672"/>
          </a:xfrm>
          <a:prstGeom prst="line">
            <a:avLst/>
          </a:prstGeom>
          <a:noFill/>
          <a:ln w="25400">
            <a:solidFill>
              <a:srgbClr val="D7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498848"/>
            <a:ext cx="438912" cy="438912"/>
          </a:xfrm>
          <a:prstGeom prst="ellipse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5902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53312" y="44531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ESCALAR ADOÇÃO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439826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Piloto com usuários, métricas de uso, ajustes de UX e desativação planejada do JWT legado.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75520" y="449884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48672" y="4553712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B3A"/>
                </a:solidFill>
              </a:rPr>
              <a:t>60–90 dias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" y="5605272"/>
            <a:ext cx="10561320" cy="594360"/>
          </a:xfrm>
          <a:prstGeom prst="roundRect">
            <a:avLst>
              <a:gd name="adj" fmla="val NaN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797296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Resultado esperado: uma base estável, auditável e pronta para adoção controlada.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Computécnica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— visão do sistema até agora</dc:title>
  <dc:subject>Visão atual do sistema Spot</dc:subject>
  <dc:creator>Equipe Spot</dc:creator>
  <cp:lastModifiedBy>Equipe Spot</cp:lastModifiedBy>
  <cp:revision>1</cp:revision>
  <dcterms:created xsi:type="dcterms:W3CDTF">2026-09-23T16:55:03Z</dcterms:created>
  <dcterms:modified xsi:type="dcterms:W3CDTF">2026-09-23T16:55:03Z</dcterms:modified>
</cp:coreProperties>
</file>