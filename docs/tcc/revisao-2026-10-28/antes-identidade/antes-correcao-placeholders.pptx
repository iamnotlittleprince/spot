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<Relationship Id="rId17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 (%)</c:v>
                </c:pt>
              </c:strCache>
            </c:strRef>
          </c:tx>
          <c:spPr>
            <a:solidFill>
              <a:srgbClr val="007e98"/>
            </a:solidFill>
            <a:ln w="31680">
              <a:solidFill>
                <a:srgbClr val="007e98"/>
              </a:solidFill>
              <a:round/>
            </a:ln>
          </c:spPr>
          <c:marker>
            <c:symbol val="circle"/>
            <c:size val="7"/>
            <c:spPr>
              <a:solidFill>
                <a:srgbClr val="007e98"/>
              </a:solidFill>
            </c:spPr>
          </c:marker>
          <c:dPt>
            <c:idx val="0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1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2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3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4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29,8%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23,4%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20,2%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16,0%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10,6%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Calibri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15–25</c:v>
                </c:pt>
                <c:pt idx="1">
                  <c:v>25–35</c:v>
                </c:pt>
                <c:pt idx="2">
                  <c:v>35–45</c:v>
                </c:pt>
                <c:pt idx="3">
                  <c:v>45–55</c:v>
                </c:pt>
                <c:pt idx="4">
                  <c:v>&gt;55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0.297872340425532</c:v>
                </c:pt>
                <c:pt idx="1">
                  <c:v>0.234042553191489</c:v>
                </c:pt>
                <c:pt idx="2">
                  <c:v>0.202127659574468</c:v>
                </c:pt>
                <c:pt idx="3">
                  <c:v>0.159574468085106</c:v>
                </c:pt>
                <c:pt idx="4">
                  <c:v>0.106382978723404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3975826"/>
        <c:axId val="48679881"/>
      </c:lineChart>
      <c:catAx>
        <c:axId val="3975826"/>
        <c:scaling>
          <c:orientation val="minMax"/>
        </c:scaling>
        <c:delete val="0"/>
        <c:axPos val="b"/>
        <c:numFmt formatCode="[$-416]dd/mm/yyyy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  <a:ea typeface="DejaVu Sans"/>
              </a:defRPr>
            </a:pPr>
          </a:p>
        </c:txPr>
        <c:crossAx val="48679881"/>
        <c:crosses val="autoZero"/>
        <c:auto val="1"/>
        <c:lblAlgn val="ctr"/>
        <c:lblOffset val="100"/>
        <c:noMultiLvlLbl val="0"/>
      </c:catAx>
      <c:valAx>
        <c:axId val="48679881"/>
        <c:scaling>
          <c:orientation val="minMax"/>
          <c:max val="0.4"/>
          <c:min val="0"/>
        </c:scaling>
        <c:delete val="0"/>
        <c:axPos val="l"/>
        <c:majorGridlines>
          <c:spPr>
            <a:ln w="9360">
              <a:solidFill>
                <a:srgbClr val="dce5ea"/>
              </a:solidFill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  <a:ea typeface="DejaVu Sans"/>
              </a:defRPr>
            </a:pPr>
          </a:p>
        </c:txPr>
        <c:crossAx val="3975826"/>
        <c:crosses val="autoZero"/>
        <c:crossBetween val="between"/>
        <c:majorUnit val="0.1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8b79"/>
              </a:solidFill>
              <a:ln w="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7e98"/>
              </a:solidFill>
              <a:ln w="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f6714"/>
              </a:solidFill>
              <a:ln w="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5b5bf"/>
              </a:solidFill>
              <a:ln w="0">
                <a:solidFill>
                  <a:srgbClr val="ffffff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Concordam</c:v>
                </c:pt>
                <c:pt idx="1">
                  <c:v>Talvez</c:v>
                </c:pt>
                <c:pt idx="2">
                  <c:v>Não</c:v>
                </c:pt>
                <c:pt idx="3">
                  <c:v>Diferença documental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43</c:v>
                </c:pt>
                <c:pt idx="1">
                  <c:v>33</c:v>
                </c:pt>
                <c:pt idx="2">
                  <c:v>14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mover o slide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6F650A4-2B0E-4A98-B49A-EEF12CCB9D03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1 — TEMPO: 20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00:00 a 00:20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Somos a equipe do Spot, Sistemas de Projetos, Organização e Tarefas. O projeto nasceu de uma necessidade da Computécnica: organizar a execução dos projetos com mais clareza e ligar esse trabalho ao seu resultado financeiro. Vamos mostrar como a pesquisa orientou as decisões e como elas aparecem no sistema.”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A503A3-BCBD-4AA7-8D9F-3FDB785886E3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2 — TEMPO: 40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00:20 a 01:00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trabalho conecta três coisas: uma necessidade real, pesquisa para priorizar requisitos e implementação verificável. O Spot organiza a execução e a relaciona ao resultado financeiro, com governança e autonomia de evolução. Nossa contribuição é uma solução adaptada à Computécnica e uma base técnica que pode amadurecer com uso e validação. Esses são os três pilares que orientam a proposta a seguir.”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32E314-C75F-4655-BB8D-DA93EF0284AF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3 — TEMPO: 50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01:00 a 01:50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ponto de partida foi um sistema com visual antigo, dificuldades de integração e controle insuficiente de responsabilidades e custos. Usamos duas bases: a pesquisa de campo, para identificar dores e expectativas, e o estudo de sistemas, para conhecer soluções existentes. O formulário reuniu 94 respostas entre março e agosto de 2026. A amostra é de conveniência: orienta nosso projeto, mas não representa estatisticamente todas as empresas. Também confrontamos essas evidências com o memorial e as necessidades específicas do cliente.”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2959DF-20EE-4E90-9CC8-8FFFD5E10BB2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4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01:50 a 02:50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Leitura do gráfico de linhas: cada ponto representa uma faixa etária, com percentual calculado sobre 94. A ligação mostra o perfil das faixas ordenadas; não representa evolução temporal nem acompanhamento das mesmas pessoas.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Dos 94 participantes, 88 estavam empregados. A amostra reúne diferentes idades e 65 pessoas que não atuam diretamente em gestão de projetos. Isso nos ajudou a pensar no uso cotidiano, além de especialistas. O Office 365 teve 52 menções e 17 pessoas disseram não utilizar software. As ferramentas podem aparecer juntas, por isso essas contagens não somam 94. No Spot, essa presença do Microsoft se traduz em login, agenda e integração de diretório; a diversidade de usuários levou à prioridade de interface simples e tutorial.”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EDA39C-1EBC-4160-AF10-1C4475CCAA51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5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02:50 a 03:55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Leitura do gráfico de setores: concordância = 43/94 (45,7%); talvez = 33/94 (35,1%); não = 14/94 (14,9%); diferença documental = 4/94 (4,3%). A última fatia é apenas a diferença entre a base declarada e as categorias publicadas, não uma resposta observada. As legendas também mostram as contagens.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Sobre software de projetos, 33 não têm e 27 usam uma solução cujo foco não é esse. Ao perguntar sobre uma ferramenta dedicada, 43 concordam diretamente e 33 respondem talvez. Assim, 80,9% demonstram concordância ou abertura, mas não intenção comprovada de compra. O estudo também identifica fluxos internos e externos e opiniões intermediárias sobre a interface atual. Isso levou a centralizar projetos e criar diferentes visões de trabalho. O suporte a contextos internos e externos tem base no modelo, mas não afirmamos dois fluxos completos e separados.”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F3ADCB-F97C-4E13-9084-6E8B71D00E7B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6 — TEMPO: 70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03:55 a 05:05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Os dois números centrais são 63,8% com dificuldade de organização e 88,3% que percebem relação entre organização e faturamento. Também encontramos 41,5% com dificuldade de alinhamento e 31,9% com dificuldade de registrar custos adicionais. O Spot responde com tarefas e responsáveis, equipes, despesas revisadas e resultado financeiro. Esses números são percepções da amostra, não provas de que o Spot aumentou faturamento. Usamos 94 como base e sinalizamos que algumas figuras não discriminam todos os participantes.”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A8D47F-26CC-42C2-A96F-1C3D8FDAB26B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7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05:05 a 06:10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Estudamos Monday, Asana, Jira, Trello, ClickUp e Notion. Eles já oferecem recursos fortes de organização, colaboração e automação. O diferencial que defendemos não é exclusividade de quadros ou dashboards: é entregar um fluxo específico da Computécnica, com tarifas por vigência, despesas aprovadas e regras de encerramento em código próprio. Recursos semelhantes existem em outras ferramentas; defendemos a adequação ao cliente, não exclusividade. Código próprio dá autonomia de evolução, mas continua exigindo hospedagem e manutenção.”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 Páginas oficiais: monday.com/w/use-cases/ai-project-management-software; asana.com/features; atlassian.com/software/jira/features; trello.com/tour; clickup.com/features; notion.com/product/projects; taskrush.com.br/gerenciamento-de-projetos/; artia.com/produto/ia-do-artia/; jestor.com/pt/ai/; aws.amazon.com/what-is-cloud-computing/ (consulta 26/10/2026).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47F973-2625-45C8-96E5-21C5462D9505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8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06:10 a 07:15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A análise aberta destacou interface simples, financeiro, integrações, indicadores e tarefas com agenda. Mostramos a ligação de cada tema com a entrega: tutorial e navegação; horas, tarifas e despesas; calendários; portfólio; quadro, lista e calendário de tarefas. Os alertas agora são gerados por prazo e evento, com caixa de entrada, fila de e-mail, resumos e horário de silêncio. O portfólio atualiza automaticamente. Serviços externos continuam exigindo credenciais, consentimento e SMTP; isso é condição de operação, não ausência do código. A tabela da pesquisa soma 49 frequências e o texto cita 57 comentários: registramos essa diferença e não a preenchemos com respostas inventadas.”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B53B5B-0633-41E9-AEED-57EEED610940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10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08:15 a 09:15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O usuário interage com o React, que envia uma requisição para a API Laravel. O backend identifica a sessão, verifica permissões e valida os campos. As regras de negócio usam o Eloquent para consultar e persistir dados no PostgreSQL, com transações nas operações que precisam ser atômicas. A resposta volta em JSON e a interface atualiza sua apresentação. Para o portfólio, o Laravel seleciona os dados e executa o Python com Pandas, que recebe e devolve JSON, sem consultar o banco. Convites e ativações entram na fila: o worker verifica se o registro ainda é utilizável antes de enviar pelo transporte configurado e repete tentativas em caso de falha. O scheduler agenda lembretes e processamento de notificações, retenção de auditoria e limpeza de mensagens. Essa separação de processos não transforma o sistema em microsserviços. O próximo slide detalha uma tarefa nesse fluxo.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1E9ED6-6A9E-457D-885A-49C357C2FBE8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11 — TEMPO: 75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09:15 a 10:30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O fluxo central começa pelo acesso: o usuário entra com sua conta, ativa o primeiro acesso ou aceita um convite. Conforme as permissões, cadastra o cliente e o projeto, configura equipe, tarifas e impostos. A equipe registra tarefas, horas e andamento; as despesas são lançadas e revisadas. Esses registros alimentam o resultado financeiro do projeto e os indicadores do portfólio. Agenda e caixa de entrada apoiam os prazos e a comunicação; documentos e histórico apoiam a colaboração e a rastreabilidade. O projeto também pode ser finalizado ou reaberto com justificativa, conforme as regras de acesso.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As telas estão listadas no slide. As áreas autenticadas são: Home, Caixa de entrada, Portfólios, Agenda, Meus Projetos, Equipes, Clientes, Novo Projeto, Minhas tarefas, Meus documentos, Histórico, Meu perfil, Parâmetros e Usuários e responsáveis. O acesso inclui Login, Primeiro acesso/ativação, Aceitar convite, Recuperar senha e Redefinir senha. Meu perfil reúne dados pessoais, segurança, notificações e preferências. Dentro do projeto há configuração, integrantes, tarifas, impostos, despesas, resultado e auditoria; são seções e formulários, não novas entradas no menu. Parâmetros reúne clientes, status e situações do projeto, tipos de atividade, tipos de despesa, impostos e configurações administrativas. A criação de convites é um diálogo. Autenticação em dois fatores e integrações aparecem nos fluxos e configurações correspondentes. Os atalhos de aplicativos externos não equivalem a telas internas. As opções visíveis dependem das permissões.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Para concluir, o Spot conecta organização da execução, controle de acesso e visão do resultado gerencial, alinhados às necessidades levantadas na pesquisa. Obrigado.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C247DF-FD1E-43FB-A38F-0512D29AF399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9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07:15 a 08:15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O diferencial do Spot está na combinação de recursos adaptada à Computécnica. A execução das tarefas alimenta a visão financeira; regras de acesso e encerramento dão controle à operação; a auditoria e a tarifa capturada permitem rastrear o que ocorreu. O portfólio reúne indicadores para decisão. As integrações dependem da configuração das credenciais e os envios por e-mail exigem transporte e worker ativos. Código próprio permite adequação e hospedagem escolhida pelo cliente, mas não elimina custos de manutenção. Não alegamos exclusividade de funções que também existem nos concorrentes.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A4AA51-9D47-46B4-87FF-DF61BD3489C5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Para finalizar, restam quatro frentes: publicar o Spot em uma VM Linux no Azure, configurar as autenticações Google e Microsoft em produção, executar os testes de segurança e receber o feedback do cliente para os ajustes finais. Essas atividades são pendências, não etapas já concluídas.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18FF6D-F7CA-4546-AF05-FD82C17ECF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776463-E629-471F-9370-2630F228B6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02D09E-A6DE-4015-8689-9069E7A4B0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841E7D-3131-4003-9A9C-8CF0CCBD8A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2B9CA6-61FE-4FFF-BC67-AE57FDBDC6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55CAB9-34FC-4B41-A0DB-89EF991838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306FB8-8314-4521-B072-E27B541156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0AD9A4-9B29-469B-887C-8BA57A65E7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717401-6E16-40EE-A6A1-80CB687435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5B3B07-955E-4C52-9370-CC4BDF3C7F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CC9AC3-3486-4B01-8C97-3E4A815908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7ECB44-E66D-4A8B-BB85-D610B21FEA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E6F225-5323-404A-866D-7F94C4C9FD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115B87-EE4A-4146-B3BF-3326B5DD2C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09C1A8-4DE0-462F-951A-A88C3C4772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645B82D-A75F-4B5A-B2B9-9C177B3389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2484F3-D4AA-4F2E-9CA2-77FF54E377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F01C7B-8032-49B1-A0F9-BABDBEB3E5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6E14D4-8AF5-43B9-8BE8-7D27492554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BDD848-4E9B-48C9-B125-1221D21352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CEF10CA-2023-40A3-A5C9-B3146EDF58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57A1ED-3BAF-4AE3-8065-8FBF25980C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7504FD-5178-4CA4-BA41-C8A0DA01AA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2E584C-1F4F-40F3-80CC-959DE1B22E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Clique para </a:t>
            </a:r>
            <a:r>
              <a:rPr b="0" lang="pt-BR" sz="1800" spc="-1" strike="noStrike">
                <a:latin typeface="Arial"/>
              </a:rPr>
              <a:t>editar o </a:t>
            </a:r>
            <a:r>
              <a:rPr b="0" lang="pt-BR" sz="1800" spc="-1" strike="noStrike">
                <a:latin typeface="Arial"/>
              </a:rPr>
              <a:t>formato do </a:t>
            </a:r>
            <a:r>
              <a:rPr b="0" lang="pt-BR" sz="1800" spc="-1" strike="noStrike">
                <a:latin typeface="Arial"/>
              </a:rPr>
              <a:t>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Clique para editar o formato do texto da estrutura de tópicos</a:t>
            </a:r>
            <a:endParaRPr b="0" lang="pt-B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2.º nível da estrutura de tópicos</a:t>
            </a:r>
            <a:endParaRPr b="0" lang="pt-B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3.º nível da estrutura de tópicos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4.º nível da estrutura de tópicos</a:t>
            </a:r>
            <a:endParaRPr b="0" lang="pt-B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5.º nível da estrutura de tópicos</a:t>
            </a:r>
            <a:endParaRPr b="0" lang="pt-B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6.º nível da estrutura de tópicos</a:t>
            </a:r>
            <a:endParaRPr b="0" lang="pt-B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7.º nível da estrutura de tópicos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D0958C-BA6E-4B78-9452-09026579DAD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011280-DC3A-4499-9397-02DD0CFCB4B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3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8458200" y="0"/>
            <a:ext cx="3732480" cy="685692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89" name="TextBox 2"/>
          <p:cNvSpPr/>
          <p:nvPr/>
        </p:nvSpPr>
        <p:spPr>
          <a:xfrm>
            <a:off x="640080" y="548640"/>
            <a:ext cx="7314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E31B36"/>
                </a:solidFill>
                <a:latin typeface="Aptos"/>
                <a:ea typeface="DejaVu Sans"/>
              </a:rPr>
              <a:t>TCC • INFORMÁTICA • 2026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94360" y="1417320"/>
            <a:ext cx="731412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7000" spc="-1" strike="noStrike">
                <a:solidFill>
                  <a:srgbClr val="ffffff"/>
                </a:solidFill>
                <a:latin typeface="Aptos"/>
                <a:ea typeface="DejaVu Sans"/>
              </a:rPr>
              <a:t>SPOT</a:t>
            </a:r>
            <a:endParaRPr b="0" lang="pt-BR" sz="7000" spc="-1" strike="noStrike"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58440" y="2697480"/>
            <a:ext cx="749700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Aptos"/>
                <a:ea typeface="DejaVu Sans"/>
              </a:rPr>
              <a:t>Da pesquisa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Aptos"/>
                <a:ea typeface="DejaVu Sans"/>
              </a:rPr>
              <a:t>à implementação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685800" y="4507920"/>
            <a:ext cx="703980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Aptos"/>
                <a:ea typeface="DejaVu Sans"/>
              </a:rPr>
              <a:t>Projetos, pessoas e resultado financeiro</a:t>
            </a:r>
            <a:endParaRPr b="0" lang="pt-BR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Aptos"/>
                <a:ea typeface="DejaVu Sans"/>
              </a:rPr>
              <a:t>no contexto da Computécnica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85800" y="5715000"/>
            <a:ext cx="73141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Aptos"/>
                <a:ea typeface="DejaVu Sans"/>
              </a:rPr>
              <a:t>Alexander Molany Longo • Lucas Rodrigues Soares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Aptos"/>
                <a:ea typeface="DejaVu Sans"/>
              </a:rPr>
              <a:t>Pedro Galvão de Matos • Yasmin Regina de Souza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8851320" y="1188720"/>
            <a:ext cx="28335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Aptos"/>
                <a:ea typeface="DejaVu Sans"/>
              </a:rPr>
              <a:t>4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8897040" y="1938600"/>
            <a:ext cx="2742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DejaVu Sans"/>
              </a:rPr>
              <a:t>integrantes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8851320" y="2788920"/>
            <a:ext cx="28335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Aptos"/>
                <a:ea typeface="DejaVu Sans"/>
              </a:rPr>
              <a:t>12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8897040" y="3538800"/>
            <a:ext cx="2742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DejaVu Sans"/>
              </a:rPr>
              <a:t>slides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8" name="TextBox 11"/>
          <p:cNvSpPr/>
          <p:nvPr/>
        </p:nvSpPr>
        <p:spPr>
          <a:xfrm>
            <a:off x="8851320" y="4389120"/>
            <a:ext cx="28335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Aptos"/>
                <a:ea typeface="DejaVu Sans"/>
              </a:rPr>
              <a:t>15 min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9" name="TextBox 12"/>
          <p:cNvSpPr/>
          <p:nvPr/>
        </p:nvSpPr>
        <p:spPr>
          <a:xfrm>
            <a:off x="8897040" y="5139000"/>
            <a:ext cx="2742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DejaVu Sans"/>
              </a:rPr>
              <a:t>tempo máximo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02" name="Rectangle 10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686800" y="5806440"/>
            <a:ext cx="2834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computecnica-logo.png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8869680" y="5916168"/>
            <a:ext cx="2468880" cy="3657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03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C588A"/>
                </a:solidFill>
                <a:latin typeface="Aptos"/>
                <a:ea typeface="DejaVu Sans"/>
              </a:rPr>
              <a:t>01 / PROPOSTA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23044"/>
                </a:solidFill>
                <a:latin typeface="Aptos"/>
                <a:ea typeface="DejaVu Sans"/>
              </a:rPr>
              <a:t>Pesquisa → requisitos → implementação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Aptos"/>
                <a:ea typeface="DejaVu Sans"/>
              </a:rPr>
              <a:t>Uma solução adaptada à Computécnica, com caminho técnico verificável.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02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548640" y="2194560"/>
            <a:ext cx="33822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C588A"/>
                </a:solidFill>
                <a:latin typeface="Aptos"/>
                <a:ea typeface="DejaVu Sans"/>
              </a:rPr>
              <a:t>01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548640" y="3145680"/>
            <a:ext cx="33822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23044"/>
                </a:solidFill>
                <a:latin typeface="Aptos"/>
                <a:ea typeface="DejaVu Sans"/>
              </a:rPr>
              <a:t>Organizar a execução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548640" y="4050720"/>
            <a:ext cx="33822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23044"/>
                </a:solidFill>
                <a:latin typeface="Aptos"/>
                <a:ea typeface="DejaVu Sans"/>
              </a:rPr>
              <a:t>Projetos, tarefas, responsáveis e equipes.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4361760" y="2194560"/>
            <a:ext cx="33822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C588A"/>
                </a:solidFill>
                <a:latin typeface="Aptos"/>
                <a:ea typeface="DejaVu Sans"/>
              </a:rPr>
              <a:t>02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4361760" y="3145680"/>
            <a:ext cx="33822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23044"/>
                </a:solidFill>
                <a:latin typeface="Aptos"/>
                <a:ea typeface="DejaVu Sans"/>
              </a:rPr>
              <a:t>Entender o resultado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4361760" y="4050720"/>
            <a:ext cx="33822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23044"/>
                </a:solidFill>
                <a:latin typeface="Aptos"/>
                <a:ea typeface="DejaVu Sans"/>
              </a:rPr>
              <a:t>Horas, custos, despesas e margem gerencial.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4" name="TextBox 13"/>
          <p:cNvSpPr/>
          <p:nvPr/>
        </p:nvSpPr>
        <p:spPr>
          <a:xfrm>
            <a:off x="8174880" y="2194560"/>
            <a:ext cx="33822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C588A"/>
                </a:solidFill>
                <a:latin typeface="Aptos"/>
                <a:ea typeface="DejaVu Sans"/>
              </a:rPr>
              <a:t>03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5" name="TextBox 14"/>
          <p:cNvSpPr/>
          <p:nvPr/>
        </p:nvSpPr>
        <p:spPr>
          <a:xfrm>
            <a:off x="8174880" y="3145680"/>
            <a:ext cx="33822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23044"/>
                </a:solidFill>
                <a:latin typeface="Aptos"/>
                <a:ea typeface="DejaVu Sans"/>
              </a:rPr>
              <a:t>Controlar a evolução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8174880" y="4050720"/>
            <a:ext cx="33822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23044"/>
                </a:solidFill>
                <a:latin typeface="Aptos"/>
                <a:ea typeface="DejaVu Sans"/>
              </a:rPr>
              <a:t>Permissões, histórico e implantação própria.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7" name="Rounded Rectangle 16"/>
          <p:cNvSpPr/>
          <p:nvPr/>
        </p:nvSpPr>
        <p:spPr>
          <a:xfrm>
            <a:off x="502920" y="562356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230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18" name="TextBox 17"/>
          <p:cNvSpPr/>
          <p:nvPr/>
        </p:nvSpPr>
        <p:spPr>
          <a:xfrm>
            <a:off x="658440" y="571500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Próximo passo: validar o uso real, medir resultados e evoluir com o retorno do cliente.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Computécnica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20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C588A"/>
                </a:solidFill>
                <a:latin typeface="Aptos"/>
                <a:ea typeface="DejaVu Sans"/>
              </a:rPr>
              <a:t>02 / PONTO DE PARTIDA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23044"/>
                </a:solidFill>
                <a:latin typeface="Aptos"/>
                <a:ea typeface="DejaVu Sans"/>
              </a:rPr>
              <a:t>Um problema real. Duas pesquisas.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Aptos"/>
                <a:ea typeface="DejaVu Sans"/>
              </a:rPr>
              <a:t>Como transformar a rotina do cliente em requisitos verificáveis.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Fontes: monografia, introdução; capítulo da pesquisa, metodologia (2026).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03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502920" y="2030040"/>
            <a:ext cx="3546720" cy="338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26" name="Rectangle 8"/>
          <p:cNvSpPr/>
          <p:nvPr/>
        </p:nvSpPr>
        <p:spPr>
          <a:xfrm>
            <a:off x="502920" y="2030040"/>
            <a:ext cx="49320" cy="33822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27" name="TextBox 9"/>
          <p:cNvSpPr/>
          <p:nvPr/>
        </p:nvSpPr>
        <p:spPr>
          <a:xfrm>
            <a:off x="667440" y="2167200"/>
            <a:ext cx="322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C588A"/>
                </a:solidFill>
                <a:latin typeface="Aptos"/>
                <a:ea typeface="DejaVu Sans"/>
              </a:rPr>
              <a:t>Computécnica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67440" y="2642760"/>
            <a:ext cx="3226680" cy="11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Visual antigo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Acesso pouco delimitado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Custos desconectados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Dependência da solução anterior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4316040" y="2030040"/>
            <a:ext cx="3546720" cy="338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0" name="Rectangle 12"/>
          <p:cNvSpPr/>
          <p:nvPr/>
        </p:nvSpPr>
        <p:spPr>
          <a:xfrm>
            <a:off x="4316040" y="2030040"/>
            <a:ext cx="49320" cy="33822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1" name="TextBox 13"/>
          <p:cNvSpPr/>
          <p:nvPr/>
        </p:nvSpPr>
        <p:spPr>
          <a:xfrm>
            <a:off x="4480560" y="2167200"/>
            <a:ext cx="322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C588A"/>
                </a:solidFill>
                <a:latin typeface="Aptos"/>
                <a:ea typeface="DejaVu Sans"/>
              </a:rPr>
              <a:t>Pesquisa de campo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4480560" y="2642760"/>
            <a:ext cx="3226680" cy="11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16 perguntas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18 mar → 24 ago de 2026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Survey quali-quantitativo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Amostra de conveniência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33" name="Rounded Rectangle 15"/>
          <p:cNvSpPr/>
          <p:nvPr/>
        </p:nvSpPr>
        <p:spPr>
          <a:xfrm>
            <a:off x="8129160" y="2030040"/>
            <a:ext cx="3546720" cy="338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4" name="Rectangle 16"/>
          <p:cNvSpPr/>
          <p:nvPr/>
        </p:nvSpPr>
        <p:spPr>
          <a:xfrm>
            <a:off x="8129160" y="2030040"/>
            <a:ext cx="49320" cy="33822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5" name="TextBox 17"/>
          <p:cNvSpPr/>
          <p:nvPr/>
        </p:nvSpPr>
        <p:spPr>
          <a:xfrm>
            <a:off x="8293680" y="2167200"/>
            <a:ext cx="322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C588A"/>
                </a:solidFill>
                <a:latin typeface="Aptos"/>
                <a:ea typeface="DejaVu Sans"/>
              </a:rPr>
              <a:t>Pesquisa de sistemas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8293680" y="2642760"/>
            <a:ext cx="3226680" cy="11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6 plataformas principais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Integrações e automação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Referências de interação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23044"/>
                </a:solidFill>
                <a:latin typeface="Aptos"/>
                <a:ea typeface="DejaVu Sans"/>
              </a:rPr>
              <a:t>Escolhas para o cliente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37" name="Rounded Rectangle 19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230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8" name="TextBox 20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A amostra orienta prioridades; não representa estatisticamente todas as empresas.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Computécnica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40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C588A"/>
                </a:solidFill>
                <a:latin typeface="Aptos"/>
                <a:ea typeface="DejaVu Sans"/>
              </a:rPr>
              <a:t>03 / PESQUISA DE CAMPO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23044"/>
                </a:solidFill>
                <a:latin typeface="Aptos"/>
                <a:ea typeface="DejaVu Sans"/>
              </a:rPr>
              <a:t>Quem respondeu e o que já utiliza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Aptos"/>
                <a:ea typeface="DejaVu Sans"/>
              </a:rPr>
              <a:t>88 de 94 estavam empregados • 65 não atuam diretamente em gestão de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Fonte: pesquisa SPOT (2026), figuras 1–3 e perfil. Contagens reconstruídas dos gráficos do DOCX.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04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45" name="Rounded Rectangle 7"/>
          <p:cNvSpPr/>
          <p:nvPr/>
        </p:nvSpPr>
        <p:spPr>
          <a:xfrm>
            <a:off x="502920" y="1993320"/>
            <a:ext cx="3519360" cy="351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46" name="TextBox 8"/>
          <p:cNvSpPr/>
          <p:nvPr/>
        </p:nvSpPr>
        <p:spPr>
          <a:xfrm>
            <a:off x="631080" y="210312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23044"/>
                </a:solidFill>
                <a:latin typeface="Aptos"/>
                <a:ea typeface="DejaVu Sans"/>
              </a:rPr>
              <a:t>Perfil etário — gráfico de linhas</a:t>
            </a:r>
            <a:endParaRPr b="0" lang="pt-BR" sz="1400" spc="-1" strike="noStrike">
              <a:latin typeface="Arial"/>
            </a:endParaRPr>
          </a:p>
        </p:txBody>
      </p:sp>
      <p:graphicFrame>
        <p:nvGraphicFramePr>
          <p:cNvPr id="147" name="Chart 9"/>
          <p:cNvGraphicFramePr/>
          <p:nvPr/>
        </p:nvGraphicFramePr>
        <p:xfrm>
          <a:off x="612720" y="2569320"/>
          <a:ext cx="3299760" cy="24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8" name="TextBox 10"/>
          <p:cNvSpPr/>
          <p:nvPr/>
        </p:nvSpPr>
        <p:spPr>
          <a:xfrm>
            <a:off x="631080" y="518472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Base: 94 • linha entre faixas etárias, não evolução no tempo.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49" name="Rounded Rectangle 11"/>
          <p:cNvSpPr/>
          <p:nvPr/>
        </p:nvSpPr>
        <p:spPr>
          <a:xfrm>
            <a:off x="4334400" y="1993320"/>
            <a:ext cx="3519360" cy="351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50" name="TextBox 12"/>
          <p:cNvSpPr/>
          <p:nvPr/>
        </p:nvSpPr>
        <p:spPr>
          <a:xfrm>
            <a:off x="4480560" y="2103120"/>
            <a:ext cx="32450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23044"/>
                </a:solidFill>
                <a:latin typeface="Aptos"/>
                <a:ea typeface="DejaVu Sans"/>
              </a:rPr>
              <a:t>Atuação em gestão de projetos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4471560" y="2742840"/>
            <a:ext cx="1543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Aptos"/>
                <a:ea typeface="DejaVu Sans"/>
              </a:rPr>
              <a:t>Não atua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2" name="Rectangle 14"/>
          <p:cNvSpPr/>
          <p:nvPr/>
        </p:nvSpPr>
        <p:spPr>
          <a:xfrm>
            <a:off x="5988960" y="277452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53" name="Rectangle 15"/>
          <p:cNvSpPr/>
          <p:nvPr/>
        </p:nvSpPr>
        <p:spPr>
          <a:xfrm>
            <a:off x="5988960" y="2774520"/>
            <a:ext cx="79488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54" name="TextBox 16"/>
          <p:cNvSpPr/>
          <p:nvPr/>
        </p:nvSpPr>
        <p:spPr>
          <a:xfrm>
            <a:off x="6839640" y="2742840"/>
            <a:ext cx="950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23044"/>
                </a:solidFill>
                <a:latin typeface="Aptos"/>
                <a:ea typeface="DejaVu Sans"/>
              </a:rPr>
              <a:t>65 · 69,1%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5" name="TextBox 17"/>
          <p:cNvSpPr/>
          <p:nvPr/>
        </p:nvSpPr>
        <p:spPr>
          <a:xfrm>
            <a:off x="4471560" y="3344040"/>
            <a:ext cx="1543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Aptos"/>
                <a:ea typeface="DejaVu Sans"/>
              </a:rPr>
              <a:t>Atua parcialmente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6" name="Rectangle 18"/>
          <p:cNvSpPr/>
          <p:nvPr/>
        </p:nvSpPr>
        <p:spPr>
          <a:xfrm>
            <a:off x="5988960" y="337608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57" name="Rectangle 19"/>
          <p:cNvSpPr/>
          <p:nvPr/>
        </p:nvSpPr>
        <p:spPr>
          <a:xfrm>
            <a:off x="5988960" y="3376080"/>
            <a:ext cx="24372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58" name="TextBox 20"/>
          <p:cNvSpPr/>
          <p:nvPr/>
        </p:nvSpPr>
        <p:spPr>
          <a:xfrm>
            <a:off x="6839640" y="3344040"/>
            <a:ext cx="950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23044"/>
                </a:solidFill>
                <a:latin typeface="Aptos"/>
                <a:ea typeface="DejaVu Sans"/>
              </a:rPr>
              <a:t>20 · 21,3%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9" name="TextBox 21"/>
          <p:cNvSpPr/>
          <p:nvPr/>
        </p:nvSpPr>
        <p:spPr>
          <a:xfrm>
            <a:off x="4471560" y="3945240"/>
            <a:ext cx="1543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Aptos"/>
                <a:ea typeface="DejaVu Sans"/>
              </a:rPr>
              <a:t>Totalmente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0" name="Rectangle 22"/>
          <p:cNvSpPr/>
          <p:nvPr/>
        </p:nvSpPr>
        <p:spPr>
          <a:xfrm>
            <a:off x="5988960" y="397728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61" name="Rectangle 23"/>
          <p:cNvSpPr/>
          <p:nvPr/>
        </p:nvSpPr>
        <p:spPr>
          <a:xfrm>
            <a:off x="5988960" y="3977280"/>
            <a:ext cx="4788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62" name="TextBox 24"/>
          <p:cNvSpPr/>
          <p:nvPr/>
        </p:nvSpPr>
        <p:spPr>
          <a:xfrm>
            <a:off x="6839640" y="3945240"/>
            <a:ext cx="950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23044"/>
                </a:solidFill>
                <a:latin typeface="Aptos"/>
                <a:ea typeface="DejaVu Sans"/>
              </a:rPr>
              <a:t>4 · 4,3%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3" name="TextBox 25"/>
          <p:cNvSpPr/>
          <p:nvPr/>
        </p:nvSpPr>
        <p:spPr>
          <a:xfrm>
            <a:off x="4471560" y="4546800"/>
            <a:ext cx="1543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Aptos"/>
                <a:ea typeface="DejaVu Sans"/>
              </a:rPr>
              <a:t>Sim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4" name="Rectangle 26"/>
          <p:cNvSpPr/>
          <p:nvPr/>
        </p:nvSpPr>
        <p:spPr>
          <a:xfrm>
            <a:off x="5988960" y="457884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65" name="Rectangle 27"/>
          <p:cNvSpPr/>
          <p:nvPr/>
        </p:nvSpPr>
        <p:spPr>
          <a:xfrm>
            <a:off x="5988960" y="4578840"/>
            <a:ext cx="3564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66" name="TextBox 28"/>
          <p:cNvSpPr/>
          <p:nvPr/>
        </p:nvSpPr>
        <p:spPr>
          <a:xfrm>
            <a:off x="6839640" y="4546800"/>
            <a:ext cx="950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23044"/>
                </a:solidFill>
                <a:latin typeface="Aptos"/>
                <a:ea typeface="DejaVu Sans"/>
              </a:rPr>
              <a:t>3 · 3,2%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7" name="TextBox 29"/>
          <p:cNvSpPr/>
          <p:nvPr/>
        </p:nvSpPr>
        <p:spPr>
          <a:xfrm>
            <a:off x="4480560" y="5276160"/>
            <a:ext cx="3245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68" name="Rounded Rectangle 30"/>
          <p:cNvSpPr/>
          <p:nvPr/>
        </p:nvSpPr>
        <p:spPr>
          <a:xfrm>
            <a:off x="8165520" y="1993320"/>
            <a:ext cx="3519360" cy="351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69" name="TextBox 31"/>
          <p:cNvSpPr/>
          <p:nvPr/>
        </p:nvSpPr>
        <p:spPr>
          <a:xfrm>
            <a:off x="8312040" y="2103120"/>
            <a:ext cx="32450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23044"/>
                </a:solidFill>
                <a:latin typeface="Aptos"/>
                <a:ea typeface="DejaVu Sans"/>
              </a:rPr>
              <a:t>Ferramentas utilizadas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70" name="TextBox 32"/>
          <p:cNvSpPr/>
          <p:nvPr/>
        </p:nvSpPr>
        <p:spPr>
          <a:xfrm>
            <a:off x="8302680" y="252576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Office 365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1" name="Rectangle 33"/>
          <p:cNvSpPr/>
          <p:nvPr/>
        </p:nvSpPr>
        <p:spPr>
          <a:xfrm>
            <a:off x="9820080" y="255780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72" name="Rectangle 34"/>
          <p:cNvSpPr/>
          <p:nvPr/>
        </p:nvSpPr>
        <p:spPr>
          <a:xfrm>
            <a:off x="9820080" y="2557800"/>
            <a:ext cx="79488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73" name="TextBox 35"/>
          <p:cNvSpPr/>
          <p:nvPr/>
        </p:nvSpPr>
        <p:spPr>
          <a:xfrm>
            <a:off x="10671120" y="252576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52 · 55,3%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4" name="TextBox 36"/>
          <p:cNvSpPr/>
          <p:nvPr/>
        </p:nvSpPr>
        <p:spPr>
          <a:xfrm>
            <a:off x="8302680" y="296280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Software próprio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5" name="Rectangle 37"/>
          <p:cNvSpPr/>
          <p:nvPr/>
        </p:nvSpPr>
        <p:spPr>
          <a:xfrm>
            <a:off x="9820080" y="299484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76" name="Rectangle 38"/>
          <p:cNvSpPr/>
          <p:nvPr/>
        </p:nvSpPr>
        <p:spPr>
          <a:xfrm>
            <a:off x="9820080" y="2994840"/>
            <a:ext cx="39708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77" name="TextBox 39"/>
          <p:cNvSpPr/>
          <p:nvPr/>
        </p:nvSpPr>
        <p:spPr>
          <a:xfrm>
            <a:off x="10671120" y="296280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26 · 27,7%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8" name="TextBox 40"/>
          <p:cNvSpPr/>
          <p:nvPr/>
        </p:nvSpPr>
        <p:spPr>
          <a:xfrm>
            <a:off x="8302680" y="339984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Office 2021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9" name="Rectangle 41"/>
          <p:cNvSpPr/>
          <p:nvPr/>
        </p:nvSpPr>
        <p:spPr>
          <a:xfrm>
            <a:off x="9820080" y="343188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0" name="Rectangle 42"/>
          <p:cNvSpPr/>
          <p:nvPr/>
        </p:nvSpPr>
        <p:spPr>
          <a:xfrm>
            <a:off x="9820080" y="3431880"/>
            <a:ext cx="2898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1" name="TextBox 43"/>
          <p:cNvSpPr/>
          <p:nvPr/>
        </p:nvSpPr>
        <p:spPr>
          <a:xfrm>
            <a:off x="10671120" y="339984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19 · 20,2%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2" name="TextBox 44"/>
          <p:cNvSpPr/>
          <p:nvPr/>
        </p:nvSpPr>
        <p:spPr>
          <a:xfrm>
            <a:off x="8302680" y="383688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Nenhum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3" name="Rectangle 45"/>
          <p:cNvSpPr/>
          <p:nvPr/>
        </p:nvSpPr>
        <p:spPr>
          <a:xfrm>
            <a:off x="9820080" y="386892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4" name="Rectangle 46"/>
          <p:cNvSpPr/>
          <p:nvPr/>
        </p:nvSpPr>
        <p:spPr>
          <a:xfrm>
            <a:off x="9820080" y="3868920"/>
            <a:ext cx="2592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5" name="TextBox 47"/>
          <p:cNvSpPr/>
          <p:nvPr/>
        </p:nvSpPr>
        <p:spPr>
          <a:xfrm>
            <a:off x="10671120" y="383688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17 · 18,1%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6" name="TextBox 48"/>
          <p:cNvSpPr/>
          <p:nvPr/>
        </p:nvSpPr>
        <p:spPr>
          <a:xfrm>
            <a:off x="8302680" y="427392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Bloco de Notas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7" name="Rectangle 49"/>
          <p:cNvSpPr/>
          <p:nvPr/>
        </p:nvSpPr>
        <p:spPr>
          <a:xfrm>
            <a:off x="9820080" y="430596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8" name="Rectangle 50"/>
          <p:cNvSpPr/>
          <p:nvPr/>
        </p:nvSpPr>
        <p:spPr>
          <a:xfrm>
            <a:off x="9820080" y="4305960"/>
            <a:ext cx="24372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9" name="TextBox 51"/>
          <p:cNvSpPr/>
          <p:nvPr/>
        </p:nvSpPr>
        <p:spPr>
          <a:xfrm>
            <a:off x="10671120" y="427392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16 · 17,0%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0" name="TextBox 52"/>
          <p:cNvSpPr/>
          <p:nvPr/>
        </p:nvSpPr>
        <p:spPr>
          <a:xfrm>
            <a:off x="8302680" y="471096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Notion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91" name="Rectangle 53"/>
          <p:cNvSpPr/>
          <p:nvPr/>
        </p:nvSpPr>
        <p:spPr>
          <a:xfrm>
            <a:off x="9820080" y="474300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92" name="Rectangle 54"/>
          <p:cNvSpPr/>
          <p:nvPr/>
        </p:nvSpPr>
        <p:spPr>
          <a:xfrm>
            <a:off x="9820080" y="4743000"/>
            <a:ext cx="6012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93" name="TextBox 55"/>
          <p:cNvSpPr/>
          <p:nvPr/>
        </p:nvSpPr>
        <p:spPr>
          <a:xfrm>
            <a:off x="10671120" y="471096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4 · 4,3%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4" name="TextBox 56"/>
          <p:cNvSpPr/>
          <p:nvPr/>
        </p:nvSpPr>
        <p:spPr>
          <a:xfrm>
            <a:off x="8312040" y="5276160"/>
            <a:ext cx="3245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menções não exclusivas • % de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95" name="Rounded Rectangle 57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230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96" name="TextBox 58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52 menções a Office 365 → integração corporativa • perfil diverso → prioridade de usabilidade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8" name="Picture 197" descr="Computécnica"/>
          <p:cNvPicPr>
            <a:picLocks noChangeAspect="1"/>
          </p:cNvPicPr>
          <p:nvPr/>
        </p:nvPicPr>
        <p:blipFill>
          <a:blip r:embed="rId4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98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C588A"/>
                </a:solidFill>
                <a:latin typeface="Aptos"/>
                <a:ea typeface="DejaVu Sans"/>
              </a:rPr>
              <a:t>04 / ADOÇÃO E CONTEXTO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23044"/>
                </a:solidFill>
                <a:latin typeface="Aptos"/>
                <a:ea typeface="DejaVu Sans"/>
              </a:rPr>
              <a:t>Uma solução dedicada precisa se adaptar à rotina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Aptos"/>
                <a:ea typeface="DejaVu Sans"/>
              </a:rPr>
              <a:t>43 concordam com a necessidade; 33 dizem “talvez” → 80,9% de apoio ou abertura, sem inferir compra.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Fonte: pesquisa SPOT (2026), figuras 4–8 e 13. Base 94; alternativas abreviadas; ver transcrição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05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03" name="Rounded Rectangle 7"/>
          <p:cNvSpPr/>
          <p:nvPr/>
        </p:nvSpPr>
        <p:spPr>
          <a:xfrm>
            <a:off x="502920" y="192024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04" name="TextBox 8"/>
          <p:cNvSpPr/>
          <p:nvPr/>
        </p:nvSpPr>
        <p:spPr>
          <a:xfrm>
            <a:off x="649080" y="2030040"/>
            <a:ext cx="32634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23044"/>
                </a:solidFill>
                <a:latin typeface="Aptos"/>
                <a:ea typeface="DejaVu Sans"/>
              </a:rPr>
              <a:t>Software de projetos na empresa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640080" y="26694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Não 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06" name="Rectangle 10"/>
          <p:cNvSpPr/>
          <p:nvPr/>
        </p:nvSpPr>
        <p:spPr>
          <a:xfrm>
            <a:off x="2166120" y="270144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07" name="Rectangle 11"/>
          <p:cNvSpPr/>
          <p:nvPr/>
        </p:nvSpPr>
        <p:spPr>
          <a:xfrm>
            <a:off x="2166120" y="2701440"/>
            <a:ext cx="8046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08" name="TextBox 12"/>
          <p:cNvSpPr/>
          <p:nvPr/>
        </p:nvSpPr>
        <p:spPr>
          <a:xfrm>
            <a:off x="3026520" y="26694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33 · 35,1%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9" name="TextBox 13"/>
          <p:cNvSpPr/>
          <p:nvPr/>
        </p:nvSpPr>
        <p:spPr>
          <a:xfrm>
            <a:off x="640080" y="29347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0" name="Rectangle 14"/>
          <p:cNvSpPr/>
          <p:nvPr/>
        </p:nvSpPr>
        <p:spPr>
          <a:xfrm>
            <a:off x="2166120" y="29667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11" name="Rectangle 15"/>
          <p:cNvSpPr/>
          <p:nvPr/>
        </p:nvSpPr>
        <p:spPr>
          <a:xfrm>
            <a:off x="2166120" y="2966760"/>
            <a:ext cx="78012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12" name="TextBox 16"/>
          <p:cNvSpPr/>
          <p:nvPr/>
        </p:nvSpPr>
        <p:spPr>
          <a:xfrm>
            <a:off x="3026520" y="29347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32 · 34,0%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3" name="TextBox 17"/>
          <p:cNvSpPr/>
          <p:nvPr/>
        </p:nvSpPr>
        <p:spPr>
          <a:xfrm>
            <a:off x="640080" y="32004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Sem foco em projetos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4" name="Rectangle 18"/>
          <p:cNvSpPr/>
          <p:nvPr/>
        </p:nvSpPr>
        <p:spPr>
          <a:xfrm>
            <a:off x="2166120" y="32320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15" name="Rectangle 19"/>
          <p:cNvSpPr/>
          <p:nvPr/>
        </p:nvSpPr>
        <p:spPr>
          <a:xfrm>
            <a:off x="2166120" y="3232080"/>
            <a:ext cx="65808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16" name="TextBox 20"/>
          <p:cNvSpPr/>
          <p:nvPr/>
        </p:nvSpPr>
        <p:spPr>
          <a:xfrm>
            <a:off x="3026520" y="32004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27 · 28,7%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7" name="TextBox 21"/>
          <p:cNvSpPr/>
          <p:nvPr/>
        </p:nvSpPr>
        <p:spPr>
          <a:xfrm>
            <a:off x="649080" y="359352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8" name="Rounded Rectangle 22"/>
          <p:cNvSpPr/>
          <p:nvPr/>
        </p:nvSpPr>
        <p:spPr>
          <a:xfrm>
            <a:off x="4316040" y="192024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19" name="TextBox 23"/>
          <p:cNvSpPr/>
          <p:nvPr/>
        </p:nvSpPr>
        <p:spPr>
          <a:xfrm>
            <a:off x="4443840" y="2030040"/>
            <a:ext cx="32817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Software dedicado — necessidade</a:t>
            </a:r>
            <a:endParaRPr b="0" lang="pt-BR" sz="1300" spc="-1" strike="noStrike">
              <a:latin typeface="Arial"/>
            </a:endParaRPr>
          </a:p>
        </p:txBody>
      </p:sp>
      <p:graphicFrame>
        <p:nvGraphicFramePr>
          <p:cNvPr id="220" name="Chart 24"/>
          <p:cNvGraphicFramePr/>
          <p:nvPr/>
        </p:nvGraphicFramePr>
        <p:xfrm>
          <a:off x="4361760" y="2386440"/>
          <a:ext cx="1306440" cy="122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1" name="Rectangle 25"/>
          <p:cNvSpPr/>
          <p:nvPr/>
        </p:nvSpPr>
        <p:spPr>
          <a:xfrm>
            <a:off x="5724000" y="2455200"/>
            <a:ext cx="90360" cy="9036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2" name="TextBox 26"/>
          <p:cNvSpPr/>
          <p:nvPr/>
        </p:nvSpPr>
        <p:spPr>
          <a:xfrm>
            <a:off x="5870520" y="2432160"/>
            <a:ext cx="1882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Concordam: 45,7% (43)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3" name="Rectangle 27"/>
          <p:cNvSpPr/>
          <p:nvPr/>
        </p:nvSpPr>
        <p:spPr>
          <a:xfrm>
            <a:off x="5724000" y="2720520"/>
            <a:ext cx="90360" cy="9036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4" name="TextBox 28"/>
          <p:cNvSpPr/>
          <p:nvPr/>
        </p:nvSpPr>
        <p:spPr>
          <a:xfrm>
            <a:off x="5870520" y="2697480"/>
            <a:ext cx="1882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Talvez: 35,1% (33)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5" name="Rectangle 29"/>
          <p:cNvSpPr/>
          <p:nvPr/>
        </p:nvSpPr>
        <p:spPr>
          <a:xfrm>
            <a:off x="5724000" y="2985480"/>
            <a:ext cx="90360" cy="9036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6" name="TextBox 30"/>
          <p:cNvSpPr/>
          <p:nvPr/>
        </p:nvSpPr>
        <p:spPr>
          <a:xfrm>
            <a:off x="5870520" y="2962800"/>
            <a:ext cx="1882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Não: 14,9% (14)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7" name="Rectangle 31"/>
          <p:cNvSpPr/>
          <p:nvPr/>
        </p:nvSpPr>
        <p:spPr>
          <a:xfrm>
            <a:off x="5724000" y="3250800"/>
            <a:ext cx="90360" cy="90360"/>
          </a:xfrm>
          <a:prstGeom prst="rect">
            <a:avLst/>
          </a:prstGeom>
          <a:solidFill>
            <a:srgbClr val="a5b5b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8" name="TextBox 32"/>
          <p:cNvSpPr/>
          <p:nvPr/>
        </p:nvSpPr>
        <p:spPr>
          <a:xfrm>
            <a:off x="5870520" y="3227760"/>
            <a:ext cx="1882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23044"/>
                </a:solidFill>
                <a:latin typeface="Aptos"/>
                <a:ea typeface="DejaVu Sans"/>
              </a:rPr>
              <a:t>Diferença documental: 4,3% (4)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9" name="TextBox 33"/>
          <p:cNvSpPr/>
          <p:nvPr/>
        </p:nvSpPr>
        <p:spPr>
          <a:xfrm>
            <a:off x="4443840" y="3611880"/>
            <a:ext cx="328176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750" spc="-1" strike="noStrike">
                <a:solidFill>
                  <a:srgbClr val="526878"/>
                </a:solidFill>
                <a:latin typeface="Aptos"/>
                <a:ea typeface="DejaVu Sans"/>
              </a:rPr>
              <a:t>Base 94; diferença de 4 não discriminada na fonte.</a:t>
            </a:r>
            <a:endParaRPr b="0" lang="pt-BR" sz="750" spc="-1" strike="noStrike">
              <a:latin typeface="Arial"/>
            </a:endParaRPr>
          </a:p>
        </p:txBody>
      </p:sp>
      <p:sp>
        <p:nvSpPr>
          <p:cNvPr id="230" name="Rounded Rectangle 34"/>
          <p:cNvSpPr/>
          <p:nvPr/>
        </p:nvSpPr>
        <p:spPr>
          <a:xfrm>
            <a:off x="8129160" y="192024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31" name="TextBox 35"/>
          <p:cNvSpPr/>
          <p:nvPr/>
        </p:nvSpPr>
        <p:spPr>
          <a:xfrm>
            <a:off x="8275320" y="203004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23044"/>
                </a:solidFill>
                <a:latin typeface="Aptos"/>
                <a:ea typeface="DejaVu Sans"/>
              </a:rPr>
              <a:t>Satisfação com a solução atual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32" name="TextBox 36"/>
          <p:cNvSpPr/>
          <p:nvPr/>
        </p:nvSpPr>
        <p:spPr>
          <a:xfrm>
            <a:off x="8266320" y="2669400"/>
            <a:ext cx="15523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Aptos"/>
                <a:ea typeface="DejaVu Sans"/>
              </a:rPr>
              <a:t>Pode melhorar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33" name="Rectangle 37"/>
          <p:cNvSpPr/>
          <p:nvPr/>
        </p:nvSpPr>
        <p:spPr>
          <a:xfrm>
            <a:off x="9792360" y="270144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34" name="Rectangle 38"/>
          <p:cNvSpPr/>
          <p:nvPr/>
        </p:nvSpPr>
        <p:spPr>
          <a:xfrm>
            <a:off x="9792360" y="2701440"/>
            <a:ext cx="8046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35" name="TextBox 39"/>
          <p:cNvSpPr/>
          <p:nvPr/>
        </p:nvSpPr>
        <p:spPr>
          <a:xfrm>
            <a:off x="10652760" y="26694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30 · 31,9%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6" name="TextBox 40"/>
          <p:cNvSpPr/>
          <p:nvPr/>
        </p:nvSpPr>
        <p:spPr>
          <a:xfrm>
            <a:off x="8266320" y="2868480"/>
            <a:ext cx="15523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Aptos"/>
                <a:ea typeface="DejaVu Sans"/>
              </a:rPr>
              <a:t>Não temos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37" name="Rectangle 41"/>
          <p:cNvSpPr/>
          <p:nvPr/>
        </p:nvSpPr>
        <p:spPr>
          <a:xfrm>
            <a:off x="9792360" y="290052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38" name="Rectangle 42"/>
          <p:cNvSpPr/>
          <p:nvPr/>
        </p:nvSpPr>
        <p:spPr>
          <a:xfrm>
            <a:off x="9792360" y="2900520"/>
            <a:ext cx="7776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39" name="TextBox 43"/>
          <p:cNvSpPr/>
          <p:nvPr/>
        </p:nvSpPr>
        <p:spPr>
          <a:xfrm>
            <a:off x="10652760" y="286848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0" name="TextBox 44"/>
          <p:cNvSpPr/>
          <p:nvPr/>
        </p:nvSpPr>
        <p:spPr>
          <a:xfrm>
            <a:off x="8266320" y="3067560"/>
            <a:ext cx="15523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Aptos"/>
                <a:ea typeface="DejaVu Sans"/>
              </a:rPr>
              <a:t>Atende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41" name="Rectangle 45"/>
          <p:cNvSpPr/>
          <p:nvPr/>
        </p:nvSpPr>
        <p:spPr>
          <a:xfrm>
            <a:off x="9792360" y="309960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2" name="Rectangle 46"/>
          <p:cNvSpPr/>
          <p:nvPr/>
        </p:nvSpPr>
        <p:spPr>
          <a:xfrm>
            <a:off x="9792360" y="3099600"/>
            <a:ext cx="61668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3" name="TextBox 47"/>
          <p:cNvSpPr/>
          <p:nvPr/>
        </p:nvSpPr>
        <p:spPr>
          <a:xfrm>
            <a:off x="10652760" y="306756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23 · 24,5%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4" name="TextBox 48"/>
          <p:cNvSpPr/>
          <p:nvPr/>
        </p:nvSpPr>
        <p:spPr>
          <a:xfrm>
            <a:off x="8266320" y="3266640"/>
            <a:ext cx="15523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Aptos"/>
                <a:ea typeface="DejaVu Sans"/>
              </a:rPr>
              <a:t>Não é usado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45" name="Rectangle 49"/>
          <p:cNvSpPr/>
          <p:nvPr/>
        </p:nvSpPr>
        <p:spPr>
          <a:xfrm>
            <a:off x="9792360" y="32986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6" name="Rectangle 50"/>
          <p:cNvSpPr/>
          <p:nvPr/>
        </p:nvSpPr>
        <p:spPr>
          <a:xfrm>
            <a:off x="9792360" y="3298680"/>
            <a:ext cx="18684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7" name="TextBox 51"/>
          <p:cNvSpPr/>
          <p:nvPr/>
        </p:nvSpPr>
        <p:spPr>
          <a:xfrm>
            <a:off x="10652760" y="32666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8" name="TextBox 52"/>
          <p:cNvSpPr/>
          <p:nvPr/>
        </p:nvSpPr>
        <p:spPr>
          <a:xfrm>
            <a:off x="8275320" y="359352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9" name="Rounded Rectangle 53"/>
          <p:cNvSpPr/>
          <p:nvPr/>
        </p:nvSpPr>
        <p:spPr>
          <a:xfrm>
            <a:off x="502920" y="400500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0" name="TextBox 54"/>
          <p:cNvSpPr/>
          <p:nvPr/>
        </p:nvSpPr>
        <p:spPr>
          <a:xfrm>
            <a:off x="649080" y="411480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23044"/>
                </a:solidFill>
                <a:latin typeface="Aptos"/>
                <a:ea typeface="DejaVu Sans"/>
              </a:rPr>
              <a:t>Interface atual é intuitiva?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51" name="TextBox 55"/>
          <p:cNvSpPr/>
          <p:nvPr/>
        </p:nvSpPr>
        <p:spPr>
          <a:xfrm>
            <a:off x="640080" y="45374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Sem software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2" name="Rectangle 56"/>
          <p:cNvSpPr/>
          <p:nvPr/>
        </p:nvSpPr>
        <p:spPr>
          <a:xfrm>
            <a:off x="2166120" y="45694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3" name="Rectangle 57"/>
          <p:cNvSpPr/>
          <p:nvPr/>
        </p:nvSpPr>
        <p:spPr>
          <a:xfrm>
            <a:off x="2166120" y="4569480"/>
            <a:ext cx="8046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4" name="TextBox 58"/>
          <p:cNvSpPr/>
          <p:nvPr/>
        </p:nvSpPr>
        <p:spPr>
          <a:xfrm>
            <a:off x="3026520" y="45374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5" name="TextBox 59"/>
          <p:cNvSpPr/>
          <p:nvPr/>
        </p:nvSpPr>
        <p:spPr>
          <a:xfrm>
            <a:off x="640080" y="47401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6" name="Rectangle 60"/>
          <p:cNvSpPr/>
          <p:nvPr/>
        </p:nvSpPr>
        <p:spPr>
          <a:xfrm>
            <a:off x="2166120" y="47721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7" name="Rectangle 61"/>
          <p:cNvSpPr/>
          <p:nvPr/>
        </p:nvSpPr>
        <p:spPr>
          <a:xfrm>
            <a:off x="2166120" y="4772160"/>
            <a:ext cx="77688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8" name="TextBox 62"/>
          <p:cNvSpPr/>
          <p:nvPr/>
        </p:nvSpPr>
        <p:spPr>
          <a:xfrm>
            <a:off x="3026520" y="47401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28 · 29,8%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9" name="TextBox 63"/>
          <p:cNvSpPr/>
          <p:nvPr/>
        </p:nvSpPr>
        <p:spPr>
          <a:xfrm>
            <a:off x="640080" y="49428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Mais ou menos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0" name="Rectangle 64"/>
          <p:cNvSpPr/>
          <p:nvPr/>
        </p:nvSpPr>
        <p:spPr>
          <a:xfrm>
            <a:off x="2166120" y="49744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61" name="Rectangle 65"/>
          <p:cNvSpPr/>
          <p:nvPr/>
        </p:nvSpPr>
        <p:spPr>
          <a:xfrm>
            <a:off x="2166120" y="4974480"/>
            <a:ext cx="69336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62" name="TextBox 66"/>
          <p:cNvSpPr/>
          <p:nvPr/>
        </p:nvSpPr>
        <p:spPr>
          <a:xfrm>
            <a:off x="3026520" y="49428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25 · 26,6%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3" name="TextBox 67"/>
          <p:cNvSpPr/>
          <p:nvPr/>
        </p:nvSpPr>
        <p:spPr>
          <a:xfrm>
            <a:off x="640080" y="51451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4" name="Rectangle 68"/>
          <p:cNvSpPr/>
          <p:nvPr/>
        </p:nvSpPr>
        <p:spPr>
          <a:xfrm>
            <a:off x="2166120" y="51771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65" name="Rectangle 69"/>
          <p:cNvSpPr/>
          <p:nvPr/>
        </p:nvSpPr>
        <p:spPr>
          <a:xfrm>
            <a:off x="2166120" y="5177160"/>
            <a:ext cx="11016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66" name="TextBox 70"/>
          <p:cNvSpPr/>
          <p:nvPr/>
        </p:nvSpPr>
        <p:spPr>
          <a:xfrm>
            <a:off x="3026520" y="51451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7" name="TextBox 71"/>
          <p:cNvSpPr/>
          <p:nvPr/>
        </p:nvSpPr>
        <p:spPr>
          <a:xfrm>
            <a:off x="640080" y="53478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8" name="Rectangle 72"/>
          <p:cNvSpPr/>
          <p:nvPr/>
        </p:nvSpPr>
        <p:spPr>
          <a:xfrm>
            <a:off x="2166120" y="537984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69" name="Rectangle 73"/>
          <p:cNvSpPr/>
          <p:nvPr/>
        </p:nvSpPr>
        <p:spPr>
          <a:xfrm>
            <a:off x="2166120" y="5379840"/>
            <a:ext cx="11016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70" name="TextBox 74"/>
          <p:cNvSpPr/>
          <p:nvPr/>
        </p:nvSpPr>
        <p:spPr>
          <a:xfrm>
            <a:off x="3026520" y="53478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1" name="TextBox 75"/>
          <p:cNvSpPr/>
          <p:nvPr/>
        </p:nvSpPr>
        <p:spPr>
          <a:xfrm>
            <a:off x="649080" y="567828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2" name="Rounded Rectangle 76"/>
          <p:cNvSpPr/>
          <p:nvPr/>
        </p:nvSpPr>
        <p:spPr>
          <a:xfrm>
            <a:off x="4316040" y="400500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73" name="TextBox 77"/>
          <p:cNvSpPr/>
          <p:nvPr/>
        </p:nvSpPr>
        <p:spPr>
          <a:xfrm>
            <a:off x="4462200" y="411480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23044"/>
                </a:solidFill>
                <a:latin typeface="Aptos"/>
                <a:ea typeface="DejaVu Sans"/>
              </a:rPr>
              <a:t>Fluxo de projetos externos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74" name="TextBox 78"/>
          <p:cNvSpPr/>
          <p:nvPr/>
        </p:nvSpPr>
        <p:spPr>
          <a:xfrm>
            <a:off x="4453200" y="45374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5" name="Rectangle 79"/>
          <p:cNvSpPr/>
          <p:nvPr/>
        </p:nvSpPr>
        <p:spPr>
          <a:xfrm>
            <a:off x="5979240" y="45694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76" name="Rectangle 80"/>
          <p:cNvSpPr/>
          <p:nvPr/>
        </p:nvSpPr>
        <p:spPr>
          <a:xfrm>
            <a:off x="5979240" y="4569480"/>
            <a:ext cx="8046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77" name="TextBox 81"/>
          <p:cNvSpPr/>
          <p:nvPr/>
        </p:nvSpPr>
        <p:spPr>
          <a:xfrm>
            <a:off x="6839640" y="45374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42 · 44,7%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8" name="TextBox 82"/>
          <p:cNvSpPr/>
          <p:nvPr/>
        </p:nvSpPr>
        <p:spPr>
          <a:xfrm>
            <a:off x="4453200" y="47905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9" name="Rectangle 83"/>
          <p:cNvSpPr/>
          <p:nvPr/>
        </p:nvSpPr>
        <p:spPr>
          <a:xfrm>
            <a:off x="5979240" y="48225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80" name="Rectangle 84"/>
          <p:cNvSpPr/>
          <p:nvPr/>
        </p:nvSpPr>
        <p:spPr>
          <a:xfrm>
            <a:off x="5979240" y="4822560"/>
            <a:ext cx="40176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81" name="TextBox 85"/>
          <p:cNvSpPr/>
          <p:nvPr/>
        </p:nvSpPr>
        <p:spPr>
          <a:xfrm>
            <a:off x="6839640" y="47905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21 · 22,3%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82" name="TextBox 86"/>
          <p:cNvSpPr/>
          <p:nvPr/>
        </p:nvSpPr>
        <p:spPr>
          <a:xfrm>
            <a:off x="4453200" y="504396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83" name="Rectangle 87"/>
          <p:cNvSpPr/>
          <p:nvPr/>
        </p:nvSpPr>
        <p:spPr>
          <a:xfrm>
            <a:off x="5979240" y="507600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84" name="Rectangle 88"/>
          <p:cNvSpPr/>
          <p:nvPr/>
        </p:nvSpPr>
        <p:spPr>
          <a:xfrm>
            <a:off x="5979240" y="5076000"/>
            <a:ext cx="34416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85" name="TextBox 89"/>
          <p:cNvSpPr/>
          <p:nvPr/>
        </p:nvSpPr>
        <p:spPr>
          <a:xfrm>
            <a:off x="6839640" y="504396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18 · 19,1%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86" name="TextBox 90"/>
          <p:cNvSpPr/>
          <p:nvPr/>
        </p:nvSpPr>
        <p:spPr>
          <a:xfrm>
            <a:off x="4453200" y="52970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87" name="Rectangle 91"/>
          <p:cNvSpPr/>
          <p:nvPr/>
        </p:nvSpPr>
        <p:spPr>
          <a:xfrm>
            <a:off x="5979240" y="53290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88" name="Rectangle 92"/>
          <p:cNvSpPr/>
          <p:nvPr/>
        </p:nvSpPr>
        <p:spPr>
          <a:xfrm>
            <a:off x="5979240" y="5329080"/>
            <a:ext cx="17172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89" name="TextBox 93"/>
          <p:cNvSpPr/>
          <p:nvPr/>
        </p:nvSpPr>
        <p:spPr>
          <a:xfrm>
            <a:off x="6839640" y="52970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0" name="TextBox 94"/>
          <p:cNvSpPr/>
          <p:nvPr/>
        </p:nvSpPr>
        <p:spPr>
          <a:xfrm>
            <a:off x="4462200" y="567828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1" name="Rounded Rectangle 95"/>
          <p:cNvSpPr/>
          <p:nvPr/>
        </p:nvSpPr>
        <p:spPr>
          <a:xfrm>
            <a:off x="8129160" y="400500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92" name="TextBox 96"/>
          <p:cNvSpPr/>
          <p:nvPr/>
        </p:nvSpPr>
        <p:spPr>
          <a:xfrm>
            <a:off x="8275320" y="411480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23044"/>
                </a:solidFill>
                <a:latin typeface="Aptos"/>
                <a:ea typeface="DejaVu Sans"/>
              </a:rPr>
              <a:t>Fluxo de projetos internos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93" name="TextBox 97"/>
          <p:cNvSpPr/>
          <p:nvPr/>
        </p:nvSpPr>
        <p:spPr>
          <a:xfrm>
            <a:off x="8266320" y="45374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94" name="Rectangle 98"/>
          <p:cNvSpPr/>
          <p:nvPr/>
        </p:nvSpPr>
        <p:spPr>
          <a:xfrm>
            <a:off x="9792360" y="45694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95" name="Rectangle 99"/>
          <p:cNvSpPr/>
          <p:nvPr/>
        </p:nvSpPr>
        <p:spPr>
          <a:xfrm>
            <a:off x="9792360" y="4569480"/>
            <a:ext cx="8046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96" name="TextBox 100"/>
          <p:cNvSpPr/>
          <p:nvPr/>
        </p:nvSpPr>
        <p:spPr>
          <a:xfrm>
            <a:off x="10652760" y="45374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57 · 60,6%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7" name="TextBox 101"/>
          <p:cNvSpPr/>
          <p:nvPr/>
        </p:nvSpPr>
        <p:spPr>
          <a:xfrm>
            <a:off x="8266320" y="47905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98" name="Rectangle 102"/>
          <p:cNvSpPr/>
          <p:nvPr/>
        </p:nvSpPr>
        <p:spPr>
          <a:xfrm>
            <a:off x="9792360" y="48225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99" name="Rectangle 103"/>
          <p:cNvSpPr/>
          <p:nvPr/>
        </p:nvSpPr>
        <p:spPr>
          <a:xfrm>
            <a:off x="9792360" y="4822560"/>
            <a:ext cx="2250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00" name="TextBox 104"/>
          <p:cNvSpPr/>
          <p:nvPr/>
        </p:nvSpPr>
        <p:spPr>
          <a:xfrm>
            <a:off x="10652760" y="47905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16 · 17,0%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1" name="TextBox 105"/>
          <p:cNvSpPr/>
          <p:nvPr/>
        </p:nvSpPr>
        <p:spPr>
          <a:xfrm>
            <a:off x="8266320" y="504396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2" name="Rectangle 106"/>
          <p:cNvSpPr/>
          <p:nvPr/>
        </p:nvSpPr>
        <p:spPr>
          <a:xfrm>
            <a:off x="9792360" y="507600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03" name="Rectangle 107"/>
          <p:cNvSpPr/>
          <p:nvPr/>
        </p:nvSpPr>
        <p:spPr>
          <a:xfrm>
            <a:off x="9792360" y="5076000"/>
            <a:ext cx="12600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04" name="TextBox 108"/>
          <p:cNvSpPr/>
          <p:nvPr/>
        </p:nvSpPr>
        <p:spPr>
          <a:xfrm>
            <a:off x="10652760" y="504396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5" name="TextBox 109"/>
          <p:cNvSpPr/>
          <p:nvPr/>
        </p:nvSpPr>
        <p:spPr>
          <a:xfrm>
            <a:off x="8266320" y="52970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Aptos"/>
                <a:ea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6" name="Rectangle 110"/>
          <p:cNvSpPr/>
          <p:nvPr/>
        </p:nvSpPr>
        <p:spPr>
          <a:xfrm>
            <a:off x="9792360" y="53290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07" name="Rectangle 111"/>
          <p:cNvSpPr/>
          <p:nvPr/>
        </p:nvSpPr>
        <p:spPr>
          <a:xfrm>
            <a:off x="9792360" y="5329080"/>
            <a:ext cx="97920" cy="12708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08" name="TextBox 112"/>
          <p:cNvSpPr/>
          <p:nvPr/>
        </p:nvSpPr>
        <p:spPr>
          <a:xfrm>
            <a:off x="10652760" y="52970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23044"/>
                </a:solidFill>
                <a:latin typeface="Aptos"/>
                <a:ea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9" name="TextBox 113"/>
          <p:cNvSpPr/>
          <p:nvPr/>
        </p:nvSpPr>
        <p:spPr>
          <a:xfrm>
            <a:off x="8275320" y="567828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10" name="TextBox 114"/>
          <p:cNvSpPr/>
          <p:nvPr/>
        </p:nvSpPr>
        <p:spPr>
          <a:xfrm>
            <a:off x="548640" y="6099120"/>
            <a:ext cx="11063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C588A"/>
                </a:solidFill>
                <a:latin typeface="Aptos"/>
                <a:ea typeface="DejaVu Sans"/>
              </a:rPr>
              <a:t>Resposta: organização dedicada, flexibilidade de uso e base de modelagem para contextos internos/externos.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11" name="Rectangle 31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2" name="Picture 311" descr="Computécnica"/>
          <p:cNvPicPr>
            <a:picLocks noChangeAspect="1"/>
          </p:cNvPicPr>
          <p:nvPr/>
        </p:nvPicPr>
        <p:blipFill>
          <a:blip r:embed="rId4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313" name="TextBox 312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12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C588A"/>
                </a:solidFill>
                <a:latin typeface="Aptos"/>
                <a:ea typeface="DejaVu Sans"/>
              </a:rPr>
              <a:t>05 / DORES → REQUISITOS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13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23044"/>
                </a:solidFill>
                <a:latin typeface="Aptos"/>
                <a:ea typeface="DejaVu Sans"/>
              </a:rPr>
              <a:t>Organização e financeiro orientam o núcleo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14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Aptos"/>
                <a:ea typeface="DejaVu Sans"/>
              </a:rPr>
              <a:t>Concordância direta = “Sim” + “Absolutamente” • percentuais sobre 94 participantes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5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Fonte: pesquisa SPOT (2026), figuras 9–12. Totais exibidos variam; diferenças constam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16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06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17" name="TextBox 7"/>
          <p:cNvSpPr/>
          <p:nvPr/>
        </p:nvSpPr>
        <p:spPr>
          <a:xfrm>
            <a:off x="548640" y="2999160"/>
            <a:ext cx="37483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23044"/>
                </a:solidFill>
                <a:latin typeface="Aptos"/>
                <a:ea typeface="DejaVu Sans"/>
              </a:rPr>
              <a:t>Dificuldade de organização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18" name="Rectangle 8"/>
          <p:cNvSpPr/>
          <p:nvPr/>
        </p:nvSpPr>
        <p:spPr>
          <a:xfrm>
            <a:off x="4389120" y="2084760"/>
            <a:ext cx="2925000" cy="20016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19" name="TextBox 10"/>
          <p:cNvSpPr/>
          <p:nvPr/>
        </p:nvSpPr>
        <p:spPr>
          <a:xfrm>
            <a:off x="7443360" y="2971800"/>
            <a:ext cx="13525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C588A"/>
                </a:solidFill>
                <a:latin typeface="Aptos"/>
                <a:ea typeface="DejaVu Sans"/>
              </a:rPr>
              <a:t>63,8%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20" name="TextBox 11"/>
          <p:cNvSpPr/>
          <p:nvPr/>
        </p:nvSpPr>
        <p:spPr>
          <a:xfrm>
            <a:off x="7525440" y="2414160"/>
            <a:ext cx="91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83/94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21" name="TextBox 12"/>
          <p:cNvSpPr/>
          <p:nvPr/>
        </p:nvSpPr>
        <p:spPr>
          <a:xfrm>
            <a:off x="8823960" y="3054240"/>
            <a:ext cx="2788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23044"/>
                </a:solidFill>
                <a:latin typeface="Aptos"/>
                <a:ea typeface="DejaVu Sans"/>
              </a:rPr>
              <a:t>Projetos + tarefas + filtros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2" name="TextBox 13"/>
          <p:cNvSpPr/>
          <p:nvPr/>
        </p:nvSpPr>
        <p:spPr>
          <a:xfrm>
            <a:off x="548640" y="2030040"/>
            <a:ext cx="374832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23044"/>
                </a:solidFill>
                <a:latin typeface="Aptos"/>
                <a:ea typeface="DejaVu Sans"/>
              </a:rPr>
              <a:t>Organização ajuda no faturamento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23" name="Rectangle 14"/>
          <p:cNvSpPr/>
          <p:nvPr/>
        </p:nvSpPr>
        <p:spPr>
          <a:xfrm>
            <a:off x="4389120" y="3054240"/>
            <a:ext cx="2925000" cy="20016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24" name="Rectangle 15"/>
          <p:cNvSpPr/>
          <p:nvPr/>
        </p:nvSpPr>
        <p:spPr>
          <a:xfrm>
            <a:off x="4389120" y="2084760"/>
            <a:ext cx="2582640" cy="20016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25" name="TextBox 16"/>
          <p:cNvSpPr/>
          <p:nvPr/>
        </p:nvSpPr>
        <p:spPr>
          <a:xfrm>
            <a:off x="7443360" y="2002680"/>
            <a:ext cx="13525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C588A"/>
                </a:solidFill>
                <a:latin typeface="Aptos"/>
                <a:ea typeface="DejaVu Sans"/>
              </a:rPr>
              <a:t>88,3%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26" name="TextBox 17"/>
          <p:cNvSpPr/>
          <p:nvPr/>
        </p:nvSpPr>
        <p:spPr>
          <a:xfrm>
            <a:off x="7525440" y="3383280"/>
            <a:ext cx="91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60/94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27" name="TextBox 18"/>
          <p:cNvSpPr/>
          <p:nvPr/>
        </p:nvSpPr>
        <p:spPr>
          <a:xfrm>
            <a:off x="8823960" y="2084760"/>
            <a:ext cx="278820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23044"/>
                </a:solidFill>
                <a:latin typeface="Aptos"/>
                <a:ea typeface="DejaVu Sans"/>
              </a:rPr>
              <a:t>Horas + custos + resultado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8" name="TextBox 19"/>
          <p:cNvSpPr/>
          <p:nvPr/>
        </p:nvSpPr>
        <p:spPr>
          <a:xfrm>
            <a:off x="548640" y="3858840"/>
            <a:ext cx="37483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23044"/>
                </a:solidFill>
                <a:latin typeface="Aptos"/>
                <a:ea typeface="DejaVu Sans"/>
              </a:rPr>
              <a:t>Dificuldade de alinhamento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29" name="Rectangle 20"/>
          <p:cNvSpPr/>
          <p:nvPr/>
        </p:nvSpPr>
        <p:spPr>
          <a:xfrm>
            <a:off x="4389120" y="3913560"/>
            <a:ext cx="2925000" cy="20016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30" name="Rectangle 21"/>
          <p:cNvSpPr/>
          <p:nvPr/>
        </p:nvSpPr>
        <p:spPr>
          <a:xfrm>
            <a:off x="4389120" y="3913560"/>
            <a:ext cx="1212840" cy="20016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31" name="TextBox 22"/>
          <p:cNvSpPr/>
          <p:nvPr/>
        </p:nvSpPr>
        <p:spPr>
          <a:xfrm>
            <a:off x="7443360" y="3831480"/>
            <a:ext cx="13525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C588A"/>
                </a:solidFill>
                <a:latin typeface="Aptos"/>
                <a:ea typeface="DejaVu Sans"/>
              </a:rPr>
              <a:t>41,5%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32" name="TextBox 23"/>
          <p:cNvSpPr/>
          <p:nvPr/>
        </p:nvSpPr>
        <p:spPr>
          <a:xfrm>
            <a:off x="7525440" y="4242960"/>
            <a:ext cx="91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39/94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33" name="TextBox 24"/>
          <p:cNvSpPr/>
          <p:nvPr/>
        </p:nvSpPr>
        <p:spPr>
          <a:xfrm>
            <a:off x="8823960" y="3913560"/>
            <a:ext cx="2788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23044"/>
                </a:solidFill>
                <a:latin typeface="Aptos"/>
                <a:ea typeface="DejaVu Sans"/>
              </a:rPr>
              <a:t>Equipes + responsáveis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34" name="TextBox 25"/>
          <p:cNvSpPr/>
          <p:nvPr/>
        </p:nvSpPr>
        <p:spPr>
          <a:xfrm>
            <a:off x="548640" y="4718160"/>
            <a:ext cx="374832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23044"/>
                </a:solidFill>
                <a:latin typeface="Aptos"/>
                <a:ea typeface="DejaVu Sans"/>
              </a:rPr>
              <a:t>Dificuldade de custos adicionais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35" name="Rectangle 26"/>
          <p:cNvSpPr/>
          <p:nvPr/>
        </p:nvSpPr>
        <p:spPr>
          <a:xfrm>
            <a:off x="4389120" y="4773240"/>
            <a:ext cx="2925000" cy="20016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36" name="Rectangle 27"/>
          <p:cNvSpPr/>
          <p:nvPr/>
        </p:nvSpPr>
        <p:spPr>
          <a:xfrm>
            <a:off x="4389120" y="4773240"/>
            <a:ext cx="932760" cy="20016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37" name="TextBox 28"/>
          <p:cNvSpPr/>
          <p:nvPr/>
        </p:nvSpPr>
        <p:spPr>
          <a:xfrm>
            <a:off x="7443360" y="4690800"/>
            <a:ext cx="13525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af6714"/>
                </a:solidFill>
                <a:latin typeface="Aptos"/>
                <a:ea typeface="DejaVu Sans"/>
              </a:rPr>
              <a:t>31,9%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38" name="TextBox 29"/>
          <p:cNvSpPr/>
          <p:nvPr/>
        </p:nvSpPr>
        <p:spPr>
          <a:xfrm>
            <a:off x="7525440" y="5102280"/>
            <a:ext cx="91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Aptos"/>
                <a:ea typeface="DejaVu Sans"/>
              </a:rPr>
              <a:t>30/94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39" name="TextBox 30"/>
          <p:cNvSpPr/>
          <p:nvPr/>
        </p:nvSpPr>
        <p:spPr>
          <a:xfrm>
            <a:off x="8823960" y="4773240"/>
            <a:ext cx="2788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23044"/>
                </a:solidFill>
                <a:latin typeface="Aptos"/>
                <a:ea typeface="DejaVu Sans"/>
              </a:rPr>
              <a:t>Despesas + aprovação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40" name="Rounded Rectangle 31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230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41" name="TextBox 32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Percepções justificam requisitos; não comprovam ganho de faturamento causado pelo Spot.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42" name="Rectangle 9"/>
          <p:cNvSpPr/>
          <p:nvPr/>
        </p:nvSpPr>
        <p:spPr>
          <a:xfrm>
            <a:off x="4389120" y="3054240"/>
            <a:ext cx="1866600" cy="20016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43" name="Rectangle 34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4" name="Picture 343" descr="Computécnica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345" name="TextBox 344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44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C588A"/>
                </a:solidFill>
                <a:latin typeface="Aptos"/>
                <a:ea typeface="DejaVu Sans"/>
              </a:rPr>
              <a:t>06 / PESQUISA DE SISTEMAS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5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23044"/>
                </a:solidFill>
                <a:latin typeface="Aptos"/>
                <a:ea typeface="DejaVu Sans"/>
              </a:rPr>
              <a:t>Referências do mercado. Recorte da Computécnica.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46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Aptos"/>
                <a:ea typeface="DejaVu Sans"/>
              </a:rPr>
              <a:t>Diferencial defendido: adequação das regras e autonomia de evolução, sem alegar exclusividade.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47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Fontes: monografia, estudo de sistemas; páginas oficiais consultadas em 26/10/2026 (URLs no guia e notas).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48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07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9" name="Rectangle 7"/>
          <p:cNvSpPr/>
          <p:nvPr/>
        </p:nvSpPr>
        <p:spPr>
          <a:xfrm>
            <a:off x="502920" y="1911240"/>
            <a:ext cx="1827720" cy="392040"/>
          </a:xfrm>
          <a:prstGeom prst="rect">
            <a:avLst/>
          </a:prstGeom>
          <a:solidFill>
            <a:srgbClr val="1230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50" name="TextBox 8"/>
          <p:cNvSpPr/>
          <p:nvPr/>
        </p:nvSpPr>
        <p:spPr>
          <a:xfrm>
            <a:off x="594360" y="1993320"/>
            <a:ext cx="1644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Referência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1" name="Rectangle 9"/>
          <p:cNvSpPr/>
          <p:nvPr/>
        </p:nvSpPr>
        <p:spPr>
          <a:xfrm>
            <a:off x="2468880" y="1911240"/>
            <a:ext cx="3839400" cy="392040"/>
          </a:xfrm>
          <a:prstGeom prst="rect">
            <a:avLst/>
          </a:prstGeom>
          <a:solidFill>
            <a:srgbClr val="1230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52" name="TextBox 10"/>
          <p:cNvSpPr/>
          <p:nvPr/>
        </p:nvSpPr>
        <p:spPr>
          <a:xfrm>
            <a:off x="2560320" y="1993320"/>
            <a:ext cx="3656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Força observada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3" name="Rectangle 11"/>
          <p:cNvSpPr/>
          <p:nvPr/>
        </p:nvSpPr>
        <p:spPr>
          <a:xfrm>
            <a:off x="6602040" y="1911240"/>
            <a:ext cx="5073840" cy="392040"/>
          </a:xfrm>
          <a:prstGeom prst="rect">
            <a:avLst/>
          </a:prstGeom>
          <a:solidFill>
            <a:srgbClr val="1230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54" name="TextBox 12"/>
          <p:cNvSpPr/>
          <p:nvPr/>
        </p:nvSpPr>
        <p:spPr>
          <a:xfrm>
            <a:off x="6693480" y="1993320"/>
            <a:ext cx="4890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Recorte do Spot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5" name="Rectangle 13"/>
          <p:cNvSpPr/>
          <p:nvPr/>
        </p:nvSpPr>
        <p:spPr>
          <a:xfrm>
            <a:off x="502920" y="2395800"/>
            <a:ext cx="11172960" cy="35568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56" name="TextBox 14"/>
          <p:cNvSpPr/>
          <p:nvPr/>
        </p:nvSpPr>
        <p:spPr>
          <a:xfrm>
            <a:off x="621720" y="245988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C588A"/>
                </a:solidFill>
                <a:latin typeface="Aptos"/>
                <a:ea typeface="DejaVu Sans"/>
              </a:rPr>
              <a:t>Monday.com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7" name="TextBox 15"/>
          <p:cNvSpPr/>
          <p:nvPr/>
        </p:nvSpPr>
        <p:spPr>
          <a:xfrm>
            <a:off x="2560320" y="245988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Gestão visual e automações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8" name="TextBox 16"/>
          <p:cNvSpPr/>
          <p:nvPr/>
        </p:nvSpPr>
        <p:spPr>
          <a:xfrm>
            <a:off x="6693480" y="245988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Regras financeiras para o cliente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9" name="Rectangle 17"/>
          <p:cNvSpPr/>
          <p:nvPr/>
        </p:nvSpPr>
        <p:spPr>
          <a:xfrm>
            <a:off x="502920" y="2788920"/>
            <a:ext cx="11172960" cy="35568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60" name="TextBox 18"/>
          <p:cNvSpPr/>
          <p:nvPr/>
        </p:nvSpPr>
        <p:spPr>
          <a:xfrm>
            <a:off x="621720" y="285300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C588A"/>
                </a:solidFill>
                <a:latin typeface="Aptos"/>
                <a:ea typeface="DejaVu Sans"/>
              </a:rPr>
              <a:t>Asana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1" name="TextBox 19"/>
          <p:cNvSpPr/>
          <p:nvPr/>
        </p:nvSpPr>
        <p:spPr>
          <a:xfrm>
            <a:off x="2560320" y="285300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Coordenação de tarefas 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2" name="TextBox 20"/>
          <p:cNvSpPr/>
          <p:nvPr/>
        </p:nvSpPr>
        <p:spPr>
          <a:xfrm>
            <a:off x="6693480" y="285300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Contrato → horas →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3" name="Rectangle 21"/>
          <p:cNvSpPr/>
          <p:nvPr/>
        </p:nvSpPr>
        <p:spPr>
          <a:xfrm>
            <a:off x="502920" y="3182040"/>
            <a:ext cx="11172960" cy="35568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64" name="TextBox 22"/>
          <p:cNvSpPr/>
          <p:nvPr/>
        </p:nvSpPr>
        <p:spPr>
          <a:xfrm>
            <a:off x="621720" y="324612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C588A"/>
                </a:solidFill>
                <a:latin typeface="Aptos"/>
                <a:ea typeface="DejaVu Sans"/>
              </a:rPr>
              <a:t>Jira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5" name="TextBox 23"/>
          <p:cNvSpPr/>
          <p:nvPr/>
        </p:nvSpPr>
        <p:spPr>
          <a:xfrm>
            <a:off x="2560320" y="324612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Planejamento e acompanhamento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6" name="TextBox 24"/>
          <p:cNvSpPr/>
          <p:nvPr/>
        </p:nvSpPr>
        <p:spPr>
          <a:xfrm>
            <a:off x="6693480" y="324612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Operação de serviços e custos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7" name="Rectangle 25"/>
          <p:cNvSpPr/>
          <p:nvPr/>
        </p:nvSpPr>
        <p:spPr>
          <a:xfrm>
            <a:off x="502920" y="3575160"/>
            <a:ext cx="11172960" cy="35568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68" name="TextBox 26"/>
          <p:cNvSpPr/>
          <p:nvPr/>
        </p:nvSpPr>
        <p:spPr>
          <a:xfrm>
            <a:off x="621720" y="363924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C588A"/>
                </a:solidFill>
                <a:latin typeface="Aptos"/>
                <a:ea typeface="DejaVu Sans"/>
              </a:rPr>
              <a:t>Trello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9" name="TextBox 27"/>
          <p:cNvSpPr/>
          <p:nvPr/>
        </p:nvSpPr>
        <p:spPr>
          <a:xfrm>
            <a:off x="2560320" y="363924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Organização visual em quadros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0" name="TextBox 28"/>
          <p:cNvSpPr/>
          <p:nvPr/>
        </p:nvSpPr>
        <p:spPr>
          <a:xfrm>
            <a:off x="6693480" y="363924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Tarifas, despesas e governança no domínio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1" name="Rectangle 29"/>
          <p:cNvSpPr/>
          <p:nvPr/>
        </p:nvSpPr>
        <p:spPr>
          <a:xfrm>
            <a:off x="502920" y="3968640"/>
            <a:ext cx="11172960" cy="35568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72" name="TextBox 30"/>
          <p:cNvSpPr/>
          <p:nvPr/>
        </p:nvSpPr>
        <p:spPr>
          <a:xfrm>
            <a:off x="621720" y="403236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C588A"/>
                </a:solidFill>
                <a:latin typeface="Aptos"/>
                <a:ea typeface="DejaVu Sans"/>
              </a:rPr>
              <a:t>ClickUp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3" name="TextBox 31"/>
          <p:cNvSpPr/>
          <p:nvPr/>
        </p:nvSpPr>
        <p:spPr>
          <a:xfrm>
            <a:off x="2560320" y="403236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Centralização, tempo e 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4" name="TextBox 32"/>
          <p:cNvSpPr/>
          <p:nvPr/>
        </p:nvSpPr>
        <p:spPr>
          <a:xfrm>
            <a:off x="6693480" y="403236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Modelo específico em código próprio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5" name="Rectangle 33"/>
          <p:cNvSpPr/>
          <p:nvPr/>
        </p:nvSpPr>
        <p:spPr>
          <a:xfrm>
            <a:off x="502920" y="4361760"/>
            <a:ext cx="11172960" cy="35568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76" name="TextBox 34"/>
          <p:cNvSpPr/>
          <p:nvPr/>
        </p:nvSpPr>
        <p:spPr>
          <a:xfrm>
            <a:off x="621720" y="442584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C588A"/>
                </a:solidFill>
                <a:latin typeface="Aptos"/>
                <a:ea typeface="DejaVu Sans"/>
              </a:rPr>
              <a:t>Notion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7" name="TextBox 35"/>
          <p:cNvSpPr/>
          <p:nvPr/>
        </p:nvSpPr>
        <p:spPr>
          <a:xfrm>
            <a:off x="2560320" y="442584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Documentos e bases configuráveis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8" name="TextBox 36"/>
          <p:cNvSpPr/>
          <p:nvPr/>
        </p:nvSpPr>
        <p:spPr>
          <a:xfrm>
            <a:off x="6693480" y="442584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Regras transacionais explícitas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9" name="Rounded Rectangle 38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230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80" name="TextBox 39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Código próprio permite adaptação e hospedagem própria; não elimina custo de operação ou manutenção.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81" name="Rectangle 38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2" name="Picture 381" descr="Computécnica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383" name="TextBox 382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C58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82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C588A"/>
                </a:solidFill>
                <a:latin typeface="Aptos"/>
                <a:ea typeface="DejaVu Sans"/>
              </a:rPr>
              <a:t>07 / SUGESTÕES ABERTAS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83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23044"/>
                </a:solidFill>
                <a:latin typeface="Aptos"/>
                <a:ea typeface="DejaVu Sans"/>
              </a:rPr>
              <a:t>Do pedido à entrega — com escopo explícito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84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Aptos"/>
                <a:ea typeface="DejaVu Sans"/>
              </a:rPr>
              <a:t>57 comentários declarados • tabela publicada: 49 frequências • temas não são depoimentos literais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85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Aptos"/>
                <a:ea typeface="DejaVu Sans"/>
              </a:rPr>
              <a:t>Fonte: pesquisa SPOT (2026), tabela 1; código atual. Frequências não equivalem a uma distribuição completa.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86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08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87" name="Rounded Rectangle 7"/>
          <p:cNvSpPr/>
          <p:nvPr/>
        </p:nvSpPr>
        <p:spPr>
          <a:xfrm>
            <a:off x="502920" y="198432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88" name="TextBox 8"/>
          <p:cNvSpPr/>
          <p:nvPr/>
        </p:nvSpPr>
        <p:spPr>
          <a:xfrm>
            <a:off x="640080" y="205740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Interface simples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89" name="TextBox 9"/>
          <p:cNvSpPr/>
          <p:nvPr/>
        </p:nvSpPr>
        <p:spPr>
          <a:xfrm>
            <a:off x="2834640" y="205740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C588A"/>
                </a:solidFill>
                <a:latin typeface="Aptos"/>
                <a:ea typeface="DejaVu Sans"/>
              </a:rPr>
              <a:t>12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90" name="TextBox 10"/>
          <p:cNvSpPr/>
          <p:nvPr/>
        </p:nvSpPr>
        <p:spPr>
          <a:xfrm>
            <a:off x="3456360" y="205740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Tutorial, temas e navegação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1" name="TextBox 11"/>
          <p:cNvSpPr/>
          <p:nvPr/>
        </p:nvSpPr>
        <p:spPr>
          <a:xfrm>
            <a:off x="8641080" y="205740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C588A"/>
                </a:solidFill>
                <a:latin typeface="Apto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92" name="Rounded Rectangle 12"/>
          <p:cNvSpPr/>
          <p:nvPr/>
        </p:nvSpPr>
        <p:spPr>
          <a:xfrm>
            <a:off x="502920" y="252360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93" name="TextBox 13"/>
          <p:cNvSpPr/>
          <p:nvPr/>
        </p:nvSpPr>
        <p:spPr>
          <a:xfrm>
            <a:off x="640080" y="259704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Financeiro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4" name="TextBox 14"/>
          <p:cNvSpPr/>
          <p:nvPr/>
        </p:nvSpPr>
        <p:spPr>
          <a:xfrm>
            <a:off x="2834640" y="259704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C588A"/>
                </a:solidFill>
                <a:latin typeface="Aptos"/>
                <a:ea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95" name="TextBox 15"/>
          <p:cNvSpPr/>
          <p:nvPr/>
        </p:nvSpPr>
        <p:spPr>
          <a:xfrm>
            <a:off x="3456360" y="259704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Horas, tarifas, despesas e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6" name="TextBox 16"/>
          <p:cNvSpPr/>
          <p:nvPr/>
        </p:nvSpPr>
        <p:spPr>
          <a:xfrm>
            <a:off x="8641080" y="259704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C588A"/>
                </a:solidFill>
                <a:latin typeface="Apto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97" name="Rounded Rectangle 17"/>
          <p:cNvSpPr/>
          <p:nvPr/>
        </p:nvSpPr>
        <p:spPr>
          <a:xfrm>
            <a:off x="502920" y="306324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98" name="TextBox 18"/>
          <p:cNvSpPr/>
          <p:nvPr/>
        </p:nvSpPr>
        <p:spPr>
          <a:xfrm>
            <a:off x="640080" y="313632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Integrações/e-mail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9" name="TextBox 19"/>
          <p:cNvSpPr/>
          <p:nvPr/>
        </p:nvSpPr>
        <p:spPr>
          <a:xfrm>
            <a:off x="2834640" y="313632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C588A"/>
                </a:solidFill>
                <a:latin typeface="Aptos"/>
                <a:ea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00" name="TextBox 20"/>
          <p:cNvSpPr/>
          <p:nvPr/>
        </p:nvSpPr>
        <p:spPr>
          <a:xfrm>
            <a:off x="3456360" y="313632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OAuth, agenda e e-mails de atividade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1" name="TextBox 21"/>
          <p:cNvSpPr/>
          <p:nvPr/>
        </p:nvSpPr>
        <p:spPr>
          <a:xfrm>
            <a:off x="8641080" y="313632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C588A"/>
                </a:solidFill>
                <a:latin typeface="Aptos"/>
                <a:ea typeface="DejaVu Sans"/>
              </a:rPr>
              <a:t>Implementado / configurável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2" name="Rounded Rectangle 22"/>
          <p:cNvSpPr/>
          <p:nvPr/>
        </p:nvSpPr>
        <p:spPr>
          <a:xfrm>
            <a:off x="502920" y="360288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03" name="TextBox 23"/>
          <p:cNvSpPr/>
          <p:nvPr/>
        </p:nvSpPr>
        <p:spPr>
          <a:xfrm>
            <a:off x="640080" y="367596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4" name="TextBox 24"/>
          <p:cNvSpPr/>
          <p:nvPr/>
        </p:nvSpPr>
        <p:spPr>
          <a:xfrm>
            <a:off x="2834640" y="367596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C588A"/>
                </a:solidFill>
                <a:latin typeface="Aptos"/>
                <a:ea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05" name="TextBox 25"/>
          <p:cNvSpPr/>
          <p:nvPr/>
        </p:nvSpPr>
        <p:spPr>
          <a:xfrm>
            <a:off x="3456360" y="367596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Portfólio, CSV e atualização automática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6" name="TextBox 26"/>
          <p:cNvSpPr/>
          <p:nvPr/>
        </p:nvSpPr>
        <p:spPr>
          <a:xfrm>
            <a:off x="8641080" y="367596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C588A"/>
                </a:solidFill>
                <a:latin typeface="Apto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7" name="Rounded Rectangle 27"/>
          <p:cNvSpPr/>
          <p:nvPr/>
        </p:nvSpPr>
        <p:spPr>
          <a:xfrm>
            <a:off x="502920" y="414216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08" name="TextBox 28"/>
          <p:cNvSpPr/>
          <p:nvPr/>
        </p:nvSpPr>
        <p:spPr>
          <a:xfrm>
            <a:off x="640080" y="421524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Tarefas/agenda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9" name="TextBox 29"/>
          <p:cNvSpPr/>
          <p:nvPr/>
        </p:nvSpPr>
        <p:spPr>
          <a:xfrm>
            <a:off x="2834640" y="421524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C588A"/>
                </a:solidFill>
                <a:latin typeface="Aptos"/>
                <a:ea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10" name="TextBox 30"/>
          <p:cNvSpPr/>
          <p:nvPr/>
        </p:nvSpPr>
        <p:spPr>
          <a:xfrm>
            <a:off x="3456360" y="421524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23044"/>
                </a:solidFill>
                <a:latin typeface="Aptos"/>
                <a:ea typeface="DejaVu Sans"/>
              </a:rPr>
              <a:t>Visões, agenda e lembretes automáticos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11" name="TextBox 31"/>
          <p:cNvSpPr/>
          <p:nvPr/>
        </p:nvSpPr>
        <p:spPr>
          <a:xfrm>
            <a:off x="8641080" y="421524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C588A"/>
                </a:solidFill>
                <a:latin typeface="Apto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12" name="Rounded Rectangle 37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230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13" name="TextBox 38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Recorte funcional da pesquisa • painel atualiza a cada 30 s • e-mail externo exige SMTP e ativação.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14" name="Rectangle 41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5" name="Picture 414" descr="Computécnica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416" name="TextBox 415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15" name="TextBox 2"/>
          <p:cNvSpPr/>
          <p:nvPr/>
        </p:nvSpPr>
        <p:spPr>
          <a:xfrm>
            <a:off x="548640" y="292680"/>
            <a:ext cx="109720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C588A"/>
                </a:solidFill>
                <a:latin typeface="Aptos"/>
                <a:ea typeface="DejaVu Sans"/>
              </a:rPr>
              <a:t>08 / FLUXO TÉCNICO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16" name="TextBox 3"/>
          <p:cNvSpPr/>
          <p:nvPr/>
        </p:nvSpPr>
        <p:spPr>
          <a:xfrm>
            <a:off x="548640" y="731520"/>
            <a:ext cx="110635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  <a:ea typeface="DejaVu Sans"/>
              </a:rPr>
              <a:t>Da interação ao dado, ao indicador e ao aviso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17" name="TextBox 4"/>
          <p:cNvSpPr/>
          <p:nvPr/>
        </p:nvSpPr>
        <p:spPr>
          <a:xfrm>
            <a:off x="548640" y="1426320"/>
            <a:ext cx="109720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  <a:ea typeface="DejaVu Sans"/>
              </a:rPr>
              <a:t>Núcleo integrado em Laravel; interface React e processos de apoio com responsabilidades definidas.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18" name="TextBox 5"/>
          <p:cNvSpPr/>
          <p:nvPr/>
        </p:nvSpPr>
        <p:spPr>
          <a:xfrm>
            <a:off x="548640" y="6510600"/>
            <a:ext cx="10057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  <a:ea typeface="DejaVu San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19" name="TextBox 6"/>
          <p:cNvSpPr/>
          <p:nvPr/>
        </p:nvSpPr>
        <p:spPr>
          <a:xfrm>
            <a:off x="11064240" y="6483240"/>
            <a:ext cx="593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09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20" name="Rounded Rectangle 7"/>
          <p:cNvSpPr/>
          <p:nvPr/>
        </p:nvSpPr>
        <p:spPr>
          <a:xfrm>
            <a:off x="548640" y="2030040"/>
            <a:ext cx="2559600" cy="123372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21" name="TextBox 8"/>
          <p:cNvSpPr/>
          <p:nvPr/>
        </p:nvSpPr>
        <p:spPr>
          <a:xfrm>
            <a:off x="685800" y="2176200"/>
            <a:ext cx="2285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  <a:ea typeface="DejaVu Sans"/>
              </a:rPr>
              <a:t>1  React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22" name="TextBox 9"/>
          <p:cNvSpPr/>
          <p:nvPr/>
        </p:nvSpPr>
        <p:spPr>
          <a:xfrm>
            <a:off x="685800" y="2642760"/>
            <a:ext cx="228528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Telas, formulários e filtros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Envia a requisição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23" name="TextBox 10"/>
          <p:cNvSpPr/>
          <p:nvPr/>
        </p:nvSpPr>
        <p:spPr>
          <a:xfrm>
            <a:off x="3145680" y="2487240"/>
            <a:ext cx="2368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C588A"/>
                </a:solidFill>
                <a:latin typeface="Aptos"/>
                <a:ea typeface="DejaVu San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24" name="Rounded Rectangle 11"/>
          <p:cNvSpPr/>
          <p:nvPr/>
        </p:nvSpPr>
        <p:spPr>
          <a:xfrm>
            <a:off x="3383280" y="2030040"/>
            <a:ext cx="2559600" cy="123372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25" name="TextBox 12"/>
          <p:cNvSpPr/>
          <p:nvPr/>
        </p:nvSpPr>
        <p:spPr>
          <a:xfrm>
            <a:off x="3520440" y="2176200"/>
            <a:ext cx="2285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  <a:ea typeface="DejaVu Sans"/>
              </a:rPr>
              <a:t>2  API Laravel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26" name="TextBox 13"/>
          <p:cNvSpPr/>
          <p:nvPr/>
        </p:nvSpPr>
        <p:spPr>
          <a:xfrm>
            <a:off x="3520440" y="2642760"/>
            <a:ext cx="228528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Sessão e permissões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Valida os dados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27" name="TextBox 14"/>
          <p:cNvSpPr/>
          <p:nvPr/>
        </p:nvSpPr>
        <p:spPr>
          <a:xfrm>
            <a:off x="5980320" y="2487240"/>
            <a:ext cx="2368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C588A"/>
                </a:solidFill>
                <a:latin typeface="Aptos"/>
                <a:ea typeface="DejaVu San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28" name="Rounded Rectangle 15"/>
          <p:cNvSpPr/>
          <p:nvPr/>
        </p:nvSpPr>
        <p:spPr>
          <a:xfrm>
            <a:off x="6217920" y="2030040"/>
            <a:ext cx="2559600" cy="123372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29" name="TextBox 16"/>
          <p:cNvSpPr/>
          <p:nvPr/>
        </p:nvSpPr>
        <p:spPr>
          <a:xfrm>
            <a:off x="6355080" y="2176200"/>
            <a:ext cx="2285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3  Domínio + Eloquent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30" name="TextBox 17"/>
          <p:cNvSpPr/>
          <p:nvPr/>
        </p:nvSpPr>
        <p:spPr>
          <a:xfrm>
            <a:off x="6355080" y="2642760"/>
            <a:ext cx="228528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Regras e transações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Tarifas, custos e auditoria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1" name="TextBox 18"/>
          <p:cNvSpPr/>
          <p:nvPr/>
        </p:nvSpPr>
        <p:spPr>
          <a:xfrm>
            <a:off x="8814960" y="2487240"/>
            <a:ext cx="2368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C588A"/>
                </a:solidFill>
                <a:latin typeface="Aptos"/>
                <a:ea typeface="DejaVu San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32" name="Rounded Rectangle 19"/>
          <p:cNvSpPr/>
          <p:nvPr/>
        </p:nvSpPr>
        <p:spPr>
          <a:xfrm>
            <a:off x="9052560" y="2030040"/>
            <a:ext cx="2559600" cy="123372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33" name="TextBox 20"/>
          <p:cNvSpPr/>
          <p:nvPr/>
        </p:nvSpPr>
        <p:spPr>
          <a:xfrm>
            <a:off x="9189720" y="2176200"/>
            <a:ext cx="2285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  <a:ea typeface="DejaVu Sans"/>
              </a:rPr>
              <a:t>4  PostgreSQL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34" name="TextBox 21"/>
          <p:cNvSpPr/>
          <p:nvPr/>
        </p:nvSpPr>
        <p:spPr>
          <a:xfrm>
            <a:off x="9189720" y="2642760"/>
            <a:ext cx="228528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Persiste os registros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Relaciona os dados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5" name="Rounded Rectangle 22"/>
          <p:cNvSpPr/>
          <p:nvPr/>
        </p:nvSpPr>
        <p:spPr>
          <a:xfrm>
            <a:off x="548640" y="3438000"/>
            <a:ext cx="11081880" cy="392400"/>
          </a:xfrm>
          <a:prstGeom prst="roundRect">
            <a:avLst>
              <a:gd name="adj" fmla="val 16667"/>
            </a:avLst>
          </a:prstGeom>
          <a:solidFill>
            <a:srgbClr val="e3ed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36" name="TextBox 23"/>
          <p:cNvSpPr/>
          <p:nvPr/>
        </p:nvSpPr>
        <p:spPr>
          <a:xfrm>
            <a:off x="704160" y="3520440"/>
            <a:ext cx="10789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300" spc="-1" strike="noStrike">
                <a:solidFill>
                  <a:srgbClr val="123044"/>
                </a:solidFill>
                <a:latin typeface="Aptos"/>
                <a:ea typeface="DejaVu Sans"/>
              </a:rPr>
              <a:t>Retorno: PostgreSQL → Laravel → JSON → React atualiza a tela e os indicadores.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7" name="Rounded Rectangle 24"/>
          <p:cNvSpPr/>
          <p:nvPr/>
        </p:nvSpPr>
        <p:spPr>
          <a:xfrm>
            <a:off x="548640" y="4050720"/>
            <a:ext cx="3547080" cy="1572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38" name="Rectangle 25"/>
          <p:cNvSpPr/>
          <p:nvPr/>
        </p:nvSpPr>
        <p:spPr>
          <a:xfrm>
            <a:off x="548640" y="4050720"/>
            <a:ext cx="40320" cy="15721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39" name="TextBox 26"/>
          <p:cNvSpPr/>
          <p:nvPr/>
        </p:nvSpPr>
        <p:spPr>
          <a:xfrm>
            <a:off x="704160" y="4206240"/>
            <a:ext cx="3218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C588A"/>
                </a:solidFill>
                <a:latin typeface="Aptos"/>
                <a:ea typeface="DejaVu Sans"/>
              </a:rPr>
              <a:t>Indicadores • Python + Pandas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0" name="TextBox 27"/>
          <p:cNvSpPr/>
          <p:nvPr/>
        </p:nvSpPr>
        <p:spPr>
          <a:xfrm>
            <a:off x="704160" y="4736520"/>
            <a:ext cx="3218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Laravel envia JSON → Pandas agrega → devolve JSON. O script não acessa o banco diretamente.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1" name="Rounded Rectangle 28"/>
          <p:cNvSpPr/>
          <p:nvPr/>
        </p:nvSpPr>
        <p:spPr>
          <a:xfrm>
            <a:off x="4316040" y="4050720"/>
            <a:ext cx="3547080" cy="1572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42" name="Rectangle 29"/>
          <p:cNvSpPr/>
          <p:nvPr/>
        </p:nvSpPr>
        <p:spPr>
          <a:xfrm>
            <a:off x="4316040" y="4050720"/>
            <a:ext cx="40320" cy="15721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43" name="TextBox 30"/>
          <p:cNvSpPr/>
          <p:nvPr/>
        </p:nvSpPr>
        <p:spPr>
          <a:xfrm>
            <a:off x="4471560" y="4206240"/>
            <a:ext cx="3218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C588A"/>
                </a:solidFill>
                <a:latin typeface="Aptos"/>
                <a:ea typeface="DejaVu Sans"/>
              </a:rPr>
              <a:t>E-mails • fila + worker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4" name="TextBox 31"/>
          <p:cNvSpPr/>
          <p:nvPr/>
        </p:nvSpPr>
        <p:spPr>
          <a:xfrm>
            <a:off x="4471560" y="4736520"/>
            <a:ext cx="3218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Convite/ativação → fila → validação do link → transporte SMTP configurado; retentativas.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5" name="Rounded Rectangle 32"/>
          <p:cNvSpPr/>
          <p:nvPr/>
        </p:nvSpPr>
        <p:spPr>
          <a:xfrm>
            <a:off x="8083440" y="4050720"/>
            <a:ext cx="3547080" cy="1572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46" name="Rectangle 33"/>
          <p:cNvSpPr/>
          <p:nvPr/>
        </p:nvSpPr>
        <p:spPr>
          <a:xfrm>
            <a:off x="8083440" y="4050720"/>
            <a:ext cx="40320" cy="15721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47" name="TextBox 34"/>
          <p:cNvSpPr/>
          <p:nvPr/>
        </p:nvSpPr>
        <p:spPr>
          <a:xfrm>
            <a:off x="8238600" y="4206240"/>
            <a:ext cx="3218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C588A"/>
                </a:solidFill>
                <a:latin typeface="Aptos"/>
                <a:ea typeface="DejaVu Sans"/>
              </a:rPr>
              <a:t>Rotinas • scheduler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8" name="TextBox 35"/>
          <p:cNvSpPr/>
          <p:nvPr/>
        </p:nvSpPr>
        <p:spPr>
          <a:xfrm>
            <a:off x="8238600" y="4736520"/>
            <a:ext cx="3218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Agenda lembretes e notificações; aplica retenção de auditoria e limpeza de mensagens.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9" name="Rounded Rectangle 36"/>
          <p:cNvSpPr/>
          <p:nvPr/>
        </p:nvSpPr>
        <p:spPr>
          <a:xfrm>
            <a:off x="548640" y="5906880"/>
            <a:ext cx="11081880" cy="4474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50" name="TextBox 37"/>
          <p:cNvSpPr/>
          <p:nvPr/>
        </p:nvSpPr>
        <p:spPr>
          <a:xfrm>
            <a:off x="713160" y="5998320"/>
            <a:ext cx="10743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Monólito organizado: regras no backend, persistência central e tarefas de apoio em processos separados.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51" name="Rectangle 45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2" name="Picture 451" descr="Computécnica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453" name="TextBox 452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52" name="TextBox 2"/>
          <p:cNvSpPr/>
          <p:nvPr/>
        </p:nvSpPr>
        <p:spPr>
          <a:xfrm>
            <a:off x="548640" y="292680"/>
            <a:ext cx="10972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C588A"/>
                </a:solidFill>
                <a:latin typeface="Aptos"/>
              </a:rPr>
              <a:t>09 / FLUXO E TELAS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53" name="TextBox 3"/>
          <p:cNvSpPr/>
          <p:nvPr/>
        </p:nvSpPr>
        <p:spPr>
          <a:xfrm>
            <a:off x="548640" y="731520"/>
            <a:ext cx="11063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</a:rPr>
              <a:t>Do acesso ao resultado: o fluxo principal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54" name="TextBox 4"/>
          <p:cNvSpPr/>
          <p:nvPr/>
        </p:nvSpPr>
        <p:spPr>
          <a:xfrm>
            <a:off x="548640" y="1426320"/>
            <a:ext cx="10972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</a:rPr>
              <a:t>Telas do Spot e a jornada central de gestão de projetos; recursos disponíveis conforme as permissões.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55" name="TextBox 5"/>
          <p:cNvSpPr/>
          <p:nvPr/>
        </p:nvSpPr>
        <p:spPr>
          <a:xfrm>
            <a:off x="548640" y="6510600"/>
            <a:ext cx="10058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56" name="TextBox 6"/>
          <p:cNvSpPr/>
          <p:nvPr/>
        </p:nvSpPr>
        <p:spPr>
          <a:xfrm>
            <a:off x="11064240" y="6483240"/>
            <a:ext cx="594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10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57" name="Rounded Rectangle 7"/>
          <p:cNvSpPr/>
          <p:nvPr/>
        </p:nvSpPr>
        <p:spPr>
          <a:xfrm>
            <a:off x="54864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58" name="TextBox 8"/>
          <p:cNvSpPr/>
          <p:nvPr/>
        </p:nvSpPr>
        <p:spPr>
          <a:xfrm>
            <a:off x="640080" y="2167200"/>
            <a:ext cx="1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1  Acesso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59" name="TextBox 9"/>
          <p:cNvSpPr/>
          <p:nvPr/>
        </p:nvSpPr>
        <p:spPr>
          <a:xfrm>
            <a:off x="225864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C588A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60" name="Rounded Rectangle 10"/>
          <p:cNvSpPr/>
          <p:nvPr/>
        </p:nvSpPr>
        <p:spPr>
          <a:xfrm>
            <a:off x="243216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61" name="TextBox 11"/>
          <p:cNvSpPr/>
          <p:nvPr/>
        </p:nvSpPr>
        <p:spPr>
          <a:xfrm>
            <a:off x="2523600" y="2167200"/>
            <a:ext cx="1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2  Projeto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2" name="TextBox 12"/>
          <p:cNvSpPr/>
          <p:nvPr/>
        </p:nvSpPr>
        <p:spPr>
          <a:xfrm>
            <a:off x="414216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C588A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63" name="Rounded Rectangle 13"/>
          <p:cNvSpPr/>
          <p:nvPr/>
        </p:nvSpPr>
        <p:spPr>
          <a:xfrm>
            <a:off x="431604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64" name="TextBox 14"/>
          <p:cNvSpPr/>
          <p:nvPr/>
        </p:nvSpPr>
        <p:spPr>
          <a:xfrm>
            <a:off x="4407480" y="2167200"/>
            <a:ext cx="14994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3  Equipe e tarifas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5" name="TextBox 15"/>
          <p:cNvSpPr/>
          <p:nvPr/>
        </p:nvSpPr>
        <p:spPr>
          <a:xfrm>
            <a:off x="602604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C588A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66" name="Rounded Rectangle 16"/>
          <p:cNvSpPr/>
          <p:nvPr/>
        </p:nvSpPr>
        <p:spPr>
          <a:xfrm>
            <a:off x="619956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67" name="TextBox 17"/>
          <p:cNvSpPr/>
          <p:nvPr/>
        </p:nvSpPr>
        <p:spPr>
          <a:xfrm>
            <a:off x="6291000" y="2167200"/>
            <a:ext cx="14994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4  Tarefas e horas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8" name="TextBox 18"/>
          <p:cNvSpPr/>
          <p:nvPr/>
        </p:nvSpPr>
        <p:spPr>
          <a:xfrm>
            <a:off x="790956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C588A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69" name="Rounded Rectangle 19"/>
          <p:cNvSpPr/>
          <p:nvPr/>
        </p:nvSpPr>
        <p:spPr>
          <a:xfrm>
            <a:off x="808344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70" name="TextBox 20"/>
          <p:cNvSpPr/>
          <p:nvPr/>
        </p:nvSpPr>
        <p:spPr>
          <a:xfrm>
            <a:off x="8174880" y="2167200"/>
            <a:ext cx="1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5  Despesas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71" name="TextBox 21"/>
          <p:cNvSpPr/>
          <p:nvPr/>
        </p:nvSpPr>
        <p:spPr>
          <a:xfrm>
            <a:off x="979308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C588A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72" name="Rounded Rectangle 22"/>
          <p:cNvSpPr/>
          <p:nvPr/>
        </p:nvSpPr>
        <p:spPr>
          <a:xfrm>
            <a:off x="996696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73" name="TextBox 23"/>
          <p:cNvSpPr/>
          <p:nvPr/>
        </p:nvSpPr>
        <p:spPr>
          <a:xfrm>
            <a:off x="10058400" y="2167200"/>
            <a:ext cx="1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6  Resultado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74" name="TextBox 24"/>
          <p:cNvSpPr/>
          <p:nvPr/>
        </p:nvSpPr>
        <p:spPr>
          <a:xfrm>
            <a:off x="548640" y="2825640"/>
            <a:ext cx="11063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200" spc="-1" strike="noStrike">
                <a:solidFill>
                  <a:srgbClr val="526d80"/>
                </a:solidFill>
                <a:latin typeface="Aptos"/>
              </a:rPr>
              <a:t>Entrar → cadastrar/configurar → atribuir responsáveis → registrar execução → aprovar custos → acompanhar.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75" name="Rounded Rectangle 25"/>
          <p:cNvSpPr/>
          <p:nvPr/>
        </p:nvSpPr>
        <p:spPr>
          <a:xfrm>
            <a:off x="548640" y="3291840"/>
            <a:ext cx="3547440" cy="240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76" name="Rectangle 26"/>
          <p:cNvSpPr/>
          <p:nvPr/>
        </p:nvSpPr>
        <p:spPr>
          <a:xfrm>
            <a:off x="548640" y="3291840"/>
            <a:ext cx="40680" cy="240444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77" name="TextBox 27"/>
          <p:cNvSpPr/>
          <p:nvPr/>
        </p:nvSpPr>
        <p:spPr>
          <a:xfrm>
            <a:off x="704160" y="3456360"/>
            <a:ext cx="3236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C588A"/>
                </a:solidFill>
                <a:latin typeface="Aptos"/>
              </a:rPr>
              <a:t>Acesso e conta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78" name="TextBox 28"/>
          <p:cNvSpPr/>
          <p:nvPr/>
        </p:nvSpPr>
        <p:spPr>
          <a:xfrm>
            <a:off x="723240" y="3780000"/>
            <a:ext cx="3236760" cy="14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Login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Primeiro acesso / ativação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Aceitar convite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Recuperar senha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Redefinir senha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Meu perfil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79" name="Rounded Rectangle 29"/>
          <p:cNvSpPr/>
          <p:nvPr/>
        </p:nvSpPr>
        <p:spPr>
          <a:xfrm>
            <a:off x="4316040" y="3291840"/>
            <a:ext cx="3547440" cy="240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0" name="Rectangle 30"/>
          <p:cNvSpPr/>
          <p:nvPr/>
        </p:nvSpPr>
        <p:spPr>
          <a:xfrm>
            <a:off x="4316040" y="3291840"/>
            <a:ext cx="40680" cy="240444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1" name="TextBox 31"/>
          <p:cNvSpPr/>
          <p:nvPr/>
        </p:nvSpPr>
        <p:spPr>
          <a:xfrm>
            <a:off x="4471560" y="3456360"/>
            <a:ext cx="3236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C588A"/>
                </a:solidFill>
                <a:latin typeface="Aptos"/>
              </a:rPr>
              <a:t>Trabalho diário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82" name="TextBox 32"/>
          <p:cNvSpPr/>
          <p:nvPr/>
        </p:nvSpPr>
        <p:spPr>
          <a:xfrm>
            <a:off x="4503240" y="3780000"/>
            <a:ext cx="3236760" cy="14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Home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Meus Projetos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Novo Projeto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Equipes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Minhas tarefas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Meus documentos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83" name="Rounded Rectangle 33"/>
          <p:cNvSpPr/>
          <p:nvPr/>
        </p:nvSpPr>
        <p:spPr>
          <a:xfrm>
            <a:off x="8083440" y="3291840"/>
            <a:ext cx="3547440" cy="240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4" name="Rectangle 34"/>
          <p:cNvSpPr/>
          <p:nvPr/>
        </p:nvSpPr>
        <p:spPr>
          <a:xfrm>
            <a:off x="8083440" y="3291840"/>
            <a:ext cx="40680" cy="240444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5" name="TextBox 35"/>
          <p:cNvSpPr/>
          <p:nvPr/>
        </p:nvSpPr>
        <p:spPr>
          <a:xfrm>
            <a:off x="8238600" y="3456360"/>
            <a:ext cx="3236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C588A"/>
                </a:solidFill>
                <a:latin typeface="Aptos"/>
              </a:rPr>
              <a:t>Gestão e controle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86" name="TextBox 36"/>
          <p:cNvSpPr/>
          <p:nvPr/>
        </p:nvSpPr>
        <p:spPr>
          <a:xfrm>
            <a:off x="8320320" y="3767760"/>
            <a:ext cx="3236760" cy="17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Caixa de entrada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Agenda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Portfólios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Clientes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Histórico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Parâmetros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Usuários e responsáveis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87" name="Rounded Rectangle 37"/>
          <p:cNvSpPr/>
          <p:nvPr/>
        </p:nvSpPr>
        <p:spPr>
          <a:xfrm>
            <a:off x="548640" y="5906880"/>
            <a:ext cx="11082240" cy="4478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8" name="TextBox 38"/>
          <p:cNvSpPr/>
          <p:nvPr/>
        </p:nvSpPr>
        <p:spPr>
          <a:xfrm>
            <a:off x="713160" y="5998320"/>
            <a:ext cx="107438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</a:rPr>
              <a:t>No projeto: configuração, tarifas, impostos, despesas, resultado financeiro e auditoria; tarefas em lista/quadro.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89" name="Rectangle 48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0" name="Picture 489" descr="Computécnica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491" name="TextBox 490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Rectangle 1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90" name="TextBox 2"/>
          <p:cNvSpPr/>
          <p:nvPr/>
        </p:nvSpPr>
        <p:spPr>
          <a:xfrm>
            <a:off x="548640" y="292680"/>
            <a:ext cx="109720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C588A"/>
                </a:solidFill>
                <a:latin typeface="Aptos"/>
                <a:ea typeface="DejaVu Sans"/>
              </a:rPr>
              <a:t>10 / DIFERENCIAIS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91" name="TextBox 3"/>
          <p:cNvSpPr/>
          <p:nvPr/>
        </p:nvSpPr>
        <p:spPr>
          <a:xfrm>
            <a:off x="548640" y="731520"/>
            <a:ext cx="110635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  <a:ea typeface="DejaVu Sans"/>
              </a:rPr>
              <a:t>Diferenciais que conectam gestão e resultado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92" name="TextBox 4"/>
          <p:cNvSpPr/>
          <p:nvPr/>
        </p:nvSpPr>
        <p:spPr>
          <a:xfrm>
            <a:off x="548640" y="1426320"/>
            <a:ext cx="109720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  <a:ea typeface="DejaVu Sans"/>
              </a:rPr>
              <a:t>O diferencial está na combinação e na adequação à Computécnica; recursos isolados existem no mercado.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93" name="TextBox 5"/>
          <p:cNvSpPr/>
          <p:nvPr/>
        </p:nvSpPr>
        <p:spPr>
          <a:xfrm>
            <a:off x="548640" y="6510600"/>
            <a:ext cx="10057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  <a:ea typeface="DejaVu San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94" name="TextBox 6"/>
          <p:cNvSpPr/>
          <p:nvPr/>
        </p:nvSpPr>
        <p:spPr>
          <a:xfrm>
            <a:off x="11064240" y="6483240"/>
            <a:ext cx="593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sz="1000">
                <a:solidFill>
                  <a:srgbClr val="526878"/>
                </a:solidFill>
              </a:rPr>
              <a:t>11 / 12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95" name="Rounded Rectangle 7"/>
          <p:cNvSpPr/>
          <p:nvPr/>
        </p:nvSpPr>
        <p:spPr>
          <a:xfrm>
            <a:off x="548640" y="203904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96" name="Rectangle 8"/>
          <p:cNvSpPr/>
          <p:nvPr/>
        </p:nvSpPr>
        <p:spPr>
          <a:xfrm>
            <a:off x="548640" y="2039040"/>
            <a:ext cx="40320" cy="15811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97" name="TextBox 9"/>
          <p:cNvSpPr/>
          <p:nvPr/>
        </p:nvSpPr>
        <p:spPr>
          <a:xfrm>
            <a:off x="713160" y="2194560"/>
            <a:ext cx="31996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C588A"/>
                </a:solidFill>
                <a:latin typeface="Aptos"/>
                <a:ea typeface="DejaVu Sans"/>
              </a:rPr>
              <a:t>Financeiro ligado à execução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98" name="TextBox 10"/>
          <p:cNvSpPr/>
          <p:nvPr/>
        </p:nvSpPr>
        <p:spPr>
          <a:xfrm>
            <a:off x="713160" y="277056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Horas, tarifas e despesas compõem o resultado gerencial do projeto.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99" name="Rounded Rectangle 11"/>
          <p:cNvSpPr/>
          <p:nvPr/>
        </p:nvSpPr>
        <p:spPr>
          <a:xfrm>
            <a:off x="4316040" y="203904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0" name="Rectangle 12"/>
          <p:cNvSpPr/>
          <p:nvPr/>
        </p:nvSpPr>
        <p:spPr>
          <a:xfrm>
            <a:off x="4316040" y="2039040"/>
            <a:ext cx="40320" cy="15811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1" name="TextBox 13"/>
          <p:cNvSpPr/>
          <p:nvPr/>
        </p:nvSpPr>
        <p:spPr>
          <a:xfrm>
            <a:off x="4480560" y="2194560"/>
            <a:ext cx="319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C588A"/>
                </a:solidFill>
                <a:latin typeface="Aptos"/>
                <a:ea typeface="DejaVu Sans"/>
              </a:rPr>
              <a:t>Regras para a operação do cliente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02" name="TextBox 14"/>
          <p:cNvSpPr/>
          <p:nvPr/>
        </p:nvSpPr>
        <p:spPr>
          <a:xfrm>
            <a:off x="4480560" y="277056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Contratos, permissões e encerramento com justificativa no mesmo fluxo.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03" name="Rounded Rectangle 15"/>
          <p:cNvSpPr/>
          <p:nvPr/>
        </p:nvSpPr>
        <p:spPr>
          <a:xfrm>
            <a:off x="8083440" y="203904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4" name="Rectangle 16"/>
          <p:cNvSpPr/>
          <p:nvPr/>
        </p:nvSpPr>
        <p:spPr>
          <a:xfrm>
            <a:off x="8083440" y="2039040"/>
            <a:ext cx="40320" cy="15811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5" name="TextBox 17"/>
          <p:cNvSpPr/>
          <p:nvPr/>
        </p:nvSpPr>
        <p:spPr>
          <a:xfrm>
            <a:off x="8247960" y="2194560"/>
            <a:ext cx="31996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C588A"/>
                </a:solidFill>
                <a:latin typeface="Aptos"/>
                <a:ea typeface="DejaVu Sans"/>
              </a:rPr>
              <a:t>Rastreabilidade das alterações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06" name="TextBox 18"/>
          <p:cNvSpPr/>
          <p:nvPr/>
        </p:nvSpPr>
        <p:spPr>
          <a:xfrm>
            <a:off x="8247960" y="2770560"/>
            <a:ext cx="31996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Histórico de ações e captura da tarifa válida na data trabalhada.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07" name="Rounded Rectangle 19"/>
          <p:cNvSpPr/>
          <p:nvPr/>
        </p:nvSpPr>
        <p:spPr>
          <a:xfrm>
            <a:off x="548640" y="382212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8" name="Rectangle 20"/>
          <p:cNvSpPr/>
          <p:nvPr/>
        </p:nvSpPr>
        <p:spPr>
          <a:xfrm>
            <a:off x="548640" y="3822120"/>
            <a:ext cx="40320" cy="15811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9" name="TextBox 21"/>
          <p:cNvSpPr/>
          <p:nvPr/>
        </p:nvSpPr>
        <p:spPr>
          <a:xfrm>
            <a:off x="713160" y="3977640"/>
            <a:ext cx="31996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C588A"/>
                </a:solidFill>
                <a:latin typeface="Aptos"/>
                <a:ea typeface="DejaVu Sans"/>
              </a:rPr>
              <a:t>Portfólio para decidir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10" name="TextBox 22"/>
          <p:cNvSpPr/>
          <p:nvPr/>
        </p:nvSpPr>
        <p:spPr>
          <a:xfrm>
            <a:off x="692640" y="43588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Indicadores, filtros, agrupamentos, gráficos e exportação CSV</a:t>
            </a:r>
            <a:r>
              <a:rPr b="0" lang="pt-BR" sz="1600" spc="-1" strike="noStrike">
                <a:solidFill>
                  <a:srgbClr val="123044"/>
                </a:solidFill>
                <a:latin typeface="Aptos"/>
                <a:ea typeface="DejaVu Sans"/>
              </a:rPr>
              <a:t>.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511" name="Rounded Rectangle 23"/>
          <p:cNvSpPr/>
          <p:nvPr/>
        </p:nvSpPr>
        <p:spPr>
          <a:xfrm>
            <a:off x="4316040" y="382212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2" name="Rectangle 24"/>
          <p:cNvSpPr/>
          <p:nvPr/>
        </p:nvSpPr>
        <p:spPr>
          <a:xfrm>
            <a:off x="4316040" y="3822120"/>
            <a:ext cx="40320" cy="15811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3" name="TextBox 25"/>
          <p:cNvSpPr/>
          <p:nvPr/>
        </p:nvSpPr>
        <p:spPr>
          <a:xfrm>
            <a:off x="4480560" y="3977640"/>
            <a:ext cx="31996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C588A"/>
                </a:solidFill>
                <a:latin typeface="Aptos"/>
                <a:ea typeface="DejaVu Sans"/>
              </a:rPr>
              <a:t>Integrações e rotina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14" name="TextBox 26"/>
          <p:cNvSpPr/>
          <p:nvPr/>
        </p:nvSpPr>
        <p:spPr>
          <a:xfrm>
            <a:off x="4480560" y="4320000"/>
            <a:ext cx="31996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Google/Microsoft OAuth, agenda, Teams, convites e lembretes.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15" name="Rounded Rectangle 27"/>
          <p:cNvSpPr/>
          <p:nvPr/>
        </p:nvSpPr>
        <p:spPr>
          <a:xfrm>
            <a:off x="8083440" y="382212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6" name="Rectangle 28"/>
          <p:cNvSpPr/>
          <p:nvPr/>
        </p:nvSpPr>
        <p:spPr>
          <a:xfrm>
            <a:off x="8083440" y="3822120"/>
            <a:ext cx="40320" cy="1581120"/>
          </a:xfrm>
          <a:prstGeom prst="rect">
            <a:avLst/>
          </a:prstGeom>
          <a:solidFill>
            <a:srgbClr val="0C58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7" name="TextBox 29"/>
          <p:cNvSpPr/>
          <p:nvPr/>
        </p:nvSpPr>
        <p:spPr>
          <a:xfrm>
            <a:off x="8247960" y="3977640"/>
            <a:ext cx="31996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C588A"/>
                </a:solidFill>
                <a:latin typeface="Aptos"/>
                <a:ea typeface="DejaVu Sans"/>
              </a:rPr>
              <a:t>Controle sobre a evolução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18" name="TextBox 30"/>
          <p:cNvSpPr/>
          <p:nvPr/>
        </p:nvSpPr>
        <p:spPr>
          <a:xfrm>
            <a:off x="8247960" y="4553640"/>
            <a:ext cx="31996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Código próprio permite adaptar regras e escolher a hospedagem.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19" name="Rounded Rectangle 31"/>
          <p:cNvSpPr/>
          <p:nvPr/>
        </p:nvSpPr>
        <p:spPr>
          <a:xfrm>
            <a:off x="548640" y="5906880"/>
            <a:ext cx="11081880" cy="4474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20" name="TextBox 32"/>
          <p:cNvSpPr/>
          <p:nvPr/>
        </p:nvSpPr>
        <p:spPr>
          <a:xfrm>
            <a:off x="713160" y="5998320"/>
            <a:ext cx="10743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Valor da proposta: organização + governança + visão financeira em um fluxo adaptável ao cliente.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521" name="Rectangle 52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2" name="Picture 521" descr="Computécnica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523" name="TextBox 522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C588A"/>
                </a:solidFill>
                <a:latin typeface="Aptos"/>
              </a:rPr>
              <a:t>11 / PRÓXIMOS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23044"/>
                </a:solidFill>
                <a:latin typeface="Aptos"/>
              </a:rPr>
              <a:t>O que falta para entrar em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526878"/>
                </a:solidFill>
                <a:latin typeface="Aptos"/>
              </a:rPr>
              <a:t>Etapa final: implantação, autenticação e validação com o cliente.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5440680" cy="16002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50292" cy="1600200"/>
          </a:xfrm>
          <a:prstGeom prst="rect">
            <a:avLst/>
          </a:prstGeom>
          <a:solidFill>
            <a:srgbClr val="0C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317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0C588A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350008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23044"/>
                </a:solidFill>
                <a:latin typeface="Aptos"/>
              </a:rPr>
              <a:t>Implantar no Azure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063240"/>
            <a:ext cx="4251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526878"/>
                </a:solidFill>
                <a:latin typeface="Aptos"/>
              </a:rPr>
              <a:t>Publicar o Spot em uma máquina virtual Linux no Azure.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48840"/>
            <a:ext cx="5440680" cy="16002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148840"/>
            <a:ext cx="50292" cy="1600200"/>
          </a:xfrm>
          <a:prstGeom prst="rect">
            <a:avLst/>
          </a:prstGeom>
          <a:solidFill>
            <a:srgbClr val="0C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3317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0C588A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350008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23044"/>
                </a:solidFill>
                <a:latin typeface="Aptos"/>
              </a:rPr>
              <a:t>Ativar as autenticações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3063240"/>
            <a:ext cx="4251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526878"/>
                </a:solidFill>
                <a:latin typeface="Aptos"/>
              </a:rPr>
              <a:t>Configurar Google e Microsoft no ambiente de produção.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5440680" cy="16002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50292" cy="1600200"/>
          </a:xfrm>
          <a:prstGeom prst="rect">
            <a:avLst/>
          </a:prstGeom>
          <a:solidFill>
            <a:srgbClr val="0C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0C588A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224528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23044"/>
                </a:solidFill>
                <a:latin typeface="Aptos"/>
              </a:rPr>
              <a:t>Executar testes de segurança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937760"/>
            <a:ext cx="4251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526878"/>
                </a:solidFill>
                <a:latin typeface="Aptos"/>
              </a:rPr>
              <a:t>Rodar os testes de segurança e corrigir os pontos identificados.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023360"/>
            <a:ext cx="5440680" cy="16002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023360"/>
            <a:ext cx="50292" cy="1600200"/>
          </a:xfrm>
          <a:prstGeom prst="rect">
            <a:avLst/>
          </a:prstGeom>
          <a:solidFill>
            <a:srgbClr val="0C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20624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0C588A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4224528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23044"/>
                </a:solidFill>
                <a:latin typeface="Aptos"/>
              </a:rPr>
              <a:t>Receber o feedback do cliente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4937760"/>
            <a:ext cx="4251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526878"/>
                </a:solidFill>
                <a:latin typeface="Aptos"/>
              </a:rPr>
              <a:t>Validar o uso com o cliente e incorporar os ajustes necessários.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26878"/>
                </a:solidFill>
                <a:latin typeface="Aptos"/>
              </a:rPr>
              <a:t>Pendências para produção • planejamento da equipe SPOT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3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omputécnica"/>
          <p:cNvPicPr>
            <a:picLocks noChangeAspect="1"/>
          </p:cNvPicPr>
          <p:nvPr/>
        </p:nvPicPr>
        <p:blipFill>
          <a:blip r:embed="rId3"/>
          <a:srcRect l="4314" r="4314" t="40196" b="38627"/>
          <a:stretch>
            <a:fillRect/>
          </a:stretch>
        </p:blipFill>
        <p:spPr>
          <a:xfrm>
            <a:off x="10149840" y="173736"/>
            <a:ext cx="1508760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81160" y="2743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C588A"/>
                </a:solidFill>
                <a:latin typeface="Aptos"/>
              </a:rPr>
              <a:t>SPOT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8309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26878"/>
                </a:solidFill>
                <a:latin typeface="Apto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Equipe SPOT</dc:creator>
  <dc:description>generated using python-pptx</dc:description>
  <dc:language>en-US</dc:language>
  <cp:lastModifiedBy/>
  <dcterms:modified xsi:type="dcterms:W3CDTF">2026-10-28T18:56:26Z</dcterms:modified>
  <cp:revision>5</cp:revision>
  <dc:subject>12 slides — identidade Computécnica e Spot; pendências para produção</dc:subject>
  <dc:title>SPOT — Defesa de TCC — versão corrigida e revisada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