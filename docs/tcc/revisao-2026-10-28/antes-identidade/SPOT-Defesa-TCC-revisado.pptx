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_rels/notesSlide9.xml.rels" ContentType="application/vnd.openxmlformats-package.relationships+xml"/>
  <Override PartName="/ppt/notesSlides/_rels/notesSlide6.xml.rels" ContentType="application/vnd.openxmlformats-package.relationships+xml"/>
  <Override PartName="/ppt/notesSlides/_rels/notesSlide8.xml.rels" ContentType="application/vnd.openxmlformats-package.relationships+xml"/>
  <Override PartName="/ppt/notesSlides/_rels/notesSlide2.xml.rels" ContentType="application/vnd.openxmlformats-package.relationships+xml"/>
  <Override PartName="/ppt/notesSlides/_rels/notesSlide7.xml.rels" ContentType="application/vnd.openxmlformats-package.relationships+xml"/>
  <Override PartName="/ppt/notesSlides/_rels/notesSlide1.xml.rels" ContentType="application/vnd.openxmlformats-package.relationships+xml"/>
  <Override PartName="/ppt/notesSlides/_rels/notesSlide11.xml.rels" ContentType="application/vnd.openxmlformats-package.relationships+xml"/>
  <Override PartName="/ppt/notesSlides/_rels/notesSlide4.xml.rels" ContentType="application/vnd.openxmlformats-package.relationships+xml"/>
  <Override PartName="/ppt/notesSlides/_rels/notesSlide5.xml.rels" ContentType="application/vnd.openxmlformats-package.relationships+xml"/>
  <Override PartName="/ppt/notesSlides/_rels/notesSlide10.xml.rels" ContentType="application/vnd.openxmlformats-package.relationships+xml"/>
  <Override PartName="/ppt/notesSlides/_rels/notesSlide3.xml.rels" ContentType="application/vnd.openxmlformats-package.relationship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_rels/slide11.xml.rels" ContentType="application/vnd.openxmlformats-package.relationships+xml"/>
  <Override PartName="/ppt/slides/_rels/slide9.xml.rels" ContentType="application/vnd.openxmlformats-package.relationships+xml"/>
  <Override PartName="/ppt/slides/_rels/slide10.xml.rels" ContentType="application/vnd.openxmlformats-package.relationships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3.xml.rels" ContentType="application/vnd.openxmlformats-package.relationships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s/slide11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</p:sldIdLst>
  <p:sldSz cx="12192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presProps" Target="presProps.xml"/>
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US"/>
  <c:roundedCorners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label 0</c:f>
              <c:strCache>
                <c:ptCount val="1"/>
                <c:pt idx="0">
                  <c:v>Participantes (%)</c:v>
                </c:pt>
              </c:strCache>
            </c:strRef>
          </c:tx>
          <c:spPr>
            <a:solidFill>
              <a:srgbClr val="007e98"/>
            </a:solidFill>
            <a:ln w="31680">
              <a:solidFill>
                <a:srgbClr val="007e98"/>
              </a:solidFill>
              <a:round/>
            </a:ln>
          </c:spPr>
          <c:marker>
            <c:symbol val="circle"/>
            <c:size val="7"/>
            <c:spPr>
              <a:solidFill>
                <a:srgbClr val="007e98"/>
              </a:solidFill>
            </c:spPr>
          </c:marker>
          <c:dPt>
            <c:idx val="0"/>
            <c:marker>
              <c:symbol val="circle"/>
              <c:size val="7"/>
              <c:spPr>
                <a:solidFill>
                  <a:srgbClr val="007e98"/>
                </a:solidFill>
              </c:spPr>
            </c:marker>
          </c:dPt>
          <c:dPt>
            <c:idx val="1"/>
            <c:marker>
              <c:symbol val="circle"/>
              <c:size val="7"/>
              <c:spPr>
                <a:solidFill>
                  <a:srgbClr val="007e98"/>
                </a:solidFill>
              </c:spPr>
            </c:marker>
          </c:dPt>
          <c:dPt>
            <c:idx val="2"/>
            <c:marker>
              <c:symbol val="circle"/>
              <c:size val="7"/>
              <c:spPr>
                <a:solidFill>
                  <a:srgbClr val="007e98"/>
                </a:solidFill>
              </c:spPr>
            </c:marker>
          </c:dPt>
          <c:dPt>
            <c:idx val="3"/>
            <c:marker>
              <c:symbol val="circle"/>
              <c:size val="7"/>
              <c:spPr>
                <a:solidFill>
                  <a:srgbClr val="007e98"/>
                </a:solidFill>
              </c:spPr>
            </c:marker>
          </c:dPt>
          <c:dPt>
            <c:idx val="4"/>
            <c:marker>
              <c:symbol val="circle"/>
              <c:size val="7"/>
              <c:spPr>
                <a:solidFill>
                  <a:srgbClr val="007e98"/>
                </a:solidFill>
              </c:spPr>
            </c:marker>
          </c:dPt>
          <c:dLbls>
            <c:dLbl>
              <c:idx val="0"/>
              <c:txPr>
                <a:bodyPr wrap="square"/>
                <a:lstStyle/>
                <a:p>
                  <a:pPr>
                    <a:defRPr b="0" sz="1000" spc="-1" strike="noStrike">
                      <a:solidFill>
                        <a:srgbClr val="000000"/>
                      </a:solidFill>
                      <a:latin typeface="Arial"/>
                      <a:ea typeface="DejaVu Sans"/>
                    </a:defRPr>
                  </a:pPr>
                </a:p>
              </c:txPr>
              <c:tx>
                <c:rich>
                  <a:bodyPr/>
                  <a:p>
                    <a:r>
                      <a:rPr b="1" sz="1000" spc="-1" strike="noStrike">
                        <a:solidFill>
                          <a:srgbClr val="183447"/>
                        </a:solidFill>
                        <a:latin typeface="DejaVu Sans"/>
                        <a:ea typeface="DejaVu Sans"/>
                      </a:rPr>
                      <a:t>29,8%</a:t>
                    </a:r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eparator>; </c:separator>
            </c:dLbl>
            <c:dLbl>
              <c:idx val="1"/>
              <c:txPr>
                <a:bodyPr wrap="square"/>
                <a:lstStyle/>
                <a:p>
                  <a:pPr>
                    <a:defRPr b="0" sz="1000" spc="-1" strike="noStrike">
                      <a:solidFill>
                        <a:srgbClr val="000000"/>
                      </a:solidFill>
                      <a:latin typeface="Arial"/>
                      <a:ea typeface="DejaVu Sans"/>
                    </a:defRPr>
                  </a:pPr>
                </a:p>
              </c:txPr>
              <c:tx>
                <c:rich>
                  <a:bodyPr/>
                  <a:p>
                    <a:r>
                      <a:rPr b="1" sz="1000" spc="-1" strike="noStrike">
                        <a:solidFill>
                          <a:srgbClr val="183447"/>
                        </a:solidFill>
                        <a:latin typeface="DejaVu Sans"/>
                        <a:ea typeface="DejaVu Sans"/>
                      </a:rPr>
                      <a:t>23,4%</a:t>
                    </a:r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eparator>; </c:separator>
            </c:dLbl>
            <c:dLbl>
              <c:idx val="2"/>
              <c:txPr>
                <a:bodyPr wrap="square"/>
                <a:lstStyle/>
                <a:p>
                  <a:pPr>
                    <a:defRPr b="0" sz="1000" spc="-1" strike="noStrike">
                      <a:solidFill>
                        <a:srgbClr val="000000"/>
                      </a:solidFill>
                      <a:latin typeface="Arial"/>
                      <a:ea typeface="DejaVu Sans"/>
                    </a:defRPr>
                  </a:pPr>
                </a:p>
              </c:txPr>
              <c:tx>
                <c:rich>
                  <a:bodyPr/>
                  <a:p>
                    <a:r>
                      <a:rPr b="1" sz="1000" spc="-1" strike="noStrike">
                        <a:solidFill>
                          <a:srgbClr val="183447"/>
                        </a:solidFill>
                        <a:latin typeface="DejaVu Sans"/>
                        <a:ea typeface="DejaVu Sans"/>
                      </a:rPr>
                      <a:t>20,2%</a:t>
                    </a:r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eparator>; </c:separator>
            </c:dLbl>
            <c:dLbl>
              <c:idx val="3"/>
              <c:txPr>
                <a:bodyPr wrap="square"/>
                <a:lstStyle/>
                <a:p>
                  <a:pPr>
                    <a:defRPr b="0" sz="1000" spc="-1" strike="noStrike">
                      <a:solidFill>
                        <a:srgbClr val="000000"/>
                      </a:solidFill>
                      <a:latin typeface="Arial"/>
                      <a:ea typeface="DejaVu Sans"/>
                    </a:defRPr>
                  </a:pPr>
                </a:p>
              </c:txPr>
              <c:tx>
                <c:rich>
                  <a:bodyPr/>
                  <a:p>
                    <a:r>
                      <a:rPr b="1" sz="1000" spc="-1" strike="noStrike">
                        <a:solidFill>
                          <a:srgbClr val="183447"/>
                        </a:solidFill>
                        <a:latin typeface="DejaVu Sans"/>
                        <a:ea typeface="DejaVu Sans"/>
                      </a:rPr>
                      <a:t>16,0%</a:t>
                    </a:r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eparator>; </c:separator>
            </c:dLbl>
            <c:dLbl>
              <c:idx val="4"/>
              <c:txPr>
                <a:bodyPr wrap="square"/>
                <a:lstStyle/>
                <a:p>
                  <a:pPr>
                    <a:defRPr b="0" sz="1000" spc="-1" strike="noStrike">
                      <a:solidFill>
                        <a:srgbClr val="000000"/>
                      </a:solidFill>
                      <a:latin typeface="Arial"/>
                      <a:ea typeface="DejaVu Sans"/>
                    </a:defRPr>
                  </a:pPr>
                </a:p>
              </c:txPr>
              <c:tx>
                <c:rich>
                  <a:bodyPr/>
                  <a:p>
                    <a:r>
                      <a:rPr b="1" sz="1000" spc="-1" strike="noStrike">
                        <a:solidFill>
                          <a:srgbClr val="183447"/>
                        </a:solidFill>
                        <a:latin typeface="DejaVu Sans"/>
                        <a:ea typeface="DejaVu Sans"/>
                      </a:rPr>
                      <a:t>10,6%</a:t>
                    </a:r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eparator>; </c:separator>
            </c:dLbl>
            <c:txPr>
              <a:bodyPr wrap="square"/>
              <a:lstStyle/>
              <a:p>
                <a:pPr>
                  <a:defRPr b="0" sz="1800" spc="-1" strike="noStrike">
                    <a:solidFill>
                      <a:srgbClr val="000000"/>
                    </a:solidFill>
                    <a:latin typeface="Calibri"/>
                    <a:ea typeface="DejaVu Sans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eparator>; </c:separator>
            <c:showLeaderLines val="1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categories</c:f>
              <c:strCache>
                <c:ptCount val="5"/>
                <c:pt idx="0">
                  <c:v>15–25</c:v>
                </c:pt>
                <c:pt idx="1">
                  <c:v>25–35</c:v>
                </c:pt>
                <c:pt idx="2">
                  <c:v>35–45</c:v>
                </c:pt>
                <c:pt idx="3">
                  <c:v>45–55</c:v>
                </c:pt>
                <c:pt idx="4">
                  <c:v>&gt;55</c:v>
                </c:pt>
              </c:strCache>
            </c:strRef>
          </c:cat>
          <c:val>
            <c:numRef>
              <c:f>0</c:f>
              <c:numCache>
                <c:formatCode>General</c:formatCode>
                <c:ptCount val="5"/>
                <c:pt idx="0">
                  <c:v>0.297872340425532</c:v>
                </c:pt>
                <c:pt idx="1">
                  <c:v>0.234042553191489</c:v>
                </c:pt>
                <c:pt idx="2">
                  <c:v>0.202127659574468</c:v>
                </c:pt>
                <c:pt idx="3">
                  <c:v>0.159574468085106</c:v>
                </c:pt>
                <c:pt idx="4">
                  <c:v>0.106382978723404</c:v>
                </c:pt>
              </c:numCache>
            </c:numRef>
          </c:val>
          <c:smooth val="0"/>
        </c:ser>
        <c:hiLowLines>
          <c:spPr>
            <a:ln w="0">
              <a:noFill/>
            </a:ln>
          </c:spPr>
        </c:hiLowLines>
        <c:marker val="1"/>
        <c:axId val="3975826"/>
        <c:axId val="48679881"/>
      </c:lineChart>
      <c:catAx>
        <c:axId val="3975826"/>
        <c:scaling>
          <c:orientation val="minMax"/>
        </c:scaling>
        <c:delete val="0"/>
        <c:axPos val="b"/>
        <c:numFmt formatCode="[$-416]dd/mm/yyyy" sourceLinked="0"/>
        <c:majorTickMark val="none"/>
        <c:minorTickMark val="none"/>
        <c:tickLblPos val="nextTo"/>
        <c:spPr>
          <a:ln w="9360">
            <a:solidFill>
              <a:srgbClr val="878787"/>
            </a:solidFill>
            <a:round/>
          </a:ln>
        </c:spPr>
        <c:txPr>
          <a:bodyPr/>
          <a:lstStyle/>
          <a:p>
            <a:pPr>
              <a:defRPr b="0" sz="900" spc="-1" strike="noStrike">
                <a:solidFill>
                  <a:srgbClr val="000000"/>
                </a:solidFill>
                <a:latin typeface="DejaVu Sans"/>
                <a:ea typeface="DejaVu Sans"/>
              </a:defRPr>
            </a:pPr>
          </a:p>
        </c:txPr>
        <c:crossAx val="48679881"/>
        <c:crosses val="autoZero"/>
        <c:auto val="1"/>
        <c:lblAlgn val="ctr"/>
        <c:lblOffset val="100"/>
        <c:noMultiLvlLbl val="0"/>
      </c:catAx>
      <c:valAx>
        <c:axId val="48679881"/>
        <c:scaling>
          <c:orientation val="minMax"/>
          <c:max val="0.4"/>
          <c:min val="0"/>
        </c:scaling>
        <c:delete val="0"/>
        <c:axPos val="l"/>
        <c:majorGridlines>
          <c:spPr>
            <a:ln w="9360">
              <a:solidFill>
                <a:srgbClr val="dce5ea"/>
              </a:solidFill>
              <a:round/>
            </a:ln>
          </c:spPr>
        </c:majorGridlines>
        <c:numFmt formatCode="0%" sourceLinked="0"/>
        <c:majorTickMark val="out"/>
        <c:minorTickMark val="none"/>
        <c:tickLblPos val="nextTo"/>
        <c:spPr>
          <a:ln w="9360">
            <a:solidFill>
              <a:srgbClr val="878787"/>
            </a:solidFill>
            <a:round/>
          </a:ln>
        </c:spPr>
        <c:txPr>
          <a:bodyPr/>
          <a:lstStyle/>
          <a:p>
            <a:pPr>
              <a:defRPr b="0" sz="900" spc="-1" strike="noStrike">
                <a:solidFill>
                  <a:srgbClr val="000000"/>
                </a:solidFill>
                <a:latin typeface="DejaVu Sans"/>
                <a:ea typeface="DejaVu Sans"/>
              </a:defRPr>
            </a:pPr>
          </a:p>
        </c:txPr>
        <c:crossAx val="3975826"/>
        <c:crosses val="autoZero"/>
        <c:crossBetween val="between"/>
        <c:majorUnit val="0.1"/>
      </c:valAx>
      <c:spPr>
        <a:noFill/>
        <a:ln w="0">
          <a:noFill/>
        </a:ln>
      </c:spPr>
    </c:plotArea>
    <c:plotVisOnly val="1"/>
    <c:dispBlanksAs val="gap"/>
  </c:chart>
  <c:spPr>
    <a:noFill/>
    <a:ln w="9360">
      <a:solidFill>
        <a:srgbClr val="d9d9d9"/>
      </a:solidFill>
      <a:round/>
    </a:ln>
  </c:spPr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US"/>
  <c:roundedCorners val="0"/>
  <c:chart>
    <c:autoTitleDeleted val="1"/>
    <c:plotArea>
      <c:pieChart>
        <c:varyColors val="1"/>
        <c:ser>
          <c:idx val="0"/>
          <c:order val="0"/>
          <c:tx>
            <c:strRef>
              <c:f>label 0</c:f>
              <c:strCache>
                <c:ptCount val="1"/>
                <c:pt idx="0">
                  <c:v>Participantes</c:v>
                </c:pt>
              </c:strCache>
            </c:strRef>
          </c:tx>
          <c:spPr>
            <a:solidFill>
              <a:srgbClr val="4f81bd"/>
            </a:solidFill>
            <a:ln w="0">
              <a:noFill/>
            </a:ln>
          </c:spPr>
          <c:explosion val="0"/>
          <c:dPt>
            <c:idx val="0"/>
            <c:spPr>
              <a:solidFill>
                <a:srgbClr val="008b79"/>
              </a:solidFill>
              <a:ln w="0">
                <a:solidFill>
                  <a:srgbClr val="ffffff"/>
                </a:solidFill>
              </a:ln>
            </c:spPr>
          </c:dPt>
          <c:dPt>
            <c:idx val="1"/>
            <c:spPr>
              <a:solidFill>
                <a:srgbClr val="007e98"/>
              </a:solidFill>
              <a:ln w="0">
                <a:solidFill>
                  <a:srgbClr val="ffffff"/>
                </a:solidFill>
              </a:ln>
            </c:spPr>
          </c:dPt>
          <c:dPt>
            <c:idx val="2"/>
            <c:spPr>
              <a:solidFill>
                <a:srgbClr val="af6714"/>
              </a:solidFill>
              <a:ln w="0">
                <a:solidFill>
                  <a:srgbClr val="ffffff"/>
                </a:solidFill>
              </a:ln>
            </c:spPr>
          </c:dPt>
          <c:dPt>
            <c:idx val="3"/>
            <c:spPr>
              <a:solidFill>
                <a:srgbClr val="a5b5bf"/>
              </a:solidFill>
              <a:ln w="0">
                <a:solidFill>
                  <a:srgbClr val="ffffff"/>
                </a:solidFill>
              </a:ln>
            </c:spPr>
          </c:dPt>
          <c:dLbls>
            <c:dLbl>
              <c:idx val="0"/>
              <c:txPr>
                <a:bodyPr wrap="none"/>
                <a:lstStyle/>
                <a:p>
                  <a:pPr>
                    <a:defRPr b="0" sz="1000" spc="-1" strike="noStrike">
                      <a:solidFill>
                        <a:srgbClr val="000000"/>
                      </a:solidFill>
                      <a:latin typeface="Arial"/>
                      <a:ea typeface="DejaVu Sans"/>
                    </a:defRPr>
                  </a:pPr>
                </a:p>
              </c:txPr>
              <c:dLblPos val="bestFit"/>
              <c:showLegendKey val="0"/>
              <c:showVal val="0"/>
              <c:showCatName val="0"/>
              <c:showSerName val="0"/>
              <c:showPercent val="0"/>
              <c:separator> </c:separator>
            </c:dLbl>
            <c:dLbl>
              <c:idx val="1"/>
              <c:txPr>
                <a:bodyPr wrap="none"/>
                <a:lstStyle/>
                <a:p>
                  <a:pPr>
                    <a:defRPr b="0" sz="1000" spc="-1" strike="noStrike">
                      <a:solidFill>
                        <a:srgbClr val="000000"/>
                      </a:solidFill>
                      <a:latin typeface="Arial"/>
                      <a:ea typeface="DejaVu Sans"/>
                    </a:defRPr>
                  </a:pPr>
                </a:p>
              </c:txPr>
              <c:dLblPos val="bestFit"/>
              <c:showLegendKey val="0"/>
              <c:showVal val="0"/>
              <c:showCatName val="0"/>
              <c:showSerName val="0"/>
              <c:showPercent val="0"/>
              <c:separator> </c:separator>
            </c:dLbl>
            <c:dLbl>
              <c:idx val="2"/>
              <c:txPr>
                <a:bodyPr wrap="none"/>
                <a:lstStyle/>
                <a:p>
                  <a:pPr>
                    <a:defRPr b="0" sz="1000" spc="-1" strike="noStrike">
                      <a:solidFill>
                        <a:srgbClr val="000000"/>
                      </a:solidFill>
                      <a:latin typeface="Arial"/>
                      <a:ea typeface="DejaVu Sans"/>
                    </a:defRPr>
                  </a:pPr>
                </a:p>
              </c:txPr>
              <c:dLblPos val="bestFit"/>
              <c:showLegendKey val="0"/>
              <c:showVal val="0"/>
              <c:showCatName val="0"/>
              <c:showSerName val="0"/>
              <c:showPercent val="0"/>
              <c:separator> </c:separator>
            </c:dLbl>
            <c:dLbl>
              <c:idx val="3"/>
              <c:txPr>
                <a:bodyPr wrap="none"/>
                <a:lstStyle/>
                <a:p>
                  <a:pPr>
                    <a:defRPr b="0" sz="1000" spc="-1" strike="noStrike">
                      <a:solidFill>
                        <a:srgbClr val="000000"/>
                      </a:solidFill>
                      <a:latin typeface="Arial"/>
                      <a:ea typeface="DejaVu Sans"/>
                    </a:defRPr>
                  </a:pPr>
                </a:p>
              </c:txPr>
              <c:dLblPos val="bestFit"/>
              <c:showLegendKey val="0"/>
              <c:showVal val="0"/>
              <c:showCatName val="0"/>
              <c:showSerName val="0"/>
              <c:showPercent val="0"/>
              <c:separator> </c:separator>
            </c:dLbl>
            <c:txPr>
              <a:bodyPr wrap="none"/>
              <a:lstStyle/>
              <a:p>
                <a:pPr>
                  <a:defRPr b="0" sz="1000" spc="-1" strike="noStrike">
                    <a:solidFill>
                      <a:srgbClr val="000000"/>
                    </a:solidFill>
                    <a:latin typeface="Arial"/>
                    <a:ea typeface="DejaVu Sans"/>
                  </a:defRPr>
                </a:pPr>
              </a:p>
            </c:txPr>
            <c:dLblPos val="bestFit"/>
            <c:showLegendKey val="0"/>
            <c:showVal val="0"/>
            <c:showCatName val="0"/>
            <c:showSerName val="0"/>
            <c:showPercent val="0"/>
            <c:separator> </c:separator>
            <c:showLeaderLines val="1"/>
          </c:dLbls>
          <c:cat>
            <c:strRef>
              <c:f>categories</c:f>
              <c:strCache>
                <c:ptCount val="4"/>
                <c:pt idx="0">
                  <c:v>Concordam</c:v>
                </c:pt>
                <c:pt idx="1">
                  <c:v>Talvez</c:v>
                </c:pt>
                <c:pt idx="2">
                  <c:v>Não</c:v>
                </c:pt>
                <c:pt idx="3">
                  <c:v>Diferença documental</c:v>
                </c:pt>
              </c:strCache>
            </c:strRef>
          </c:cat>
          <c:val>
            <c:numRef>
              <c:f>0</c:f>
              <c:numCache>
                <c:formatCode>General</c:formatCode>
                <c:ptCount val="4"/>
                <c:pt idx="0">
                  <c:v>43</c:v>
                </c:pt>
                <c:pt idx="1">
                  <c:v>33</c:v>
                </c:pt>
                <c:pt idx="2">
                  <c:v>14</c:v>
                </c:pt>
                <c:pt idx="3">
                  <c:v>4</c:v>
                </c:pt>
              </c:numCache>
            </c:numRef>
          </c:val>
        </c:ser>
        <c:firstSliceAng val="0"/>
      </c:pieChart>
      <c:spPr>
        <a:noFill/>
        <a:ln w="0">
          <a:noFill/>
        </a:ln>
      </c:spPr>
    </c:plotArea>
    <c:plotVisOnly val="1"/>
    <c:dispBlanksAs val="gap"/>
  </c:chart>
  <c:spPr>
    <a:noFill/>
    <a:ln w="9360">
      <a:solidFill>
        <a:srgbClr val="d9d9d9"/>
      </a:solidFill>
      <a:round/>
    </a:ln>
  </c:spPr>
</c:chartSpace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3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sldImg"/>
          </p:nvPr>
        </p:nvSpPr>
        <p:spPr>
          <a:xfrm>
            <a:off x="533520" y="764280"/>
            <a:ext cx="6704640" cy="3771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pt-BR" sz="4400" spc="-1" strike="noStrike">
                <a:latin typeface="Arial"/>
              </a:rPr>
              <a:t>Clique para mover o slide</a:t>
            </a:r>
            <a:endParaRPr b="0" lang="pt-BR" sz="4400" spc="-1" strike="noStrike">
              <a:latin typeface="Arial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pt-BR" sz="2000" spc="-1" strike="noStrike">
                <a:latin typeface="Arial"/>
              </a:rPr>
              <a:t>Clique para editar o formato de notas</a:t>
            </a:r>
            <a:endParaRPr b="0" lang="pt-BR" sz="2000" spc="-1" strike="noStrike">
              <a:latin typeface="Arial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pt-BR" sz="1400" spc="-1" strike="noStrike">
                <a:latin typeface="Times New Roman"/>
              </a:rPr>
              <a:t>&lt;cabeçalho&gt;</a:t>
            </a:r>
            <a:endParaRPr b="0" lang="pt-BR" sz="1400" spc="-1" strike="noStrike">
              <a:latin typeface="Times New Roman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 type="dt" idx="7"/>
          </p:nvPr>
        </p:nvSpPr>
        <p:spPr>
          <a:xfrm>
            <a:off x="439920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algn="r">
              <a:buNone/>
              <a:defRPr b="0" lang="pt-BR" sz="1400" spc="-1" strike="noStrike">
                <a:latin typeface="Times New Roman"/>
              </a:defRPr>
            </a:lvl1pPr>
          </a:lstStyle>
          <a:p>
            <a:pPr algn="r">
              <a:buNone/>
            </a:pPr>
            <a:r>
              <a:rPr b="0" lang="pt-BR" sz="1400" spc="-1" strike="noStrike">
                <a:latin typeface="Times New Roman"/>
              </a:rPr>
              <a:t>&lt;data/hora&gt;</a:t>
            </a:r>
            <a:endParaRPr b="0" lang="pt-BR" sz="1400" spc="-1" strike="noStrike">
              <a:latin typeface="Times New Roman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 type="ftr" idx="8"/>
          </p:nvPr>
        </p:nvSpPr>
        <p:spPr>
          <a:xfrm>
            <a:off x="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>
              <a:defRPr b="0" lang="pt-BR" sz="1400" spc="-1" strike="noStrike">
                <a:latin typeface="Times New Roman"/>
              </a:defRPr>
            </a:lvl1pPr>
          </a:lstStyle>
          <a:p>
            <a:r>
              <a:rPr b="0" lang="pt-BR" sz="1400" spc="-1" strike="noStrike">
                <a:latin typeface="Times New Roman"/>
              </a:rPr>
              <a:t>&lt;rodapé&gt;</a:t>
            </a:r>
            <a:endParaRPr b="0" lang="pt-BR" sz="1400" spc="-1" strike="noStrike">
              <a:latin typeface="Times New Roman"/>
            </a:endParaRPr>
          </a:p>
        </p:txBody>
      </p:sp>
      <p:sp>
        <p:nvSpPr>
          <p:cNvPr id="87" name="PlaceHolder 6"/>
          <p:cNvSpPr>
            <a:spLocks noGrp="1"/>
          </p:cNvSpPr>
          <p:nvPr>
            <p:ph type="sldNum" idx="9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buNone/>
              <a:defRPr b="0" lang="pt-BR" sz="1400" spc="-1" strike="noStrike">
                <a:latin typeface="Times New Roman"/>
              </a:defRPr>
            </a:lvl1pPr>
          </a:lstStyle>
          <a:p>
            <a:pPr algn="r">
              <a:buNone/>
            </a:pPr>
            <a:fld id="{66F650A4-2B0E-4A98-B49A-EEF12CCB9D03}" type="slidenum">
              <a:rPr b="0" lang="pt-BR" sz="1400" spc="-1" strike="noStrike">
                <a:latin typeface="Times New Roman"/>
              </a:rPr>
              <a:t>&lt;número&gt;</a:t>
            </a:fld>
            <a:endParaRPr b="0" lang="pt-BR" sz="14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0920" cy="3427920"/>
          </a:xfrm>
          <a:prstGeom prst="rect">
            <a:avLst/>
          </a:prstGeom>
          <a:ln w="0">
            <a:noFill/>
          </a:ln>
        </p:spPr>
      </p:sp>
      <p:sp>
        <p:nvSpPr>
          <p:cNvPr id="522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5320" cy="4113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2000" spc="-1" strike="noStrike">
                <a:latin typeface="Arial"/>
              </a:rPr>
              <a:t>SLIDE 1 — TEMPO: 20 segundos</a:t>
            </a:r>
            <a:endParaRPr b="0" lang="pt-BR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2000" spc="-1" strike="noStrike">
                <a:latin typeface="Arial"/>
              </a:rPr>
              <a:t>Acumulado: 00:00 a 00:20</a:t>
            </a:r>
            <a:endParaRPr b="0" lang="pt-BR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endParaRPr b="0" lang="pt-BR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2000" spc="-1" strike="noStrike">
                <a:latin typeface="Arial"/>
              </a:rPr>
              <a:t>“</a:t>
            </a:r>
            <a:r>
              <a:rPr b="0" lang="pt-BR" sz="2000" spc="-1" strike="noStrike">
                <a:latin typeface="Arial"/>
              </a:rPr>
              <a:t>Somos a equipe do Spot, Sistemas de Projetos, Organização e Tarefas. O projeto nasceu de uma necessidade da Computécnica: organizar a execução dos projetos com mais clareza e ligar esse trabalho ao seu resultado financeiro. Vamos mostrar como a pesquisa orientou as decisões e como elas aparecem no sistema.”</a:t>
            </a:r>
            <a:endParaRPr b="0" lang="pt-BR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endParaRPr b="0" lang="pt-BR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2000" spc="-1" strike="noStrike">
                <a:latin typeface="Arial"/>
              </a:rPr>
              <a:t>Fontes: pesquisa de campo DOCX (2026), texto e figuras; monografia integrada; código local em 26/10/2026. Consulte o guia para contagens completas e limitações.</a:t>
            </a:r>
            <a:endParaRPr b="0" lang="pt-BR" sz="2000" spc="-1" strike="noStrike">
              <a:latin typeface="Arial"/>
            </a:endParaRPr>
          </a:p>
        </p:txBody>
      </p:sp>
      <p:sp>
        <p:nvSpPr>
          <p:cNvPr id="523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0720" cy="456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BCA503A3-BCBD-4AA7-8D9F-3FDB785886E3}" type="slidenum">
              <a:rPr b="0" lang="en-US" sz="1200" spc="-1" strike="noStrike">
                <a:latin typeface="Times New Roman"/>
              </a:rPr>
              <a:t>&lt;número&gt;</a:t>
            </a:fld>
            <a:endParaRPr b="0" lang="pt-BR" sz="1200" spc="-1" strike="noStrike"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0920" cy="3427920"/>
          </a:xfrm>
          <a:prstGeom prst="rect">
            <a:avLst/>
          </a:prstGeom>
          <a:ln w="0">
            <a:noFill/>
          </a:ln>
        </p:spPr>
      </p:sp>
      <p:sp>
        <p:nvSpPr>
          <p:cNvPr id="525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5320" cy="4113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2000" spc="-1" strike="noStrike">
                <a:latin typeface="Arial"/>
              </a:rPr>
              <a:t>SLIDE 2 — TEMPO: 40 segundos</a:t>
            </a:r>
            <a:endParaRPr b="0" lang="pt-BR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2000" spc="-1" strike="noStrike">
                <a:latin typeface="Arial"/>
              </a:rPr>
              <a:t>Acumulado: 00:20 a 01:00</a:t>
            </a:r>
            <a:endParaRPr b="0" lang="pt-BR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endParaRPr b="0" lang="pt-BR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2000" spc="-1" strike="noStrike">
                <a:latin typeface="Arial"/>
              </a:rPr>
              <a:t>“</a:t>
            </a:r>
            <a:r>
              <a:rPr b="0" lang="pt-BR" sz="2000" spc="-1" strike="noStrike">
                <a:latin typeface="Arial"/>
              </a:rPr>
              <a:t>O trabalho conecta três coisas: uma necessidade real, pesquisa para priorizar requisitos e implementação verificável. O Spot organiza a execução e a relaciona ao resultado financeiro, com governança e autonomia de evolução. Nossa contribuição é uma solução adaptada à Computécnica e uma base técnica que pode amadurecer com uso e validação. Esses são os três pilares que orientam a proposta a seguir.”</a:t>
            </a:r>
            <a:endParaRPr b="0" lang="pt-BR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endParaRPr b="0" lang="pt-BR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2000" spc="-1" strike="noStrike">
                <a:latin typeface="Arial"/>
              </a:rPr>
              <a:t>Fontes: pesquisa de campo DOCX (2026), texto e figuras; monografia integrada; código local em 26/10/2026. Consulte o guia para contagens completas e limitações.</a:t>
            </a:r>
            <a:endParaRPr b="0" lang="pt-BR" sz="2000" spc="-1" strike="noStrike">
              <a:latin typeface="Arial"/>
            </a:endParaRPr>
          </a:p>
        </p:txBody>
      </p:sp>
      <p:sp>
        <p:nvSpPr>
          <p:cNvPr id="526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0720" cy="456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DF32E314-C75F-4655-BB8D-DA93EF0284AF}" type="slidenum">
              <a:rPr b="0" lang="en-US" sz="1200" spc="-1" strike="noStrike">
                <a:latin typeface="Times New Roman"/>
              </a:rPr>
              <a:t>&lt;número&gt;</a:t>
            </a:fld>
            <a:endParaRPr b="0" lang="pt-BR" sz="1200" spc="-1" strike="noStrike"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0920" cy="3427920"/>
          </a:xfrm>
          <a:prstGeom prst="rect">
            <a:avLst/>
          </a:prstGeom>
          <a:ln w="0">
            <a:noFill/>
          </a:ln>
        </p:spPr>
      </p:sp>
      <p:sp>
        <p:nvSpPr>
          <p:cNvPr id="528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5320" cy="4113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2000" spc="-1" strike="noStrike">
                <a:latin typeface="Arial"/>
              </a:rPr>
              <a:t>SLIDE 3 — TEMPO: 50 segundos</a:t>
            </a:r>
            <a:endParaRPr b="0" lang="pt-BR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2000" spc="-1" strike="noStrike">
                <a:latin typeface="Arial"/>
              </a:rPr>
              <a:t>Acumulado: 01:00 a 01:50</a:t>
            </a:r>
            <a:endParaRPr b="0" lang="pt-BR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endParaRPr b="0" lang="pt-BR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2000" spc="-1" strike="noStrike">
                <a:latin typeface="Arial"/>
              </a:rPr>
              <a:t>“</a:t>
            </a:r>
            <a:r>
              <a:rPr b="0" lang="pt-BR" sz="2000" spc="-1" strike="noStrike">
                <a:latin typeface="Arial"/>
              </a:rPr>
              <a:t>O ponto de partida foi um sistema com visual antigo, dificuldades de integração e controle insuficiente de responsabilidades e custos. Usamos duas bases: a pesquisa de campo, para identificar dores e expectativas, e o estudo de sistemas, para conhecer soluções existentes. O formulário reuniu 94 respostas entre março e agosto de 2026. A amostra é de conveniência: orienta nosso projeto, mas não representa estatisticamente todas as empresas. Também confrontamos essas evidências com o memorial e as necessidades específicas do cliente.”</a:t>
            </a:r>
            <a:endParaRPr b="0" lang="pt-BR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endParaRPr b="0" lang="pt-BR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2000" spc="-1" strike="noStrike">
                <a:latin typeface="Arial"/>
              </a:rPr>
              <a:t>Fontes: pesquisa de campo DOCX (2026), texto e figuras; monografia integrada; código local em 26/10/2026. Consulte o guia para contagens completas e limitações.</a:t>
            </a:r>
            <a:endParaRPr b="0" lang="pt-BR" sz="2000" spc="-1" strike="noStrike">
              <a:latin typeface="Arial"/>
            </a:endParaRPr>
          </a:p>
        </p:txBody>
      </p:sp>
      <p:sp>
        <p:nvSpPr>
          <p:cNvPr id="529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0720" cy="456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532959DF-20EE-4E90-9CC8-8FFFD5E10BB2}" type="slidenum">
              <a:rPr b="0" lang="en-US" sz="1200" spc="-1" strike="noStrike">
                <a:latin typeface="Times New Roman"/>
              </a:rPr>
              <a:t>&lt;número&gt;</a:t>
            </a:fld>
            <a:endParaRPr b="0" lang="pt-BR" sz="1200" spc="-1" strike="noStrike"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0920" cy="3427920"/>
          </a:xfrm>
          <a:prstGeom prst="rect">
            <a:avLst/>
          </a:prstGeom>
          <a:ln w="0">
            <a:noFill/>
          </a:ln>
        </p:spPr>
      </p:sp>
      <p:sp>
        <p:nvSpPr>
          <p:cNvPr id="531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5320" cy="4113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2000" spc="-1" strike="noStrike">
                <a:latin typeface="Arial"/>
              </a:rPr>
              <a:t>SLIDE 4 — TEMPO: 60 segundos</a:t>
            </a:r>
            <a:endParaRPr b="0" lang="pt-BR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2000" spc="-1" strike="noStrike">
                <a:latin typeface="Arial"/>
              </a:rPr>
              <a:t>Acumulado: 01:50 a 02:50</a:t>
            </a:r>
            <a:endParaRPr b="0" lang="pt-BR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endParaRPr b="0" lang="pt-BR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2000" spc="-1" strike="noStrike">
                <a:latin typeface="Arial"/>
              </a:rPr>
              <a:t>Leitura do gráfico de linhas: cada ponto representa uma faixa etária, com percentual calculado sobre 94. A ligação mostra o perfil das faixas ordenadas; não representa evolução temporal nem acompanhamento das mesmas pessoas.</a:t>
            </a:r>
            <a:endParaRPr b="0" lang="pt-BR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endParaRPr b="0" lang="pt-BR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2000" spc="-1" strike="noStrike">
                <a:latin typeface="Arial"/>
              </a:rPr>
              <a:t>“</a:t>
            </a:r>
            <a:r>
              <a:rPr b="0" lang="pt-BR" sz="2000" spc="-1" strike="noStrike">
                <a:latin typeface="Arial"/>
              </a:rPr>
              <a:t>Dos 94 participantes, 88 estavam empregados. A amostra reúne diferentes idades e 65 pessoas que não atuam diretamente em gestão de projetos. Isso nos ajudou a pensar no uso cotidiano, além de especialistas. O Office 365 teve 52 menções e 17 pessoas disseram não utilizar software. As ferramentas podem aparecer juntas, por isso essas contagens não somam 94. No Spot, essa presença do Microsoft se traduz em login, agenda e integração de diretório; a diversidade de usuários levou à prioridade de interface simples e tutorial.”</a:t>
            </a:r>
            <a:endParaRPr b="0" lang="pt-BR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endParaRPr b="0" lang="pt-BR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2000" spc="-1" strike="noStrike">
                <a:latin typeface="Arial"/>
              </a:rPr>
              <a:t>Fontes: pesquisa de campo DOCX (2026), texto e figuras; monografia integrada; código local em 26/10/2026. Consulte o guia para contagens completas e limitações.</a:t>
            </a:r>
            <a:endParaRPr b="0" lang="pt-BR" sz="2000" spc="-1" strike="noStrike">
              <a:latin typeface="Arial"/>
            </a:endParaRPr>
          </a:p>
        </p:txBody>
      </p:sp>
      <p:sp>
        <p:nvSpPr>
          <p:cNvPr id="532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0720" cy="456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C9EDA39C-1EBC-4160-AF10-1C4475CCAA51}" type="slidenum">
              <a:rPr b="0" lang="en-US" sz="1200" spc="-1" strike="noStrike">
                <a:latin typeface="Times New Roman"/>
              </a:rPr>
              <a:t>&lt;número&gt;</a:t>
            </a:fld>
            <a:endParaRPr b="0" lang="pt-BR" sz="1200" spc="-1" strike="noStrike"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3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0920" cy="3427920"/>
          </a:xfrm>
          <a:prstGeom prst="rect">
            <a:avLst/>
          </a:prstGeom>
          <a:ln w="0">
            <a:noFill/>
          </a:ln>
        </p:spPr>
      </p:sp>
      <p:sp>
        <p:nvSpPr>
          <p:cNvPr id="534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5320" cy="4113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2000" spc="-1" strike="noStrike">
                <a:latin typeface="Arial"/>
              </a:rPr>
              <a:t>SLIDE 5 — TEMPO: 65 segundos</a:t>
            </a:r>
            <a:endParaRPr b="0" lang="pt-BR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2000" spc="-1" strike="noStrike">
                <a:latin typeface="Arial"/>
              </a:rPr>
              <a:t>Acumulado: 02:50 a 03:55</a:t>
            </a:r>
            <a:endParaRPr b="0" lang="pt-BR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endParaRPr b="0" lang="pt-BR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2000" spc="-1" strike="noStrike">
                <a:latin typeface="Arial"/>
              </a:rPr>
              <a:t>Leitura do gráfico de setores: concordância = 43/94 (45,7%); talvez = 33/94 (35,1%); não = 14/94 (14,9%); diferença documental = 4/94 (4,3%). A última fatia é apenas a diferença entre a base declarada e as categorias publicadas, não uma resposta observada. As legendas também mostram as contagens.</a:t>
            </a:r>
            <a:endParaRPr b="0" lang="pt-BR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endParaRPr b="0" lang="pt-BR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2000" spc="-1" strike="noStrike">
                <a:latin typeface="Arial"/>
              </a:rPr>
              <a:t>“</a:t>
            </a:r>
            <a:r>
              <a:rPr b="0" lang="pt-BR" sz="2000" spc="-1" strike="noStrike">
                <a:latin typeface="Arial"/>
              </a:rPr>
              <a:t>Sobre software de projetos, 33 não têm e 27 usam uma solução cujo foco não é esse. Ao perguntar sobre uma ferramenta dedicada, 43 concordam diretamente e 33 respondem talvez. Assim, 80,9% demonstram concordância ou abertura, mas não intenção comprovada de compra. O estudo também identifica fluxos internos e externos e opiniões intermediárias sobre a interface atual. Isso levou a centralizar projetos e criar diferentes visões de trabalho. O suporte a contextos internos e externos tem base no modelo, mas não afirmamos dois fluxos completos e separados.”</a:t>
            </a:r>
            <a:endParaRPr b="0" lang="pt-BR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endParaRPr b="0" lang="pt-BR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2000" spc="-1" strike="noStrike">
                <a:latin typeface="Arial"/>
              </a:rPr>
              <a:t>Fontes: pesquisa de campo DOCX (2026), texto e figuras; monografia integrada; código local em 26/10/2026. Consulte o guia para contagens completas e limitações.</a:t>
            </a:r>
            <a:endParaRPr b="0" lang="pt-BR" sz="2000" spc="-1" strike="noStrike">
              <a:latin typeface="Arial"/>
            </a:endParaRPr>
          </a:p>
        </p:txBody>
      </p:sp>
      <p:sp>
        <p:nvSpPr>
          <p:cNvPr id="535" name="PlaceHolder 3"/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70720" cy="456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78F3ADCB-F97C-4E13-9084-6E8B71D00E7B}" type="slidenum">
              <a:rPr b="0" lang="en-US" sz="1200" spc="-1" strike="noStrike">
                <a:latin typeface="Times New Roman"/>
              </a:rPr>
              <a:t>&lt;número&gt;</a:t>
            </a:fld>
            <a:endParaRPr b="0" lang="pt-BR" sz="1200" spc="-1" strike="noStrike"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6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0920" cy="3427920"/>
          </a:xfrm>
          <a:prstGeom prst="rect">
            <a:avLst/>
          </a:prstGeom>
          <a:ln w="0">
            <a:noFill/>
          </a:ln>
        </p:spPr>
      </p:sp>
      <p:sp>
        <p:nvSpPr>
          <p:cNvPr id="537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5320" cy="4113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2000" spc="-1" strike="noStrike">
                <a:latin typeface="Arial"/>
              </a:rPr>
              <a:t>SLIDE 6 — TEMPO: 70 segundos</a:t>
            </a:r>
            <a:endParaRPr b="0" lang="pt-BR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2000" spc="-1" strike="noStrike">
                <a:latin typeface="Arial"/>
              </a:rPr>
              <a:t>Acumulado: 03:55 a 05:05</a:t>
            </a:r>
            <a:endParaRPr b="0" lang="pt-BR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endParaRPr b="0" lang="pt-BR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2000" spc="-1" strike="noStrike">
                <a:latin typeface="Arial"/>
              </a:rPr>
              <a:t>“</a:t>
            </a:r>
            <a:r>
              <a:rPr b="0" lang="pt-BR" sz="2000" spc="-1" strike="noStrike">
                <a:latin typeface="Arial"/>
              </a:rPr>
              <a:t>Os dois números centrais são 63,8% com dificuldade de organização e 88,3% que percebem relação entre organização e faturamento. Também encontramos 41,5% com dificuldade de alinhamento e 31,9% com dificuldade de registrar custos adicionais. O Spot responde com tarefas e responsáveis, equipes, despesas revisadas e resultado financeiro. Esses números são percepções da amostra, não provas de que o Spot aumentou faturamento. Usamos 94 como base e sinalizamos que algumas figuras não discriminam todos os participantes.”</a:t>
            </a:r>
            <a:endParaRPr b="0" lang="pt-BR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endParaRPr b="0" lang="pt-BR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2000" spc="-1" strike="noStrike">
                <a:latin typeface="Arial"/>
              </a:rPr>
              <a:t>Fontes: pesquisa de campo DOCX (2026), texto e figuras; monografia integrada; código local em 26/10/2026. Consulte o guia para contagens completas e limitações.</a:t>
            </a:r>
            <a:endParaRPr b="0" lang="pt-BR" sz="2000" spc="-1" strike="noStrike">
              <a:latin typeface="Arial"/>
            </a:endParaRPr>
          </a:p>
        </p:txBody>
      </p:sp>
      <p:sp>
        <p:nvSpPr>
          <p:cNvPr id="538" name="PlaceHolder 3"/>
          <p:cNvSpPr>
            <a:spLocks noGrp="1"/>
          </p:cNvSpPr>
          <p:nvPr>
            <p:ph type="sldNum" idx="15"/>
          </p:nvPr>
        </p:nvSpPr>
        <p:spPr>
          <a:xfrm>
            <a:off x="3884760" y="8685360"/>
            <a:ext cx="2970720" cy="456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D3A8D47F-26CC-42C2-A96F-1C3D8FDAB26B}" type="slidenum">
              <a:rPr b="0" lang="en-US" sz="1200" spc="-1" strike="noStrike">
                <a:latin typeface="Times New Roman"/>
              </a:rPr>
              <a:t>&lt;número&gt;</a:t>
            </a:fld>
            <a:endParaRPr b="0" lang="pt-BR" sz="1200" spc="-1" strike="noStrike"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9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0920" cy="3427920"/>
          </a:xfrm>
          <a:prstGeom prst="rect">
            <a:avLst/>
          </a:prstGeom>
          <a:ln w="0">
            <a:noFill/>
          </a:ln>
        </p:spPr>
      </p:sp>
      <p:sp>
        <p:nvSpPr>
          <p:cNvPr id="540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5320" cy="4113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2000" spc="-1" strike="noStrike">
                <a:latin typeface="Arial"/>
              </a:rPr>
              <a:t>SLIDE 7 — TEMPO: 65 segundos</a:t>
            </a:r>
            <a:endParaRPr b="0" lang="pt-BR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2000" spc="-1" strike="noStrike">
                <a:latin typeface="Arial"/>
              </a:rPr>
              <a:t>Acumulado: 05:05 a 06:10</a:t>
            </a:r>
            <a:endParaRPr b="0" lang="pt-BR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endParaRPr b="0" lang="pt-BR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2000" spc="-1" strike="noStrike">
                <a:latin typeface="Arial"/>
              </a:rPr>
              <a:t>“</a:t>
            </a:r>
            <a:r>
              <a:rPr b="0" lang="pt-BR" sz="2000" spc="-1" strike="noStrike">
                <a:latin typeface="Arial"/>
              </a:rPr>
              <a:t>Estudamos Monday, Asana, Jira, Trello, ClickUp e Notion. Eles já oferecem recursos fortes de organização, colaboração e automação. O diferencial que defendemos não é exclusividade de quadros ou dashboards: é entregar um fluxo específico da Computécnica, com tarifas por vigência, despesas aprovadas e regras de encerramento em código próprio. Recursos semelhantes existem em outras ferramentas; defendemos a adequação ao cliente, não exclusividade. Código próprio dá autonomia de evolução, mas continua exigindo hospedagem e manutenção.”</a:t>
            </a:r>
            <a:endParaRPr b="0" lang="pt-BR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endParaRPr b="0" lang="pt-BR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2000" spc="-1" strike="noStrike">
                <a:latin typeface="Arial"/>
              </a:rPr>
              <a:t>Fontes: pesquisa de campo DOCX (2026), texto e figuras; monografia integrada; código local em 26/10/2026. Consulte o guia para contagens completas e limitações. Páginas oficiais: monday.com/w/use-cases/ai-project-management-software; asana.com/features; atlassian.com/software/jira/features; trello.com/tour; clickup.com/features; notion.com/product/projects; taskrush.com.br/gerenciamento-de-projetos/; artia.com/produto/ia-do-artia/; jestor.com/pt/ai/; aws.amazon.com/what-is-cloud-computing/ (consulta 26/10/2026).</a:t>
            </a:r>
            <a:endParaRPr b="0" lang="pt-BR" sz="2000" spc="-1" strike="noStrike">
              <a:latin typeface="Arial"/>
            </a:endParaRPr>
          </a:p>
        </p:txBody>
      </p:sp>
      <p:sp>
        <p:nvSpPr>
          <p:cNvPr id="541" name="PlaceHolder 3"/>
          <p:cNvSpPr>
            <a:spLocks noGrp="1"/>
          </p:cNvSpPr>
          <p:nvPr>
            <p:ph type="sldNum" idx="16"/>
          </p:nvPr>
        </p:nvSpPr>
        <p:spPr>
          <a:xfrm>
            <a:off x="3884760" y="8685360"/>
            <a:ext cx="2970720" cy="456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5F47F973-2625-45C8-96E5-21C5462D9505}" type="slidenum">
              <a:rPr b="0" lang="en-US" sz="1200" spc="-1" strike="noStrike">
                <a:latin typeface="Times New Roman"/>
              </a:rPr>
              <a:t>&lt;número&gt;</a:t>
            </a:fld>
            <a:endParaRPr b="0" lang="pt-BR" sz="1200" spc="-1" strike="noStrike"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0920" cy="3427920"/>
          </a:xfrm>
          <a:prstGeom prst="rect">
            <a:avLst/>
          </a:prstGeom>
          <a:ln w="0">
            <a:noFill/>
          </a:ln>
        </p:spPr>
      </p:sp>
      <p:sp>
        <p:nvSpPr>
          <p:cNvPr id="543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5320" cy="4113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2000" spc="-1" strike="noStrike">
                <a:latin typeface="Arial"/>
              </a:rPr>
              <a:t>SLIDE 8 — TEMPO: 65 segundos</a:t>
            </a:r>
            <a:endParaRPr b="0" lang="pt-BR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2000" spc="-1" strike="noStrike">
                <a:latin typeface="Arial"/>
              </a:rPr>
              <a:t>Acumulado: 06:10 a 07:15</a:t>
            </a:r>
            <a:endParaRPr b="0" lang="pt-BR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endParaRPr b="0" lang="pt-BR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2000" spc="-1" strike="noStrike">
                <a:latin typeface="Arial"/>
              </a:rPr>
              <a:t>“</a:t>
            </a:r>
            <a:r>
              <a:rPr b="0" lang="pt-BR" sz="2000" spc="-1" strike="noStrike">
                <a:latin typeface="Arial"/>
              </a:rPr>
              <a:t>A análise aberta destacou interface simples, financeiro, integrações, indicadores e tarefas com agenda. Mostramos a ligação de cada tema com a entrega: tutorial e navegação; horas, tarifas e despesas; calendários; portfólio; quadro, lista e calendário de tarefas. Os alertas agora são gerados por prazo e evento, com caixa de entrada, fila de e-mail, resumos e horário de silêncio. O portfólio atualiza automaticamente. Serviços externos continuam exigindo credenciais, consentimento e SMTP; isso é condição de operação, não ausência do código. A tabela da pesquisa soma 49 frequências e o texto cita 57 comentários: registramos essa diferença e não a preenchemos com respostas inventadas.”</a:t>
            </a:r>
            <a:endParaRPr b="0" lang="pt-BR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endParaRPr b="0" lang="pt-BR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2000" spc="-1" strike="noStrike">
                <a:latin typeface="Arial"/>
              </a:rPr>
              <a:t>Fontes: pesquisa de campo DOCX (2026), texto e figuras; monografia integrada; código local em 26/10/2026. Consulte o guia para contagens completas e limitações.</a:t>
            </a:r>
            <a:endParaRPr b="0" lang="pt-BR" sz="2000" spc="-1" strike="noStrike">
              <a:latin typeface="Arial"/>
            </a:endParaRPr>
          </a:p>
        </p:txBody>
      </p:sp>
      <p:sp>
        <p:nvSpPr>
          <p:cNvPr id="544" name="PlaceHolder 3"/>
          <p:cNvSpPr>
            <a:spLocks noGrp="1"/>
          </p:cNvSpPr>
          <p:nvPr>
            <p:ph type="sldNum" idx="17"/>
          </p:nvPr>
        </p:nvSpPr>
        <p:spPr>
          <a:xfrm>
            <a:off x="3884760" y="8685360"/>
            <a:ext cx="2970720" cy="456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C6B53B5B-0633-41E9-AEED-57EEED610940}" type="slidenum">
              <a:rPr b="0" lang="en-US" sz="1200" spc="-1" strike="noStrike">
                <a:latin typeface="Times New Roman"/>
              </a:rPr>
              <a:t>&lt;número&gt;</a:t>
            </a:fld>
            <a:endParaRPr b="0" lang="pt-BR" sz="1200" spc="-1" strike="noStrike"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5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0920" cy="3427920"/>
          </a:xfrm>
          <a:prstGeom prst="rect">
            <a:avLst/>
          </a:prstGeom>
          <a:ln w="0">
            <a:noFill/>
          </a:ln>
        </p:spPr>
      </p:sp>
      <p:sp>
        <p:nvSpPr>
          <p:cNvPr id="546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5320" cy="4113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2000" spc="-1" strike="noStrike">
                <a:latin typeface="Arial"/>
              </a:rPr>
              <a:t>SLIDE 10 — TEMPO: 60 segundos</a:t>
            </a:r>
            <a:endParaRPr b="0" lang="pt-BR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2000" spc="-1" strike="noStrike">
                <a:latin typeface="Arial"/>
              </a:rPr>
              <a:t>Acumulado: 08:15 a 09:15</a:t>
            </a:r>
            <a:endParaRPr b="0" lang="pt-BR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endParaRPr b="0" lang="pt-BR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2000" spc="-1" strike="noStrike">
                <a:latin typeface="Arial"/>
              </a:rPr>
              <a:t>O usuário interage com o React, que envia uma requisição para a API Laravel. O backend identifica a sessão, verifica permissões e valida os campos. As regras de negócio usam o Eloquent para consultar e persistir dados no PostgreSQL, com transações nas operações que precisam ser atômicas. A resposta volta em JSON e a interface atualiza sua apresentação. Para o portfólio, o Laravel seleciona os dados e executa o Python com Pandas, que recebe e devolve JSON, sem consultar o banco. Convites e ativações entram na fila: o worker verifica se o registro ainda é utilizável antes de enviar pelo transporte configurado e repete tentativas em caso de falha. O scheduler agenda lembretes e processamento de notificações, retenção de auditoria e limpeza de mensagens. Essa separação de processos não transforma o sistema em microsserviços. O próximo slide detalha uma tarefa nesse fluxo.</a:t>
            </a:r>
            <a:endParaRPr b="0" lang="pt-BR" sz="2000" spc="-1" strike="noStrike">
              <a:latin typeface="Arial"/>
            </a:endParaRPr>
          </a:p>
        </p:txBody>
      </p:sp>
      <p:sp>
        <p:nvSpPr>
          <p:cNvPr id="547" name="PlaceHolder 3"/>
          <p:cNvSpPr>
            <a:spLocks noGrp="1"/>
          </p:cNvSpPr>
          <p:nvPr>
            <p:ph type="sldNum" idx="18"/>
          </p:nvPr>
        </p:nvSpPr>
        <p:spPr>
          <a:xfrm>
            <a:off x="3884760" y="8685360"/>
            <a:ext cx="2970720" cy="456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951E9ED6-6A9E-457D-885A-49C357C2FBE8}" type="slidenum">
              <a:rPr b="0" lang="en-US" sz="1200" spc="-1" strike="noStrike">
                <a:latin typeface="Times New Roman"/>
              </a:rPr>
              <a:t>&lt;número&gt;</a:t>
            </a:fld>
            <a:endParaRPr b="0" lang="pt-BR" sz="1200" spc="-1" strike="noStrike"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0920" cy="3427920"/>
          </a:xfrm>
          <a:prstGeom prst="rect">
            <a:avLst/>
          </a:prstGeom>
          <a:ln w="0">
            <a:noFill/>
          </a:ln>
        </p:spPr>
      </p:sp>
      <p:sp>
        <p:nvSpPr>
          <p:cNvPr id="549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5320" cy="4113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lnSpc>
                <a:spcPct val="100000"/>
              </a:lnSpc>
              <a:buNone/>
            </a:pPr>
            <a:r>
              <a:rPr b="0" lang="pt-BR" sz="2000" spc="-1" strike="noStrike">
                <a:latin typeface="Arial"/>
              </a:rPr>
              <a:t>SLIDE 11 — TEMPO: 75 segundos</a:t>
            </a:r>
            <a:endParaRPr b="0" lang="pt-BR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r>
              <a:rPr b="0" lang="pt-BR" sz="2000" spc="-1" strike="noStrike">
                <a:latin typeface="Arial"/>
              </a:rPr>
              <a:t>Acumulado: 09:15 a 10:30</a:t>
            </a:r>
            <a:endParaRPr b="0" lang="pt-BR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endParaRPr b="0" lang="pt-BR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r>
              <a:rPr b="0" lang="pt-BR" sz="2000" spc="-1" strike="noStrike">
                <a:latin typeface="Arial"/>
              </a:rPr>
              <a:t>O fluxo central começa pelo acesso: o usuário entra com sua conta, ativa o primeiro acesso ou aceita um convite. Conforme as permissões, cadastra o cliente e o projeto, configura equipe, tarifas e impostos. A equipe registra tarefas, horas e andamento; as despesas são lançadas e revisadas. Esses registros alimentam o resultado financeiro do projeto e os indicadores do portfólio. Agenda e caixa de entrada apoiam os prazos e a comunicação; documentos e histórico apoiam a colaboração e a rastreabilidade. O projeto também pode ser finalizado ou reaberto com justificativa, conforme as regras de acesso.</a:t>
            </a:r>
            <a:endParaRPr b="0" lang="pt-BR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endParaRPr b="0" lang="pt-BR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r>
              <a:rPr b="0" lang="pt-BR" sz="2000" spc="-1" strike="noStrike">
                <a:latin typeface="Arial"/>
              </a:rPr>
              <a:t>As telas estão listadas no slide. As áreas autenticadas são: Home, Caixa de entrada, Portfólios, Agenda, Meus Projetos, Equipes, Clientes, Novo Projeto, Minhas tarefas, Meus documentos, Histórico, Meu perfil, Parâmetros e Usuários e responsáveis. O acesso inclui Login, Primeiro acesso/ativação, Aceitar convite, Recuperar senha e Redefinir senha. Meu perfil reúne dados pessoais, segurança, notificações e preferências. Dentro do projeto há configuração, integrantes, tarifas, impostos, despesas, resultado e auditoria; são seções e formulários, não novas entradas no menu. Parâmetros reúne clientes, status e situações do projeto, tipos de atividade, tipos de despesa, impostos e configurações administrativas. A criação de convites é um diálogo. Autenticação em dois fatores e integrações aparecem nos fluxos e configurações correspondentes. Os atalhos de aplicativos externos não equivalem a telas internas. As opções visíveis dependem das permissões.</a:t>
            </a:r>
            <a:endParaRPr b="0" lang="pt-BR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endParaRPr b="0" lang="pt-BR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r>
              <a:rPr b="0" lang="pt-BR" sz="2000" spc="-1" strike="noStrike">
                <a:latin typeface="Arial"/>
              </a:rPr>
              <a:t>Para concluir, o Spot conecta organização da execução, controle de acesso e visão do resultado gerencial, alinhados às necessidades levantadas na pesquisa. Obrigado.</a:t>
            </a:r>
            <a:endParaRPr b="0" lang="pt-BR" sz="2000" spc="-1" strike="noStrike">
              <a:latin typeface="Arial"/>
            </a:endParaRPr>
          </a:p>
        </p:txBody>
      </p:sp>
      <p:sp>
        <p:nvSpPr>
          <p:cNvPr id="550" name="PlaceHolder 3"/>
          <p:cNvSpPr>
            <a:spLocks noGrp="1"/>
          </p:cNvSpPr>
          <p:nvPr>
            <p:ph type="sldNum" idx="19"/>
          </p:nvPr>
        </p:nvSpPr>
        <p:spPr>
          <a:xfrm>
            <a:off x="3884760" y="8685360"/>
            <a:ext cx="2970720" cy="456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CCC247DF-FD1E-43FB-A38F-0512D29AF399}" type="slidenum">
              <a:rPr b="0" lang="en-US" sz="1200" spc="-1" strike="noStrike">
                <a:latin typeface="Times New Roman"/>
              </a:rPr>
              <a:t>&lt;número&gt;</a:t>
            </a:fld>
            <a:endParaRPr b="0" lang="pt-BR" sz="1200" spc="-1" strike="noStrike"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1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0920" cy="3427920"/>
          </a:xfrm>
          <a:prstGeom prst="rect">
            <a:avLst/>
          </a:prstGeom>
          <a:ln w="0">
            <a:noFill/>
          </a:ln>
        </p:spPr>
      </p:sp>
      <p:sp>
        <p:nvSpPr>
          <p:cNvPr id="552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5320" cy="4113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2000" spc="-1" strike="noStrike">
                <a:latin typeface="Arial"/>
              </a:rPr>
              <a:t>SLIDE 9 — TEMPO: 60 segundos</a:t>
            </a:r>
            <a:endParaRPr b="0" lang="pt-BR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2000" spc="-1" strike="noStrike">
                <a:latin typeface="Arial"/>
              </a:rPr>
              <a:t>Acumulado: 07:15 a 08:15</a:t>
            </a:r>
            <a:endParaRPr b="0" lang="pt-BR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endParaRPr b="0" lang="pt-BR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2000" spc="-1" strike="noStrike">
                <a:latin typeface="Arial"/>
              </a:rPr>
              <a:t>O diferencial do Spot está na combinação de recursos adaptada à Computécnica. A execução das tarefas alimenta a visão financeira; regras de acesso e encerramento dão controle à operação; a auditoria e a tarifa capturada permitem rastrear o que ocorreu. O portfólio reúne indicadores para decisão. As integrações dependem da configuração das credenciais e os envios por e-mail exigem transporte e worker ativos. Código próprio permite adequação e hospedagem escolhida pelo cliente, mas não elimina custos de manutenção. Não alegamos exclusividade de funções que também existem nos concorrentes.</a:t>
            </a:r>
            <a:endParaRPr b="0" lang="pt-BR" sz="2000" spc="-1" strike="noStrike">
              <a:latin typeface="Arial"/>
            </a:endParaRPr>
          </a:p>
        </p:txBody>
      </p:sp>
      <p:sp>
        <p:nvSpPr>
          <p:cNvPr id="553" name="PlaceHolder 3"/>
          <p:cNvSpPr>
            <a:spLocks noGrp="1"/>
          </p:cNvSpPr>
          <p:nvPr>
            <p:ph type="sldNum" idx="20"/>
          </p:nvPr>
        </p:nvSpPr>
        <p:spPr>
          <a:xfrm>
            <a:off x="3884760" y="8685360"/>
            <a:ext cx="2970720" cy="456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A0A4AA51-9D47-46B4-87FF-DF61BD3489C5}" type="slidenum">
              <a:rPr b="0" lang="en-US" sz="1200" spc="-1" strike="noStrike">
                <a:latin typeface="Times New Roman"/>
              </a:rPr>
              <a:t>&lt;número&gt;</a:t>
            </a:fld>
            <a:endParaRPr b="0" lang="pt-BR" sz="1200" spc="-1" strike="noStrike"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5D18FF6D-F7CA-4546-AF05-FD82C17ECF8A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pt-BR" sz="4400" spc="-1" strike="noStrike"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pt-BR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E9776463-E629-471F-9370-2630F228B6AA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pt-BR" sz="4400" spc="-1" strike="noStrike"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6E02D09E-A6DE-4015-8689-9069E7A4B005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pt-BR" sz="4400" spc="-1" strike="noStrike"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43841E7D-3131-4003-9A9C-8CF0CCBD8A1D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pt-BR" sz="44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F12B9CA6-61FE-4FFF-BC67-AE57FDBDC662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pt-BR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7D55CAB9-34FC-4B41-A0DB-89EF99183875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pt-BR" sz="4400" spc="-1" strike="noStrike"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87306FB8-8314-4521-B072-E27B541156A8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pt-BR" sz="4400" spc="-1" strike="noStrike"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450AD9A4-9B29-469B-887C-8BA57A65E752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pt-BR" sz="4400" spc="-1" strike="noStrike"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17717401-6E16-40EE-A6A1-80CB687435F4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pt-BR" sz="4400" spc="-1" strike="noStrike"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815B3B07-955E-4C52-9370-CC4BDF3C7F16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pt-BR" sz="4400" spc="-1" strike="noStrike"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92CC9AC3-3486-4B01-8C97-3E4A815908DE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pt-BR" sz="4400" spc="-1" strike="noStrike"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147ECB44-E66D-4A8B-BB85-D610B21FEA02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4FE6F225-5323-404A-866D-7F94C4C9FD00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pt-BR" sz="4400" spc="-1" strike="noStrike">
              <a:latin typeface="Arial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pt-BR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E5115B87-EE4A-4146-B3BF-3326B5DD2C7B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pt-BR" sz="4400" spc="-1" strike="noStrike">
              <a:latin typeface="Arial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3509C1A8-4DE0-462F-951A-A88C3C4772D5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pt-BR" sz="4400" spc="-1" strike="noStrike">
              <a:latin typeface="Arial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52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D645B82D-A75F-4B5A-B2B9-9C177B338950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pt-BR" sz="44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182484F3-D4AA-4F2E-9CA2-77FF54E377D5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pt-BR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A9F01C7B-8032-49B1-A0F9-BABDBEB3E5FE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pt-BR" sz="4400" spc="-1" strike="noStrike">
              <a:latin typeface="Arial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3D6E14D4-8AF5-43B9-8BE8-7D2749255425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pt-BR" sz="4400" spc="-1" strike="noStrike">
              <a:latin typeface="Arial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61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62" name="PlaceHolder 4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CDBDD848-4E9B-48C9-B125-1221D21352CC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pt-BR" sz="4400" spc="-1" strike="noStrike">
              <a:latin typeface="Arial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65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66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ECEF10CA-2023-40A3-A5C9-B3146EDF58A9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pt-BR" sz="4400" spc="-1" strike="noStrike">
              <a:latin typeface="Arial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F557A1ED-3BAF-4AE3-8065-8FBF25980C69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pt-BR" sz="4400" spc="-1" strike="noStrike">
              <a:latin typeface="Arial"/>
            </a:endParaRPr>
          </a:p>
        </p:txBody>
      </p:sp>
      <p:sp>
        <p:nvSpPr>
          <p:cNvPr id="71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72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73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74" name="PlaceHolder 5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0B7504FD-5178-4CA4-BA41-C8A0DA01AA81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pt-BR" sz="4400" spc="-1" strike="noStrike">
              <a:latin typeface="Arial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79" name="PlaceHolder 5"/>
          <p:cNvSpPr>
            <a:spLocks noGrp="1"/>
          </p:cNvSpPr>
          <p:nvPr>
            <p:ph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80" name="PlaceHolder 6"/>
          <p:cNvSpPr>
            <a:spLocks noGrp="1"/>
          </p:cNvSpPr>
          <p:nvPr>
            <p:ph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81" name="PlaceHolder 7"/>
          <p:cNvSpPr>
            <a:spLocks noGrp="1"/>
          </p:cNvSpPr>
          <p:nvPr>
            <p:ph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DE2E584C-1F4F-40F3-80CC-959DE1B22EAD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pt-BR" sz="1800" spc="-1" strike="noStrike">
                <a:latin typeface="Arial"/>
              </a:rPr>
              <a:t>Clique para </a:t>
            </a:r>
            <a:r>
              <a:rPr b="0" lang="pt-BR" sz="1800" spc="-1" strike="noStrike">
                <a:latin typeface="Arial"/>
              </a:rPr>
              <a:t>editar o </a:t>
            </a:r>
            <a:r>
              <a:rPr b="0" lang="pt-BR" sz="1800" spc="-1" strike="noStrike">
                <a:latin typeface="Arial"/>
              </a:rPr>
              <a:t>formato do </a:t>
            </a:r>
            <a:r>
              <a:rPr b="0" lang="pt-BR" sz="1800" spc="-1" strike="noStrike">
                <a:latin typeface="Arial"/>
              </a:rPr>
              <a:t>texto do título</a:t>
            </a:r>
            <a:endParaRPr b="0" lang="pt-BR" sz="1800" spc="-1" strike="noStrike"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latin typeface="Arial"/>
              </a:rPr>
              <a:t>Clique para editar o formato do texto da estrutura de tópicos</a:t>
            </a:r>
            <a:endParaRPr b="0" lang="pt-BR" sz="18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pc="-1" strike="noStrike">
                <a:latin typeface="Arial"/>
              </a:rPr>
              <a:t>2.º nível da estrutura de tópicos</a:t>
            </a:r>
            <a:endParaRPr b="0" lang="pt-BR" sz="1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latin typeface="Arial"/>
              </a:rPr>
              <a:t>3.º nível da estrutura de tópicos</a:t>
            </a:r>
            <a:endParaRPr b="0" lang="pt-BR" sz="18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pc="-1" strike="noStrike">
                <a:latin typeface="Arial"/>
              </a:rPr>
              <a:t>4.º nível da estrutura de tópicos</a:t>
            </a:r>
            <a:endParaRPr b="0" lang="pt-BR" sz="18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latin typeface="Arial"/>
              </a:rPr>
              <a:t>5.º nível da estrutura de tópicos</a:t>
            </a:r>
            <a:endParaRPr b="0" lang="pt-BR" sz="18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latin typeface="Arial"/>
              </a:rPr>
              <a:t>6.º nível da estrutura de tópicos</a:t>
            </a:r>
            <a:endParaRPr b="0" lang="pt-BR" sz="18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latin typeface="Arial"/>
              </a:rPr>
              <a:t>7.º nível da estrutura de tópicos</a:t>
            </a:r>
            <a:endParaRPr b="0" lang="pt-BR" sz="1800" spc="-1" strike="noStrike"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 idx="1"/>
          </p:nvPr>
        </p:nvSpPr>
        <p:spPr>
          <a:xfrm>
            <a:off x="3124080" y="6356520"/>
            <a:ext cx="2894400" cy="363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algn="ctr">
              <a:lnSpc>
                <a:spcPct val="100000"/>
              </a:lnSpc>
              <a:buNone/>
              <a:defRPr b="0" lang="pt-BR" sz="1400" spc="-1" strike="noStrike">
                <a:latin typeface="Times New Roman"/>
              </a:defRPr>
            </a:lvl1pPr>
          </a:lstStyle>
          <a:p>
            <a:pPr algn="ctr">
              <a:lnSpc>
                <a:spcPct val="100000"/>
              </a:lnSpc>
              <a:buNone/>
            </a:pPr>
            <a:r>
              <a:rPr b="0" lang="pt-BR" sz="1400" spc="-1" strike="noStrike">
                <a:latin typeface="Times New Roman"/>
              </a:rPr>
              <a:t>&lt;rodapé&gt;</a:t>
            </a:r>
            <a:endParaRPr b="0" lang="pt-BR" sz="1400" spc="-1" strike="noStrike"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sldNum" idx="2"/>
          </p:nvPr>
        </p:nvSpPr>
        <p:spPr>
          <a:xfrm>
            <a:off x="655308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8b8b8b"/>
                </a:solidFill>
                <a:latin typeface="Calibri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84D0958C-BA6E-4B78-9452-09026579DAD4}" type="slidenum">
              <a:rPr b="0" lang="en-US" sz="1200" spc="-1" strike="noStrike">
                <a:solidFill>
                  <a:srgbClr val="8b8b8b"/>
                </a:solidFill>
                <a:latin typeface="Calibri"/>
              </a:rPr>
              <a:t>&lt;número&gt;</a:t>
            </a:fld>
            <a:endParaRPr b="0" lang="pt-BR" sz="1200" spc="-1" strike="noStrike"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dt" idx="3"/>
          </p:nvPr>
        </p:nvSpPr>
        <p:spPr>
          <a:xfrm>
            <a:off x="45720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>
              <a:defRPr b="0" lang="pt-BR" sz="1400" spc="-1" strike="noStrike">
                <a:latin typeface="Times New Roman"/>
              </a:defRPr>
            </a:lvl1pPr>
          </a:lstStyle>
          <a:p>
            <a:r>
              <a:rPr b="0" lang="pt-BR" sz="1400" spc="-1" strike="noStrike">
                <a:latin typeface="Times New Roman"/>
              </a:rPr>
              <a:t>&lt;data/hora&gt;</a:t>
            </a:r>
            <a:endParaRPr b="0" lang="pt-BR" sz="14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ftr" idx="4"/>
          </p:nvPr>
        </p:nvSpPr>
        <p:spPr>
          <a:xfrm>
            <a:off x="3124080" y="6356520"/>
            <a:ext cx="2894400" cy="363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algn="ctr">
              <a:lnSpc>
                <a:spcPct val="100000"/>
              </a:lnSpc>
              <a:buNone/>
              <a:defRPr b="0" lang="pt-BR" sz="1400" spc="-1" strike="noStrike">
                <a:latin typeface="Times New Roman"/>
              </a:defRPr>
            </a:lvl1pPr>
          </a:lstStyle>
          <a:p>
            <a:pPr algn="ctr">
              <a:lnSpc>
                <a:spcPct val="100000"/>
              </a:lnSpc>
              <a:buNone/>
            </a:pPr>
            <a:r>
              <a:rPr b="0" lang="pt-BR" sz="1400" spc="-1" strike="noStrike">
                <a:latin typeface="Times New Roman"/>
              </a:rPr>
              <a:t>&lt;rodapé&gt;</a:t>
            </a:r>
            <a:endParaRPr b="0" lang="pt-BR" sz="1400" spc="-1" strike="noStrike">
              <a:latin typeface="Times New Roman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sldNum" idx="5"/>
          </p:nvPr>
        </p:nvSpPr>
        <p:spPr>
          <a:xfrm>
            <a:off x="655308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8b8b8b"/>
                </a:solidFill>
                <a:latin typeface="Calibri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3F011280-DC3A-4499-9397-02DD0CFCB4B5}" type="slidenum">
              <a:rPr b="0" lang="en-US" sz="1200" spc="-1" strike="noStrike">
                <a:solidFill>
                  <a:srgbClr val="8b8b8b"/>
                </a:solidFill>
                <a:latin typeface="Calibri"/>
              </a:rPr>
              <a:t>&lt;número&gt;</a:t>
            </a:fld>
            <a:endParaRPr b="0" lang="pt-BR" sz="1200" spc="-1" strike="noStrike">
              <a:latin typeface="Times New Roman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dt" idx="6"/>
          </p:nvPr>
        </p:nvSpPr>
        <p:spPr>
          <a:xfrm>
            <a:off x="45720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>
              <a:defRPr b="0" lang="pt-BR" sz="1400" spc="-1" strike="noStrike">
                <a:latin typeface="Times New Roman"/>
              </a:defRPr>
            </a:lvl1pPr>
          </a:lstStyle>
          <a:p>
            <a:r>
              <a:rPr b="0" lang="pt-BR" sz="1400" spc="-1" strike="noStrike">
                <a:latin typeface="Times New Roman"/>
              </a:rPr>
              <a:t>&lt;data/hora&gt;</a:t>
            </a:r>
            <a:endParaRPr b="0" lang="pt-BR" sz="1400" spc="-1" strike="noStrike">
              <a:latin typeface="Times New Roman"/>
            </a:endParaRPr>
          </a:p>
        </p:txBody>
      </p:sp>
      <p:sp>
        <p:nvSpPr>
          <p:cNvPr id="44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pt-BR" sz="4400" spc="-1" strike="noStrike">
                <a:latin typeface="Arial"/>
              </a:rPr>
              <a:t>Clique para editar o formato do texto do título</a:t>
            </a:r>
            <a:endParaRPr b="0" lang="pt-BR" sz="4400" spc="-1" strike="noStrike">
              <a:latin typeface="Arial"/>
            </a:endParaRPr>
          </a:p>
        </p:txBody>
      </p:sp>
      <p:sp>
        <p:nvSpPr>
          <p:cNvPr id="45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3200" spc="-1" strike="noStrike">
                <a:latin typeface="Arial"/>
              </a:rPr>
              <a:t>Clique para editar o formato do texto da estrutura de tópicos</a:t>
            </a:r>
            <a:endParaRPr b="0" lang="pt-BR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2800" spc="-1" strike="noStrike">
                <a:latin typeface="Arial"/>
              </a:rPr>
              <a:t>2.º nível da estrutura de tópicos</a:t>
            </a:r>
            <a:endParaRPr b="0" lang="pt-BR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400" spc="-1" strike="noStrike">
                <a:latin typeface="Arial"/>
              </a:rPr>
              <a:t>3.º nível da estrutura de tópicos</a:t>
            </a:r>
            <a:endParaRPr b="0" lang="pt-BR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2000" spc="-1" strike="noStrike">
                <a:latin typeface="Arial"/>
              </a:rPr>
              <a:t>4.º nível da estrutura de tópicos</a:t>
            </a:r>
            <a:endParaRPr b="0" lang="pt-BR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pc="-1" strike="noStrike">
                <a:latin typeface="Arial"/>
              </a:rPr>
              <a:t>5.º nível da estrutura de tópicos</a:t>
            </a:r>
            <a:endParaRPr b="0" lang="pt-BR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pc="-1" strike="noStrike">
                <a:latin typeface="Arial"/>
              </a:rPr>
              <a:t>6.º nível da estrutura de tópicos</a:t>
            </a:r>
            <a:endParaRPr b="0" lang="pt-BR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pc="-1" strike="noStrike">
                <a:latin typeface="Arial"/>
              </a:rPr>
              <a:t>7.º nível da estrutura de tópicos</a:t>
            </a:r>
            <a:endParaRPr b="0" lang="pt-BR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slideLayout" Target="../slideLayouts/slideLayout13.xml"/><Relationship Id="rId3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chart" Target="../charts/chart2.xml"/><Relationship Id="rId2" Type="http://schemas.openxmlformats.org/officeDocument/2006/relationships/slideLayout" Target="../slideLayouts/slideLayout13.xml"/><Relationship Id="rId3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12c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Rectangle 1"/>
          <p:cNvSpPr/>
          <p:nvPr/>
        </p:nvSpPr>
        <p:spPr>
          <a:xfrm>
            <a:off x="8458200" y="0"/>
            <a:ext cx="3732480" cy="6856920"/>
          </a:xfrm>
          <a:prstGeom prst="rect">
            <a:avLst/>
          </a:prstGeom>
          <a:solidFill>
            <a:srgbClr val="007e98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89" name="TextBox 2"/>
          <p:cNvSpPr/>
          <p:nvPr/>
        </p:nvSpPr>
        <p:spPr>
          <a:xfrm>
            <a:off x="640080" y="548640"/>
            <a:ext cx="7314120" cy="19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1300" spc="-1" strike="noStrike">
                <a:solidFill>
                  <a:srgbClr val="64d9e6"/>
                </a:solidFill>
                <a:latin typeface="DejaVu Sans"/>
                <a:ea typeface="DejaVu Sans"/>
              </a:rPr>
              <a:t>TCC • INFORMÁTICA • 2026</a:t>
            </a:r>
            <a:endParaRPr b="0" lang="pt-BR" sz="1300" spc="-1" strike="noStrike">
              <a:latin typeface="Arial"/>
            </a:endParaRPr>
          </a:p>
        </p:txBody>
      </p:sp>
      <p:sp>
        <p:nvSpPr>
          <p:cNvPr id="90" name="TextBox 3"/>
          <p:cNvSpPr/>
          <p:nvPr/>
        </p:nvSpPr>
        <p:spPr>
          <a:xfrm>
            <a:off x="594360" y="1417320"/>
            <a:ext cx="7314120" cy="106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7000" spc="-1" strike="noStrike">
                <a:solidFill>
                  <a:srgbClr val="ffffff"/>
                </a:solidFill>
                <a:latin typeface="DejaVu Sans"/>
                <a:ea typeface="DejaVu Sans"/>
              </a:rPr>
              <a:t>SPOT</a:t>
            </a:r>
            <a:endParaRPr b="0" lang="pt-BR" sz="7000" spc="-1" strike="noStrike">
              <a:latin typeface="Arial"/>
            </a:endParaRPr>
          </a:p>
        </p:txBody>
      </p:sp>
      <p:sp>
        <p:nvSpPr>
          <p:cNvPr id="91" name="TextBox 4"/>
          <p:cNvSpPr/>
          <p:nvPr/>
        </p:nvSpPr>
        <p:spPr>
          <a:xfrm>
            <a:off x="658440" y="2697480"/>
            <a:ext cx="7497000" cy="1160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3600" spc="-1" strike="noStrike">
                <a:solidFill>
                  <a:srgbClr val="ffffff"/>
                </a:solidFill>
                <a:latin typeface="DejaVu Sans"/>
                <a:ea typeface="DejaVu Sans"/>
              </a:rPr>
              <a:t>Da pesquisa</a:t>
            </a:r>
            <a:endParaRPr b="0" lang="pt-BR" sz="36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3600" spc="-1" strike="noStrike">
                <a:solidFill>
                  <a:srgbClr val="ffffff"/>
                </a:solidFill>
                <a:latin typeface="DejaVu Sans"/>
                <a:ea typeface="DejaVu Sans"/>
              </a:rPr>
              <a:t>à implementação</a:t>
            </a:r>
            <a:endParaRPr b="0" lang="pt-BR" sz="3600" spc="-1" strike="noStrike">
              <a:latin typeface="Arial"/>
            </a:endParaRPr>
          </a:p>
        </p:txBody>
      </p:sp>
      <p:sp>
        <p:nvSpPr>
          <p:cNvPr id="92" name="TextBox 5"/>
          <p:cNvSpPr/>
          <p:nvPr/>
        </p:nvSpPr>
        <p:spPr>
          <a:xfrm>
            <a:off x="685800" y="4507920"/>
            <a:ext cx="7039800" cy="641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1900" spc="-1" strike="noStrike">
                <a:solidFill>
                  <a:srgbClr val="c6dce5"/>
                </a:solidFill>
                <a:latin typeface="DejaVu Sans"/>
                <a:ea typeface="DejaVu Sans"/>
              </a:rPr>
              <a:t>Projetos, pessoas e resultado financeiro</a:t>
            </a:r>
            <a:endParaRPr b="0" lang="pt-BR" sz="19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1900" spc="-1" strike="noStrike">
                <a:solidFill>
                  <a:srgbClr val="c6dce5"/>
                </a:solidFill>
                <a:latin typeface="DejaVu Sans"/>
                <a:ea typeface="DejaVu Sans"/>
              </a:rPr>
              <a:t>no contexto da Computécnica</a:t>
            </a:r>
            <a:endParaRPr b="0" lang="pt-BR" sz="1900" spc="-1" strike="noStrike">
              <a:latin typeface="Arial"/>
            </a:endParaRPr>
          </a:p>
        </p:txBody>
      </p:sp>
      <p:sp>
        <p:nvSpPr>
          <p:cNvPr id="93" name="TextBox 6"/>
          <p:cNvSpPr/>
          <p:nvPr/>
        </p:nvSpPr>
        <p:spPr>
          <a:xfrm>
            <a:off x="685800" y="5715000"/>
            <a:ext cx="7314120" cy="39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1100" spc="-1" strike="noStrike">
                <a:solidFill>
                  <a:srgbClr val="c6dce5"/>
                </a:solidFill>
                <a:latin typeface="DejaVu Sans"/>
                <a:ea typeface="DejaVu Sans"/>
              </a:rPr>
              <a:t>Alexander Molany Longo • Lucas Rodrigues Soares</a:t>
            </a:r>
            <a:endParaRPr b="0" lang="pt-BR" sz="11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1100" spc="-1" strike="noStrike">
                <a:solidFill>
                  <a:srgbClr val="c6dce5"/>
                </a:solidFill>
                <a:latin typeface="DejaVu Sans"/>
                <a:ea typeface="DejaVu Sans"/>
              </a:rPr>
              <a:t>Pedro Galvão de Matos • Yasmin Regina de Souza</a:t>
            </a:r>
            <a:endParaRPr b="0" lang="pt-BR" sz="1100" spc="-1" strike="noStrike">
              <a:latin typeface="Arial"/>
            </a:endParaRPr>
          </a:p>
        </p:txBody>
      </p:sp>
      <p:sp>
        <p:nvSpPr>
          <p:cNvPr id="94" name="TextBox 7"/>
          <p:cNvSpPr/>
          <p:nvPr/>
        </p:nvSpPr>
        <p:spPr>
          <a:xfrm>
            <a:off x="8851320" y="1188720"/>
            <a:ext cx="2833560" cy="66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4400" spc="-1" strike="noStrike">
                <a:solidFill>
                  <a:srgbClr val="ffffff"/>
                </a:solidFill>
                <a:latin typeface="DejaVu Sans"/>
                <a:ea typeface="DejaVu Sans"/>
              </a:rPr>
              <a:t>4</a:t>
            </a:r>
            <a:endParaRPr b="0" lang="pt-BR" sz="4400" spc="-1" strike="noStrike">
              <a:latin typeface="Arial"/>
            </a:endParaRPr>
          </a:p>
        </p:txBody>
      </p:sp>
      <p:sp>
        <p:nvSpPr>
          <p:cNvPr id="95" name="TextBox 8"/>
          <p:cNvSpPr/>
          <p:nvPr/>
        </p:nvSpPr>
        <p:spPr>
          <a:xfrm>
            <a:off x="8897040" y="1938600"/>
            <a:ext cx="274212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1500" spc="-1" strike="noStrike">
                <a:solidFill>
                  <a:srgbClr val="ffffff"/>
                </a:solidFill>
                <a:latin typeface="DejaVu Sans"/>
                <a:ea typeface="DejaVu Sans"/>
              </a:rPr>
              <a:t>integrantes</a:t>
            </a:r>
            <a:endParaRPr b="0" lang="pt-BR" sz="1500" spc="-1" strike="noStrike">
              <a:latin typeface="Arial"/>
            </a:endParaRPr>
          </a:p>
        </p:txBody>
      </p:sp>
      <p:sp>
        <p:nvSpPr>
          <p:cNvPr id="96" name="TextBox 9"/>
          <p:cNvSpPr/>
          <p:nvPr/>
        </p:nvSpPr>
        <p:spPr>
          <a:xfrm>
            <a:off x="8851320" y="2788920"/>
            <a:ext cx="2833560" cy="66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4400" spc="-1" strike="noStrike">
                <a:solidFill>
                  <a:srgbClr val="ffffff"/>
                </a:solidFill>
                <a:latin typeface="DejaVu Sans"/>
                <a:ea typeface="DejaVu Sans"/>
              </a:rPr>
              <a:t>11</a:t>
            </a:r>
            <a:endParaRPr b="0" lang="pt-BR" sz="4400" spc="-1" strike="noStrike">
              <a:latin typeface="Arial"/>
            </a:endParaRPr>
          </a:p>
        </p:txBody>
      </p:sp>
      <p:sp>
        <p:nvSpPr>
          <p:cNvPr id="97" name="TextBox 10"/>
          <p:cNvSpPr/>
          <p:nvPr/>
        </p:nvSpPr>
        <p:spPr>
          <a:xfrm>
            <a:off x="8897040" y="3538800"/>
            <a:ext cx="274212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1500" spc="-1" strike="noStrike">
                <a:solidFill>
                  <a:srgbClr val="ffffff"/>
                </a:solidFill>
                <a:latin typeface="DejaVu Sans"/>
                <a:ea typeface="DejaVu Sans"/>
              </a:rPr>
              <a:t>slides</a:t>
            </a:r>
            <a:endParaRPr b="0" lang="pt-BR" sz="1500" spc="-1" strike="noStrike">
              <a:latin typeface="Arial"/>
            </a:endParaRPr>
          </a:p>
        </p:txBody>
      </p:sp>
      <p:sp>
        <p:nvSpPr>
          <p:cNvPr id="98" name="TextBox 11"/>
          <p:cNvSpPr/>
          <p:nvPr/>
        </p:nvSpPr>
        <p:spPr>
          <a:xfrm>
            <a:off x="8851320" y="4389120"/>
            <a:ext cx="2833560" cy="66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4400" spc="-1" strike="noStrike">
                <a:solidFill>
                  <a:srgbClr val="ffffff"/>
                </a:solidFill>
                <a:latin typeface="DejaVu Sans"/>
                <a:ea typeface="DejaVu Sans"/>
              </a:rPr>
              <a:t>15 min</a:t>
            </a:r>
            <a:endParaRPr b="0" lang="pt-BR" sz="4400" spc="-1" strike="noStrike">
              <a:latin typeface="Arial"/>
            </a:endParaRPr>
          </a:p>
        </p:txBody>
      </p:sp>
      <p:sp>
        <p:nvSpPr>
          <p:cNvPr id="99" name="TextBox 12"/>
          <p:cNvSpPr/>
          <p:nvPr/>
        </p:nvSpPr>
        <p:spPr>
          <a:xfrm>
            <a:off x="8897040" y="5139000"/>
            <a:ext cx="274212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1500" spc="-1" strike="noStrike">
                <a:solidFill>
                  <a:srgbClr val="ffffff"/>
                </a:solidFill>
                <a:latin typeface="DejaVu Sans"/>
                <a:ea typeface="DejaVu Sans"/>
              </a:rPr>
              <a:t>tempo máximo</a:t>
            </a:r>
            <a:endParaRPr b="0" lang="pt-BR" sz="1500" spc="-1" strike="noStrike">
              <a:latin typeface="Arial"/>
            </a:endParaRPr>
          </a:p>
        </p:txBody>
      </p:sp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360" cy="114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pt-BR" sz="4400" spc="-1" strike="noStrike">
              <a:latin typeface="Arial"/>
            </a:endParaRPr>
          </a:p>
        </p:txBody>
      </p:sp>
      <p:sp>
        <p:nvSpPr>
          <p:cNvPr id="101" name=""/>
          <p:cNvSpPr/>
          <p:nvPr/>
        </p:nvSpPr>
        <p:spPr>
          <a:xfrm>
            <a:off x="609480" y="1604520"/>
            <a:ext cx="10971360" cy="3976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3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Rectangle 1"/>
          <p:cNvSpPr/>
          <p:nvPr/>
        </p:nvSpPr>
        <p:spPr>
          <a:xfrm>
            <a:off x="0" y="0"/>
            <a:ext cx="12190680" cy="72000"/>
          </a:xfrm>
          <a:prstGeom prst="rect">
            <a:avLst/>
          </a:prstGeom>
          <a:solidFill>
            <a:srgbClr val="007e98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03" name="TextBox 2"/>
          <p:cNvSpPr/>
          <p:nvPr/>
        </p:nvSpPr>
        <p:spPr>
          <a:xfrm>
            <a:off x="502920" y="292680"/>
            <a:ext cx="10057320" cy="15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1000" spc="-1" strike="noStrike">
                <a:solidFill>
                  <a:srgbClr val="007e98"/>
                </a:solidFill>
                <a:latin typeface="DejaVu Sans"/>
                <a:ea typeface="DejaVu Sans"/>
              </a:rPr>
              <a:t>01 / PROPOSTA</a:t>
            </a:r>
            <a:endParaRPr b="0" lang="pt-BR" sz="1000" spc="-1" strike="noStrike">
              <a:latin typeface="Arial"/>
            </a:endParaRPr>
          </a:p>
        </p:txBody>
      </p:sp>
      <p:sp>
        <p:nvSpPr>
          <p:cNvPr id="104" name="TextBox 3"/>
          <p:cNvSpPr/>
          <p:nvPr/>
        </p:nvSpPr>
        <p:spPr>
          <a:xfrm>
            <a:off x="502920" y="704160"/>
            <a:ext cx="11154600" cy="44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2900" spc="-1" strike="noStrike">
                <a:solidFill>
                  <a:srgbClr val="112c42"/>
                </a:solidFill>
                <a:latin typeface="DejaVu Sans"/>
                <a:ea typeface="DejaVu Sans"/>
              </a:rPr>
              <a:t>Pesquisa → requisitos → implementação</a:t>
            </a:r>
            <a:endParaRPr b="0" lang="pt-BR" sz="2900" spc="-1" strike="noStrike">
              <a:latin typeface="Arial"/>
            </a:endParaRPr>
          </a:p>
        </p:txBody>
      </p:sp>
      <p:sp>
        <p:nvSpPr>
          <p:cNvPr id="105" name="TextBox 4"/>
          <p:cNvSpPr/>
          <p:nvPr/>
        </p:nvSpPr>
        <p:spPr>
          <a:xfrm>
            <a:off x="521280" y="1362600"/>
            <a:ext cx="11063160" cy="19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1300" spc="-1" strike="noStrike">
                <a:solidFill>
                  <a:srgbClr val="526878"/>
                </a:solidFill>
                <a:latin typeface="DejaVu Sans"/>
                <a:ea typeface="DejaVu Sans"/>
              </a:rPr>
              <a:t>Uma solução adaptada à Computécnica, com caminho técnico verificável.</a:t>
            </a:r>
            <a:endParaRPr b="0" lang="pt-BR" sz="1300" spc="-1" strike="noStrike">
              <a:latin typeface="Arial"/>
            </a:endParaRPr>
          </a:p>
        </p:txBody>
      </p:sp>
      <p:sp>
        <p:nvSpPr>
          <p:cNvPr id="106" name="TextBox 5"/>
          <p:cNvSpPr/>
          <p:nvPr/>
        </p:nvSpPr>
        <p:spPr>
          <a:xfrm>
            <a:off x="502920" y="6510600"/>
            <a:ext cx="10514520" cy="12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800" spc="-1" strike="noStrike">
                <a:solidFill>
                  <a:srgbClr val="526878"/>
                </a:solidFill>
                <a:latin typeface="DejaVu Sans"/>
                <a:ea typeface="DejaVu Sans"/>
              </a:rPr>
              <a:t>Fonte: código local do Spot • corte técnico 26/10/2026</a:t>
            </a:r>
            <a:endParaRPr b="0" lang="pt-BR" sz="800" spc="-1" strike="noStrike">
              <a:latin typeface="Arial"/>
            </a:endParaRPr>
          </a:p>
        </p:txBody>
      </p:sp>
      <p:sp>
        <p:nvSpPr>
          <p:cNvPr id="107" name="TextBox 6"/>
          <p:cNvSpPr/>
          <p:nvPr/>
        </p:nvSpPr>
        <p:spPr>
          <a:xfrm>
            <a:off x="11018520" y="6483240"/>
            <a:ext cx="666360" cy="15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 algn="r"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1000" spc="-1" strike="noStrike">
                <a:solidFill>
                  <a:srgbClr val="526878"/>
                </a:solidFill>
                <a:latin typeface="DejaVu Sans"/>
                <a:ea typeface="DejaVu Sans"/>
              </a:rPr>
              <a:t>02 / 11</a:t>
            </a:r>
            <a:endParaRPr b="0" lang="pt-BR" sz="1000" spc="-1" strike="noStrike">
              <a:latin typeface="Arial"/>
            </a:endParaRPr>
          </a:p>
        </p:txBody>
      </p:sp>
      <p:sp>
        <p:nvSpPr>
          <p:cNvPr id="108" name="TextBox 7"/>
          <p:cNvSpPr/>
          <p:nvPr/>
        </p:nvSpPr>
        <p:spPr>
          <a:xfrm>
            <a:off x="548640" y="2194560"/>
            <a:ext cx="3382200" cy="66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4400" spc="-1" strike="noStrike">
                <a:solidFill>
                  <a:srgbClr val="007e98"/>
                </a:solidFill>
                <a:latin typeface="DejaVu Sans"/>
                <a:ea typeface="DejaVu Sans"/>
              </a:rPr>
              <a:t>01</a:t>
            </a:r>
            <a:endParaRPr b="0" lang="pt-BR" sz="4400" spc="-1" strike="noStrike">
              <a:latin typeface="Arial"/>
            </a:endParaRPr>
          </a:p>
        </p:txBody>
      </p:sp>
      <p:sp>
        <p:nvSpPr>
          <p:cNvPr id="109" name="TextBox 8"/>
          <p:cNvSpPr/>
          <p:nvPr/>
        </p:nvSpPr>
        <p:spPr>
          <a:xfrm>
            <a:off x="548640" y="3145680"/>
            <a:ext cx="3382200" cy="70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2300" spc="-1" strike="noStrike">
                <a:solidFill>
                  <a:srgbClr val="112c42"/>
                </a:solidFill>
                <a:latin typeface="DejaVu Sans"/>
                <a:ea typeface="DejaVu Sans"/>
              </a:rPr>
              <a:t>Organizar a execução</a:t>
            </a:r>
            <a:endParaRPr b="0" lang="pt-BR" sz="2300" spc="-1" strike="noStrike">
              <a:latin typeface="Arial"/>
            </a:endParaRPr>
          </a:p>
        </p:txBody>
      </p:sp>
      <p:sp>
        <p:nvSpPr>
          <p:cNvPr id="110" name="TextBox 9"/>
          <p:cNvSpPr/>
          <p:nvPr/>
        </p:nvSpPr>
        <p:spPr>
          <a:xfrm>
            <a:off x="548640" y="4050720"/>
            <a:ext cx="3382200" cy="51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1700" spc="-1" strike="noStrike">
                <a:solidFill>
                  <a:srgbClr val="183447"/>
                </a:solidFill>
                <a:latin typeface="DejaVu Sans"/>
                <a:ea typeface="DejaVu Sans"/>
              </a:rPr>
              <a:t>Projetos, tarefas, responsáveis e equipes.</a:t>
            </a:r>
            <a:endParaRPr b="0" lang="pt-BR" sz="1700" spc="-1" strike="noStrike">
              <a:latin typeface="Arial"/>
            </a:endParaRPr>
          </a:p>
        </p:txBody>
      </p:sp>
      <p:sp>
        <p:nvSpPr>
          <p:cNvPr id="111" name="TextBox 10"/>
          <p:cNvSpPr/>
          <p:nvPr/>
        </p:nvSpPr>
        <p:spPr>
          <a:xfrm>
            <a:off x="4361760" y="2194560"/>
            <a:ext cx="3382200" cy="66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4400" spc="-1" strike="noStrike">
                <a:solidFill>
                  <a:srgbClr val="007e98"/>
                </a:solidFill>
                <a:latin typeface="DejaVu Sans"/>
                <a:ea typeface="DejaVu Sans"/>
              </a:rPr>
              <a:t>02</a:t>
            </a:r>
            <a:endParaRPr b="0" lang="pt-BR" sz="4400" spc="-1" strike="noStrike">
              <a:latin typeface="Arial"/>
            </a:endParaRPr>
          </a:p>
        </p:txBody>
      </p:sp>
      <p:sp>
        <p:nvSpPr>
          <p:cNvPr id="112" name="TextBox 11"/>
          <p:cNvSpPr/>
          <p:nvPr/>
        </p:nvSpPr>
        <p:spPr>
          <a:xfrm>
            <a:off x="4361760" y="3145680"/>
            <a:ext cx="3382200" cy="70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2300" spc="-1" strike="noStrike">
                <a:solidFill>
                  <a:srgbClr val="112c42"/>
                </a:solidFill>
                <a:latin typeface="DejaVu Sans"/>
                <a:ea typeface="DejaVu Sans"/>
              </a:rPr>
              <a:t>Entender o resultado</a:t>
            </a:r>
            <a:endParaRPr b="0" lang="pt-BR" sz="2300" spc="-1" strike="noStrike">
              <a:latin typeface="Arial"/>
            </a:endParaRPr>
          </a:p>
        </p:txBody>
      </p:sp>
      <p:sp>
        <p:nvSpPr>
          <p:cNvPr id="113" name="TextBox 12"/>
          <p:cNvSpPr/>
          <p:nvPr/>
        </p:nvSpPr>
        <p:spPr>
          <a:xfrm>
            <a:off x="4361760" y="4050720"/>
            <a:ext cx="3382200" cy="51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1700" spc="-1" strike="noStrike">
                <a:solidFill>
                  <a:srgbClr val="183447"/>
                </a:solidFill>
                <a:latin typeface="DejaVu Sans"/>
                <a:ea typeface="DejaVu Sans"/>
              </a:rPr>
              <a:t>Horas, custos, despesas e margem gerencial.</a:t>
            </a:r>
            <a:endParaRPr b="0" lang="pt-BR" sz="1700" spc="-1" strike="noStrike">
              <a:latin typeface="Arial"/>
            </a:endParaRPr>
          </a:p>
        </p:txBody>
      </p:sp>
      <p:sp>
        <p:nvSpPr>
          <p:cNvPr id="114" name="TextBox 13"/>
          <p:cNvSpPr/>
          <p:nvPr/>
        </p:nvSpPr>
        <p:spPr>
          <a:xfrm>
            <a:off x="8174880" y="2194560"/>
            <a:ext cx="3382200" cy="66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4400" spc="-1" strike="noStrike">
                <a:solidFill>
                  <a:srgbClr val="007e98"/>
                </a:solidFill>
                <a:latin typeface="DejaVu Sans"/>
                <a:ea typeface="DejaVu Sans"/>
              </a:rPr>
              <a:t>03</a:t>
            </a:r>
            <a:endParaRPr b="0" lang="pt-BR" sz="4400" spc="-1" strike="noStrike">
              <a:latin typeface="Arial"/>
            </a:endParaRPr>
          </a:p>
        </p:txBody>
      </p:sp>
      <p:sp>
        <p:nvSpPr>
          <p:cNvPr id="115" name="TextBox 14"/>
          <p:cNvSpPr/>
          <p:nvPr/>
        </p:nvSpPr>
        <p:spPr>
          <a:xfrm>
            <a:off x="8174880" y="3145680"/>
            <a:ext cx="3382200" cy="70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2300" spc="-1" strike="noStrike">
                <a:solidFill>
                  <a:srgbClr val="112c42"/>
                </a:solidFill>
                <a:latin typeface="DejaVu Sans"/>
                <a:ea typeface="DejaVu Sans"/>
              </a:rPr>
              <a:t>Controlar a evolução</a:t>
            </a:r>
            <a:endParaRPr b="0" lang="pt-BR" sz="2300" spc="-1" strike="noStrike">
              <a:latin typeface="Arial"/>
            </a:endParaRPr>
          </a:p>
        </p:txBody>
      </p:sp>
      <p:sp>
        <p:nvSpPr>
          <p:cNvPr id="116" name="TextBox 15"/>
          <p:cNvSpPr/>
          <p:nvPr/>
        </p:nvSpPr>
        <p:spPr>
          <a:xfrm>
            <a:off x="8174880" y="4050720"/>
            <a:ext cx="3382200" cy="51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1700" spc="-1" strike="noStrike">
                <a:solidFill>
                  <a:srgbClr val="183447"/>
                </a:solidFill>
                <a:latin typeface="DejaVu Sans"/>
                <a:ea typeface="DejaVu Sans"/>
              </a:rPr>
              <a:t>Permissões, histórico e implantação própria.</a:t>
            </a:r>
            <a:endParaRPr b="0" lang="pt-BR" sz="1700" spc="-1" strike="noStrike">
              <a:latin typeface="Arial"/>
            </a:endParaRPr>
          </a:p>
        </p:txBody>
      </p:sp>
      <p:sp>
        <p:nvSpPr>
          <p:cNvPr id="117" name="Rounded Rectangle 16"/>
          <p:cNvSpPr/>
          <p:nvPr/>
        </p:nvSpPr>
        <p:spPr>
          <a:xfrm>
            <a:off x="502920" y="5623560"/>
            <a:ext cx="11172960" cy="437760"/>
          </a:xfrm>
          <a:prstGeom prst="roundRect">
            <a:avLst>
              <a:gd name="adj" fmla="val 8000"/>
            </a:avLst>
          </a:prstGeom>
          <a:solidFill>
            <a:srgbClr val="112c42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18" name="TextBox 17"/>
          <p:cNvSpPr/>
          <p:nvPr/>
        </p:nvSpPr>
        <p:spPr>
          <a:xfrm>
            <a:off x="658440" y="5715000"/>
            <a:ext cx="10880280" cy="18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1200" spc="-1" strike="noStrike">
                <a:solidFill>
                  <a:srgbClr val="ffffff"/>
                </a:solidFill>
                <a:latin typeface="DejaVu Sans"/>
                <a:ea typeface="DejaVu Sans"/>
              </a:rPr>
              <a:t>Próximo passo: validar o uso real, medir resultados e evoluir com o retorno do cliente.</a:t>
            </a:r>
            <a:endParaRPr b="0" lang="pt-BR" sz="1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3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Rectangle 1"/>
          <p:cNvSpPr/>
          <p:nvPr/>
        </p:nvSpPr>
        <p:spPr>
          <a:xfrm>
            <a:off x="0" y="0"/>
            <a:ext cx="12190680" cy="72000"/>
          </a:xfrm>
          <a:prstGeom prst="rect">
            <a:avLst/>
          </a:prstGeom>
          <a:solidFill>
            <a:srgbClr val="007e98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20" name="TextBox 2"/>
          <p:cNvSpPr/>
          <p:nvPr/>
        </p:nvSpPr>
        <p:spPr>
          <a:xfrm>
            <a:off x="502920" y="292680"/>
            <a:ext cx="10057320" cy="15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1000" spc="-1" strike="noStrike">
                <a:solidFill>
                  <a:srgbClr val="007e98"/>
                </a:solidFill>
                <a:latin typeface="DejaVu Sans"/>
                <a:ea typeface="DejaVu Sans"/>
              </a:rPr>
              <a:t>02 / PONTO DE PARTIDA</a:t>
            </a:r>
            <a:endParaRPr b="0" lang="pt-BR" sz="1000" spc="-1" strike="noStrike">
              <a:latin typeface="Arial"/>
            </a:endParaRPr>
          </a:p>
        </p:txBody>
      </p:sp>
      <p:sp>
        <p:nvSpPr>
          <p:cNvPr id="121" name="TextBox 3"/>
          <p:cNvSpPr/>
          <p:nvPr/>
        </p:nvSpPr>
        <p:spPr>
          <a:xfrm>
            <a:off x="502920" y="704160"/>
            <a:ext cx="11154600" cy="44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2900" spc="-1" strike="noStrike">
                <a:solidFill>
                  <a:srgbClr val="112c42"/>
                </a:solidFill>
                <a:latin typeface="DejaVu Sans"/>
                <a:ea typeface="DejaVu Sans"/>
              </a:rPr>
              <a:t>Um problema real. Duas pesquisas.</a:t>
            </a:r>
            <a:endParaRPr b="0" lang="pt-BR" sz="2900" spc="-1" strike="noStrike">
              <a:latin typeface="Arial"/>
            </a:endParaRPr>
          </a:p>
        </p:txBody>
      </p:sp>
      <p:sp>
        <p:nvSpPr>
          <p:cNvPr id="122" name="TextBox 4"/>
          <p:cNvSpPr/>
          <p:nvPr/>
        </p:nvSpPr>
        <p:spPr>
          <a:xfrm>
            <a:off x="521280" y="1362600"/>
            <a:ext cx="11063160" cy="19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1300" spc="-1" strike="noStrike">
                <a:solidFill>
                  <a:srgbClr val="526878"/>
                </a:solidFill>
                <a:latin typeface="DejaVu Sans"/>
                <a:ea typeface="DejaVu Sans"/>
              </a:rPr>
              <a:t>Como transformar a rotina do cliente em requisitos verificáveis.</a:t>
            </a:r>
            <a:endParaRPr b="0" lang="pt-BR" sz="1300" spc="-1" strike="noStrike">
              <a:latin typeface="Arial"/>
            </a:endParaRPr>
          </a:p>
        </p:txBody>
      </p:sp>
      <p:sp>
        <p:nvSpPr>
          <p:cNvPr id="123" name="TextBox 5"/>
          <p:cNvSpPr/>
          <p:nvPr/>
        </p:nvSpPr>
        <p:spPr>
          <a:xfrm>
            <a:off x="502920" y="6510600"/>
            <a:ext cx="10514520" cy="12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800" spc="-1" strike="noStrike">
                <a:solidFill>
                  <a:srgbClr val="526878"/>
                </a:solidFill>
                <a:latin typeface="DejaVu Sans"/>
                <a:ea typeface="DejaVu Sans"/>
              </a:rPr>
              <a:t>Fontes: monografia, introdução; capítulo da pesquisa, metodologia (2026).</a:t>
            </a:r>
            <a:endParaRPr b="0" lang="pt-BR" sz="800" spc="-1" strike="noStrike">
              <a:latin typeface="Arial"/>
            </a:endParaRPr>
          </a:p>
        </p:txBody>
      </p:sp>
      <p:sp>
        <p:nvSpPr>
          <p:cNvPr id="124" name="TextBox 6"/>
          <p:cNvSpPr/>
          <p:nvPr/>
        </p:nvSpPr>
        <p:spPr>
          <a:xfrm>
            <a:off x="11018520" y="6483240"/>
            <a:ext cx="666360" cy="15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 algn="r"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1000" spc="-1" strike="noStrike">
                <a:solidFill>
                  <a:srgbClr val="526878"/>
                </a:solidFill>
                <a:latin typeface="DejaVu Sans"/>
                <a:ea typeface="DejaVu Sans"/>
              </a:rPr>
              <a:t>03 / 11</a:t>
            </a:r>
            <a:endParaRPr b="0" lang="pt-BR" sz="1000" spc="-1" strike="noStrike">
              <a:latin typeface="Arial"/>
            </a:endParaRPr>
          </a:p>
        </p:txBody>
      </p:sp>
      <p:sp>
        <p:nvSpPr>
          <p:cNvPr id="125" name="Rounded Rectangle 7"/>
          <p:cNvSpPr/>
          <p:nvPr/>
        </p:nvSpPr>
        <p:spPr>
          <a:xfrm>
            <a:off x="502920" y="2030040"/>
            <a:ext cx="3546720" cy="3382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360">
            <a:solidFill>
              <a:srgbClr val="dce5e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26" name="Rectangle 8"/>
          <p:cNvSpPr/>
          <p:nvPr/>
        </p:nvSpPr>
        <p:spPr>
          <a:xfrm>
            <a:off x="502920" y="2030040"/>
            <a:ext cx="49320" cy="3382200"/>
          </a:xfrm>
          <a:prstGeom prst="rect">
            <a:avLst/>
          </a:prstGeom>
          <a:solidFill>
            <a:srgbClr val="007e98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27" name="TextBox 9"/>
          <p:cNvSpPr/>
          <p:nvPr/>
        </p:nvSpPr>
        <p:spPr>
          <a:xfrm>
            <a:off x="667440" y="2167200"/>
            <a:ext cx="32266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1800" spc="-1" strike="noStrike">
                <a:solidFill>
                  <a:srgbClr val="007e98"/>
                </a:solidFill>
                <a:latin typeface="DejaVu Sans"/>
                <a:ea typeface="DejaVu Sans"/>
              </a:rPr>
              <a:t>Computécnica</a:t>
            </a:r>
            <a:endParaRPr b="0" lang="pt-BR" sz="1800" spc="-1" strike="noStrike">
              <a:latin typeface="Arial"/>
            </a:endParaRPr>
          </a:p>
        </p:txBody>
      </p:sp>
      <p:sp>
        <p:nvSpPr>
          <p:cNvPr id="128" name="TextBox 10"/>
          <p:cNvSpPr/>
          <p:nvPr/>
        </p:nvSpPr>
        <p:spPr>
          <a:xfrm>
            <a:off x="667440" y="2642760"/>
            <a:ext cx="3226680" cy="110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1500" spc="-1" strike="noStrike">
                <a:solidFill>
                  <a:srgbClr val="183447"/>
                </a:solidFill>
                <a:latin typeface="DejaVu Sans"/>
                <a:ea typeface="DejaVu Sans"/>
              </a:rPr>
              <a:t>Visual antigo</a:t>
            </a:r>
            <a:endParaRPr b="0" lang="pt-BR" sz="15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1500" spc="-1" strike="noStrike">
                <a:solidFill>
                  <a:srgbClr val="183447"/>
                </a:solidFill>
                <a:latin typeface="DejaVu Sans"/>
                <a:ea typeface="DejaVu Sans"/>
              </a:rPr>
              <a:t>Acesso pouco delimitado</a:t>
            </a:r>
            <a:endParaRPr b="0" lang="pt-BR" sz="15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1500" spc="-1" strike="noStrike">
                <a:solidFill>
                  <a:srgbClr val="183447"/>
                </a:solidFill>
                <a:latin typeface="DejaVu Sans"/>
                <a:ea typeface="DejaVu Sans"/>
              </a:rPr>
              <a:t>Custos desconectados</a:t>
            </a:r>
            <a:endParaRPr b="0" lang="pt-BR" sz="15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1500" spc="-1" strike="noStrike">
                <a:solidFill>
                  <a:srgbClr val="183447"/>
                </a:solidFill>
                <a:latin typeface="DejaVu Sans"/>
                <a:ea typeface="DejaVu Sans"/>
              </a:rPr>
              <a:t>Dependência da solução anterior</a:t>
            </a:r>
            <a:endParaRPr b="0" lang="pt-BR" sz="1500" spc="-1" strike="noStrike">
              <a:latin typeface="Arial"/>
            </a:endParaRPr>
          </a:p>
        </p:txBody>
      </p:sp>
      <p:sp>
        <p:nvSpPr>
          <p:cNvPr id="129" name="Rounded Rectangle 11"/>
          <p:cNvSpPr/>
          <p:nvPr/>
        </p:nvSpPr>
        <p:spPr>
          <a:xfrm>
            <a:off x="4316040" y="2030040"/>
            <a:ext cx="3546720" cy="3382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360">
            <a:solidFill>
              <a:srgbClr val="dce5e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30" name="Rectangle 12"/>
          <p:cNvSpPr/>
          <p:nvPr/>
        </p:nvSpPr>
        <p:spPr>
          <a:xfrm>
            <a:off x="4316040" y="2030040"/>
            <a:ext cx="49320" cy="3382200"/>
          </a:xfrm>
          <a:prstGeom prst="rect">
            <a:avLst/>
          </a:prstGeom>
          <a:solidFill>
            <a:srgbClr val="007e98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31" name="TextBox 13"/>
          <p:cNvSpPr/>
          <p:nvPr/>
        </p:nvSpPr>
        <p:spPr>
          <a:xfrm>
            <a:off x="4480560" y="2167200"/>
            <a:ext cx="32266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1800" spc="-1" strike="noStrike">
                <a:solidFill>
                  <a:srgbClr val="007e98"/>
                </a:solidFill>
                <a:latin typeface="DejaVu Sans"/>
                <a:ea typeface="DejaVu Sans"/>
              </a:rPr>
              <a:t>Pesquisa de campo</a:t>
            </a:r>
            <a:endParaRPr b="0" lang="pt-BR" sz="1800" spc="-1" strike="noStrike">
              <a:latin typeface="Arial"/>
            </a:endParaRPr>
          </a:p>
        </p:txBody>
      </p:sp>
      <p:sp>
        <p:nvSpPr>
          <p:cNvPr id="132" name="TextBox 14"/>
          <p:cNvSpPr/>
          <p:nvPr/>
        </p:nvSpPr>
        <p:spPr>
          <a:xfrm>
            <a:off x="4480560" y="2642760"/>
            <a:ext cx="3226680" cy="110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1500" spc="-1" strike="noStrike">
                <a:solidFill>
                  <a:srgbClr val="183447"/>
                </a:solidFill>
                <a:latin typeface="DejaVu Sans"/>
                <a:ea typeface="DejaVu Sans"/>
              </a:rPr>
              <a:t>16 perguntas</a:t>
            </a:r>
            <a:endParaRPr b="0" lang="pt-BR" sz="15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1500" spc="-1" strike="noStrike">
                <a:solidFill>
                  <a:srgbClr val="183447"/>
                </a:solidFill>
                <a:latin typeface="DejaVu Sans"/>
                <a:ea typeface="DejaVu Sans"/>
              </a:rPr>
              <a:t>18 mar → 24 ago de 2026</a:t>
            </a:r>
            <a:endParaRPr b="0" lang="pt-BR" sz="15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1500" spc="-1" strike="noStrike">
                <a:solidFill>
                  <a:srgbClr val="183447"/>
                </a:solidFill>
                <a:latin typeface="DejaVu Sans"/>
                <a:ea typeface="DejaVu Sans"/>
              </a:rPr>
              <a:t>Survey quali-quantitativo</a:t>
            </a:r>
            <a:endParaRPr b="0" lang="pt-BR" sz="15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1500" spc="-1" strike="noStrike">
                <a:solidFill>
                  <a:srgbClr val="183447"/>
                </a:solidFill>
                <a:latin typeface="DejaVu Sans"/>
                <a:ea typeface="DejaVu Sans"/>
              </a:rPr>
              <a:t>Amostra de conveniência</a:t>
            </a:r>
            <a:endParaRPr b="0" lang="pt-BR" sz="1500" spc="-1" strike="noStrike">
              <a:latin typeface="Arial"/>
            </a:endParaRPr>
          </a:p>
        </p:txBody>
      </p:sp>
      <p:sp>
        <p:nvSpPr>
          <p:cNvPr id="133" name="Rounded Rectangle 15"/>
          <p:cNvSpPr/>
          <p:nvPr/>
        </p:nvSpPr>
        <p:spPr>
          <a:xfrm>
            <a:off x="8129160" y="2030040"/>
            <a:ext cx="3546720" cy="3382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360">
            <a:solidFill>
              <a:srgbClr val="dce5e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34" name="Rectangle 16"/>
          <p:cNvSpPr/>
          <p:nvPr/>
        </p:nvSpPr>
        <p:spPr>
          <a:xfrm>
            <a:off x="8129160" y="2030040"/>
            <a:ext cx="49320" cy="3382200"/>
          </a:xfrm>
          <a:prstGeom prst="rect">
            <a:avLst/>
          </a:prstGeom>
          <a:solidFill>
            <a:srgbClr val="007e98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35" name="TextBox 17"/>
          <p:cNvSpPr/>
          <p:nvPr/>
        </p:nvSpPr>
        <p:spPr>
          <a:xfrm>
            <a:off x="8293680" y="2167200"/>
            <a:ext cx="32266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1800" spc="-1" strike="noStrike">
                <a:solidFill>
                  <a:srgbClr val="007e98"/>
                </a:solidFill>
                <a:latin typeface="DejaVu Sans"/>
                <a:ea typeface="DejaVu Sans"/>
              </a:rPr>
              <a:t>Pesquisa de sistemas</a:t>
            </a:r>
            <a:endParaRPr b="0" lang="pt-BR" sz="1800" spc="-1" strike="noStrike">
              <a:latin typeface="Arial"/>
            </a:endParaRPr>
          </a:p>
        </p:txBody>
      </p:sp>
      <p:sp>
        <p:nvSpPr>
          <p:cNvPr id="136" name="TextBox 18"/>
          <p:cNvSpPr/>
          <p:nvPr/>
        </p:nvSpPr>
        <p:spPr>
          <a:xfrm>
            <a:off x="8293680" y="2642760"/>
            <a:ext cx="3226680" cy="110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1500" spc="-1" strike="noStrike">
                <a:solidFill>
                  <a:srgbClr val="183447"/>
                </a:solidFill>
                <a:latin typeface="DejaVu Sans"/>
                <a:ea typeface="DejaVu Sans"/>
              </a:rPr>
              <a:t>6 plataformas principais</a:t>
            </a:r>
            <a:endParaRPr b="0" lang="pt-BR" sz="15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1500" spc="-1" strike="noStrike">
                <a:solidFill>
                  <a:srgbClr val="183447"/>
                </a:solidFill>
                <a:latin typeface="DejaVu Sans"/>
                <a:ea typeface="DejaVu Sans"/>
              </a:rPr>
              <a:t>Integrações e automação</a:t>
            </a:r>
            <a:endParaRPr b="0" lang="pt-BR" sz="15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1500" spc="-1" strike="noStrike">
                <a:solidFill>
                  <a:srgbClr val="183447"/>
                </a:solidFill>
                <a:latin typeface="DejaVu Sans"/>
                <a:ea typeface="DejaVu Sans"/>
              </a:rPr>
              <a:t>Referências de interação</a:t>
            </a:r>
            <a:endParaRPr b="0" lang="pt-BR" sz="15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1500" spc="-1" strike="noStrike">
                <a:solidFill>
                  <a:srgbClr val="183447"/>
                </a:solidFill>
                <a:latin typeface="DejaVu Sans"/>
                <a:ea typeface="DejaVu Sans"/>
              </a:rPr>
              <a:t>Escolhas para o cliente</a:t>
            </a:r>
            <a:endParaRPr b="0" lang="pt-BR" sz="1500" spc="-1" strike="noStrike">
              <a:latin typeface="Arial"/>
            </a:endParaRPr>
          </a:p>
        </p:txBody>
      </p:sp>
      <p:sp>
        <p:nvSpPr>
          <p:cNvPr id="137" name="Rounded Rectangle 19"/>
          <p:cNvSpPr/>
          <p:nvPr/>
        </p:nvSpPr>
        <p:spPr>
          <a:xfrm>
            <a:off x="502920" y="5870520"/>
            <a:ext cx="11172960" cy="437760"/>
          </a:xfrm>
          <a:prstGeom prst="roundRect">
            <a:avLst>
              <a:gd name="adj" fmla="val 8000"/>
            </a:avLst>
          </a:prstGeom>
          <a:solidFill>
            <a:srgbClr val="112c42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38" name="TextBox 20"/>
          <p:cNvSpPr/>
          <p:nvPr/>
        </p:nvSpPr>
        <p:spPr>
          <a:xfrm>
            <a:off x="658440" y="5961960"/>
            <a:ext cx="10880280" cy="18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1200" spc="-1" strike="noStrike">
                <a:solidFill>
                  <a:srgbClr val="ffffff"/>
                </a:solidFill>
                <a:latin typeface="DejaVu Sans"/>
                <a:ea typeface="DejaVu Sans"/>
              </a:rPr>
              <a:t>A amostra orienta prioridades; não representa estatisticamente todas as empresas.</a:t>
            </a:r>
            <a:endParaRPr b="0" lang="pt-BR" sz="1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3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Rectangle 1"/>
          <p:cNvSpPr/>
          <p:nvPr/>
        </p:nvSpPr>
        <p:spPr>
          <a:xfrm>
            <a:off x="0" y="0"/>
            <a:ext cx="12190680" cy="72000"/>
          </a:xfrm>
          <a:prstGeom prst="rect">
            <a:avLst/>
          </a:prstGeom>
          <a:solidFill>
            <a:srgbClr val="007e98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40" name="TextBox 2"/>
          <p:cNvSpPr/>
          <p:nvPr/>
        </p:nvSpPr>
        <p:spPr>
          <a:xfrm>
            <a:off x="502920" y="292680"/>
            <a:ext cx="10057320" cy="15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1000" spc="-1" strike="noStrike">
                <a:solidFill>
                  <a:srgbClr val="007e98"/>
                </a:solidFill>
                <a:latin typeface="DejaVu Sans"/>
                <a:ea typeface="DejaVu Sans"/>
              </a:rPr>
              <a:t>03 / PESQUISA DE CAMPO</a:t>
            </a:r>
            <a:endParaRPr b="0" lang="pt-BR" sz="1000" spc="-1" strike="noStrike">
              <a:latin typeface="Arial"/>
            </a:endParaRPr>
          </a:p>
        </p:txBody>
      </p:sp>
      <p:sp>
        <p:nvSpPr>
          <p:cNvPr id="141" name="TextBox 3"/>
          <p:cNvSpPr/>
          <p:nvPr/>
        </p:nvSpPr>
        <p:spPr>
          <a:xfrm>
            <a:off x="502920" y="704160"/>
            <a:ext cx="11154600" cy="44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2900" spc="-1" strike="noStrike">
                <a:solidFill>
                  <a:srgbClr val="112c42"/>
                </a:solidFill>
                <a:latin typeface="DejaVu Sans"/>
                <a:ea typeface="DejaVu Sans"/>
              </a:rPr>
              <a:t>Quem respondeu e o que já utiliza</a:t>
            </a:r>
            <a:endParaRPr b="0" lang="pt-BR" sz="2900" spc="-1" strike="noStrike">
              <a:latin typeface="Arial"/>
            </a:endParaRPr>
          </a:p>
        </p:txBody>
      </p:sp>
      <p:sp>
        <p:nvSpPr>
          <p:cNvPr id="142" name="TextBox 4"/>
          <p:cNvSpPr/>
          <p:nvPr/>
        </p:nvSpPr>
        <p:spPr>
          <a:xfrm>
            <a:off x="521280" y="1362600"/>
            <a:ext cx="11063160" cy="19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1300" spc="-1" strike="noStrike">
                <a:solidFill>
                  <a:srgbClr val="526878"/>
                </a:solidFill>
                <a:latin typeface="DejaVu Sans"/>
                <a:ea typeface="DejaVu Sans"/>
              </a:rPr>
              <a:t>88 de 94 estavam empregados • 65 não atuam diretamente em gestão de projetos</a:t>
            </a:r>
            <a:endParaRPr b="0" lang="pt-BR" sz="1300" spc="-1" strike="noStrike">
              <a:latin typeface="Arial"/>
            </a:endParaRPr>
          </a:p>
        </p:txBody>
      </p:sp>
      <p:sp>
        <p:nvSpPr>
          <p:cNvPr id="143" name="TextBox 5"/>
          <p:cNvSpPr/>
          <p:nvPr/>
        </p:nvSpPr>
        <p:spPr>
          <a:xfrm>
            <a:off x="502920" y="6510600"/>
            <a:ext cx="10514520" cy="12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800" spc="-1" strike="noStrike">
                <a:solidFill>
                  <a:srgbClr val="526878"/>
                </a:solidFill>
                <a:latin typeface="DejaVu Sans"/>
                <a:ea typeface="DejaVu Sans"/>
              </a:rPr>
              <a:t>Fonte: pesquisa SPOT (2026), figuras 1–3 e perfil. Contagens reconstruídas dos gráficos do DOCX.</a:t>
            </a:r>
            <a:endParaRPr b="0" lang="pt-BR" sz="800" spc="-1" strike="noStrike">
              <a:latin typeface="Arial"/>
            </a:endParaRPr>
          </a:p>
        </p:txBody>
      </p:sp>
      <p:sp>
        <p:nvSpPr>
          <p:cNvPr id="144" name="TextBox 6"/>
          <p:cNvSpPr/>
          <p:nvPr/>
        </p:nvSpPr>
        <p:spPr>
          <a:xfrm>
            <a:off x="11018520" y="6483240"/>
            <a:ext cx="666360" cy="15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 algn="r"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1000" spc="-1" strike="noStrike">
                <a:solidFill>
                  <a:srgbClr val="526878"/>
                </a:solidFill>
                <a:latin typeface="DejaVu Sans"/>
                <a:ea typeface="DejaVu Sans"/>
              </a:rPr>
              <a:t>04 / 11</a:t>
            </a:r>
            <a:endParaRPr b="0" lang="pt-BR" sz="1000" spc="-1" strike="noStrike">
              <a:latin typeface="Arial"/>
            </a:endParaRPr>
          </a:p>
        </p:txBody>
      </p:sp>
      <p:sp>
        <p:nvSpPr>
          <p:cNvPr id="145" name="Rounded Rectangle 7"/>
          <p:cNvSpPr/>
          <p:nvPr/>
        </p:nvSpPr>
        <p:spPr>
          <a:xfrm>
            <a:off x="502920" y="1993320"/>
            <a:ext cx="3519360" cy="3510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360">
            <a:solidFill>
              <a:srgbClr val="dce5e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46" name="TextBox 8"/>
          <p:cNvSpPr/>
          <p:nvPr/>
        </p:nvSpPr>
        <p:spPr>
          <a:xfrm>
            <a:off x="631080" y="2103120"/>
            <a:ext cx="3263400" cy="21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1400" spc="-1" strike="noStrike">
                <a:solidFill>
                  <a:srgbClr val="112c42"/>
                </a:solidFill>
                <a:latin typeface="DejaVu Sans"/>
                <a:ea typeface="DejaVu Sans"/>
              </a:rPr>
              <a:t>Perfil etário — gráfico de linhas</a:t>
            </a:r>
            <a:endParaRPr b="0" lang="pt-BR" sz="1400" spc="-1" strike="noStrike">
              <a:latin typeface="Arial"/>
            </a:endParaRPr>
          </a:p>
        </p:txBody>
      </p:sp>
      <p:graphicFrame>
        <p:nvGraphicFramePr>
          <p:cNvPr id="147" name="Chart 9"/>
          <p:cNvGraphicFramePr/>
          <p:nvPr/>
        </p:nvGraphicFramePr>
        <p:xfrm>
          <a:off x="612720" y="2569320"/>
          <a:ext cx="3299760" cy="2458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148" name="TextBox 10"/>
          <p:cNvSpPr/>
          <p:nvPr/>
        </p:nvSpPr>
        <p:spPr>
          <a:xfrm>
            <a:off x="631080" y="5184720"/>
            <a:ext cx="3263400" cy="12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800" spc="-1" strike="noStrike">
                <a:solidFill>
                  <a:srgbClr val="526878"/>
                </a:solidFill>
                <a:latin typeface="DejaVu Sans"/>
                <a:ea typeface="DejaVu Sans"/>
              </a:rPr>
              <a:t>Base: 94 • linha entre faixas etárias, não evolução no tempo.</a:t>
            </a:r>
            <a:endParaRPr b="0" lang="pt-BR" sz="800" spc="-1" strike="noStrike">
              <a:latin typeface="Arial"/>
            </a:endParaRPr>
          </a:p>
        </p:txBody>
      </p:sp>
      <p:sp>
        <p:nvSpPr>
          <p:cNvPr id="149" name="Rounded Rectangle 11"/>
          <p:cNvSpPr/>
          <p:nvPr/>
        </p:nvSpPr>
        <p:spPr>
          <a:xfrm>
            <a:off x="4334400" y="1993320"/>
            <a:ext cx="3519360" cy="3510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360">
            <a:solidFill>
              <a:srgbClr val="dce5e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50" name="TextBox 12"/>
          <p:cNvSpPr/>
          <p:nvPr/>
        </p:nvSpPr>
        <p:spPr>
          <a:xfrm>
            <a:off x="4480560" y="2103120"/>
            <a:ext cx="3245040" cy="21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1400" spc="-1" strike="noStrike">
                <a:solidFill>
                  <a:srgbClr val="112c42"/>
                </a:solidFill>
                <a:latin typeface="DejaVu Sans"/>
                <a:ea typeface="DejaVu Sans"/>
              </a:rPr>
              <a:t>Atuação em gestão de projetos</a:t>
            </a:r>
            <a:endParaRPr b="0" lang="pt-BR" sz="1400" spc="-1" strike="noStrike">
              <a:latin typeface="Arial"/>
            </a:endParaRPr>
          </a:p>
        </p:txBody>
      </p:sp>
      <p:sp>
        <p:nvSpPr>
          <p:cNvPr id="151" name="TextBox 13"/>
          <p:cNvSpPr/>
          <p:nvPr/>
        </p:nvSpPr>
        <p:spPr>
          <a:xfrm>
            <a:off x="4471560" y="2742840"/>
            <a:ext cx="1543680" cy="18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1200" spc="-1" strike="noStrike">
                <a:solidFill>
                  <a:srgbClr val="526878"/>
                </a:solidFill>
                <a:latin typeface="DejaVu Sans"/>
                <a:ea typeface="DejaVu Sans"/>
              </a:rPr>
              <a:t>Não atua</a:t>
            </a:r>
            <a:endParaRPr b="0" lang="pt-BR" sz="1200" spc="-1" strike="noStrike">
              <a:latin typeface="Arial"/>
            </a:endParaRPr>
          </a:p>
        </p:txBody>
      </p:sp>
      <p:sp>
        <p:nvSpPr>
          <p:cNvPr id="152" name="Rectangle 14"/>
          <p:cNvSpPr/>
          <p:nvPr/>
        </p:nvSpPr>
        <p:spPr>
          <a:xfrm>
            <a:off x="5988960" y="2774520"/>
            <a:ext cx="794880" cy="127080"/>
          </a:xfrm>
          <a:prstGeom prst="rect">
            <a:avLst/>
          </a:prstGeom>
          <a:solidFill>
            <a:srgbClr val="dce5ea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53" name="Rectangle 15"/>
          <p:cNvSpPr/>
          <p:nvPr/>
        </p:nvSpPr>
        <p:spPr>
          <a:xfrm>
            <a:off x="5988960" y="2774520"/>
            <a:ext cx="794880" cy="127080"/>
          </a:xfrm>
          <a:prstGeom prst="rect">
            <a:avLst/>
          </a:prstGeom>
          <a:solidFill>
            <a:srgbClr val="007e98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54" name="TextBox 16"/>
          <p:cNvSpPr/>
          <p:nvPr/>
        </p:nvSpPr>
        <p:spPr>
          <a:xfrm>
            <a:off x="6839640" y="2742840"/>
            <a:ext cx="950040" cy="15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1000" spc="-1" strike="noStrike">
                <a:solidFill>
                  <a:srgbClr val="183447"/>
                </a:solidFill>
                <a:latin typeface="DejaVu Sans"/>
                <a:ea typeface="DejaVu Sans"/>
              </a:rPr>
              <a:t>65 · 69,1%</a:t>
            </a:r>
            <a:endParaRPr b="0" lang="pt-BR" sz="1000" spc="-1" strike="noStrike">
              <a:latin typeface="Arial"/>
            </a:endParaRPr>
          </a:p>
        </p:txBody>
      </p:sp>
      <p:sp>
        <p:nvSpPr>
          <p:cNvPr id="155" name="TextBox 17"/>
          <p:cNvSpPr/>
          <p:nvPr/>
        </p:nvSpPr>
        <p:spPr>
          <a:xfrm>
            <a:off x="4471560" y="3344040"/>
            <a:ext cx="1543680" cy="18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1200" spc="-1" strike="noStrike">
                <a:solidFill>
                  <a:srgbClr val="526878"/>
                </a:solidFill>
                <a:latin typeface="DejaVu Sans"/>
                <a:ea typeface="DejaVu Sans"/>
              </a:rPr>
              <a:t>Atua parcialmente</a:t>
            </a:r>
            <a:endParaRPr b="0" lang="pt-BR" sz="1200" spc="-1" strike="noStrike">
              <a:latin typeface="Arial"/>
            </a:endParaRPr>
          </a:p>
        </p:txBody>
      </p:sp>
      <p:sp>
        <p:nvSpPr>
          <p:cNvPr id="156" name="Rectangle 18"/>
          <p:cNvSpPr/>
          <p:nvPr/>
        </p:nvSpPr>
        <p:spPr>
          <a:xfrm>
            <a:off x="5988960" y="3376080"/>
            <a:ext cx="794880" cy="127080"/>
          </a:xfrm>
          <a:prstGeom prst="rect">
            <a:avLst/>
          </a:prstGeom>
          <a:solidFill>
            <a:srgbClr val="dce5ea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57" name="Rectangle 19"/>
          <p:cNvSpPr/>
          <p:nvPr/>
        </p:nvSpPr>
        <p:spPr>
          <a:xfrm>
            <a:off x="5988960" y="3376080"/>
            <a:ext cx="243720" cy="127080"/>
          </a:xfrm>
          <a:prstGeom prst="rect">
            <a:avLst/>
          </a:prstGeom>
          <a:solidFill>
            <a:srgbClr val="007e98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58" name="TextBox 20"/>
          <p:cNvSpPr/>
          <p:nvPr/>
        </p:nvSpPr>
        <p:spPr>
          <a:xfrm>
            <a:off x="6839640" y="3344040"/>
            <a:ext cx="950040" cy="15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1000" spc="-1" strike="noStrike">
                <a:solidFill>
                  <a:srgbClr val="183447"/>
                </a:solidFill>
                <a:latin typeface="DejaVu Sans"/>
                <a:ea typeface="DejaVu Sans"/>
              </a:rPr>
              <a:t>20 · 21,3%</a:t>
            </a:r>
            <a:endParaRPr b="0" lang="pt-BR" sz="1000" spc="-1" strike="noStrike">
              <a:latin typeface="Arial"/>
            </a:endParaRPr>
          </a:p>
        </p:txBody>
      </p:sp>
      <p:sp>
        <p:nvSpPr>
          <p:cNvPr id="159" name="TextBox 21"/>
          <p:cNvSpPr/>
          <p:nvPr/>
        </p:nvSpPr>
        <p:spPr>
          <a:xfrm>
            <a:off x="4471560" y="3945240"/>
            <a:ext cx="1543680" cy="18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1200" spc="-1" strike="noStrike">
                <a:solidFill>
                  <a:srgbClr val="526878"/>
                </a:solidFill>
                <a:latin typeface="DejaVu Sans"/>
                <a:ea typeface="DejaVu Sans"/>
              </a:rPr>
              <a:t>Totalmente</a:t>
            </a:r>
            <a:endParaRPr b="0" lang="pt-BR" sz="1200" spc="-1" strike="noStrike">
              <a:latin typeface="Arial"/>
            </a:endParaRPr>
          </a:p>
        </p:txBody>
      </p:sp>
      <p:sp>
        <p:nvSpPr>
          <p:cNvPr id="160" name="Rectangle 22"/>
          <p:cNvSpPr/>
          <p:nvPr/>
        </p:nvSpPr>
        <p:spPr>
          <a:xfrm>
            <a:off x="5988960" y="3977280"/>
            <a:ext cx="794880" cy="127080"/>
          </a:xfrm>
          <a:prstGeom prst="rect">
            <a:avLst/>
          </a:prstGeom>
          <a:solidFill>
            <a:srgbClr val="dce5ea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61" name="Rectangle 23"/>
          <p:cNvSpPr/>
          <p:nvPr/>
        </p:nvSpPr>
        <p:spPr>
          <a:xfrm>
            <a:off x="5988960" y="3977280"/>
            <a:ext cx="47880" cy="127080"/>
          </a:xfrm>
          <a:prstGeom prst="rect">
            <a:avLst/>
          </a:prstGeom>
          <a:solidFill>
            <a:srgbClr val="007e98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62" name="TextBox 24"/>
          <p:cNvSpPr/>
          <p:nvPr/>
        </p:nvSpPr>
        <p:spPr>
          <a:xfrm>
            <a:off x="6839640" y="3945240"/>
            <a:ext cx="950040" cy="15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1000" spc="-1" strike="noStrike">
                <a:solidFill>
                  <a:srgbClr val="183447"/>
                </a:solidFill>
                <a:latin typeface="DejaVu Sans"/>
                <a:ea typeface="DejaVu Sans"/>
              </a:rPr>
              <a:t>4 · 4,3%</a:t>
            </a:r>
            <a:endParaRPr b="0" lang="pt-BR" sz="1000" spc="-1" strike="noStrike">
              <a:latin typeface="Arial"/>
            </a:endParaRPr>
          </a:p>
        </p:txBody>
      </p:sp>
      <p:sp>
        <p:nvSpPr>
          <p:cNvPr id="163" name="TextBox 25"/>
          <p:cNvSpPr/>
          <p:nvPr/>
        </p:nvSpPr>
        <p:spPr>
          <a:xfrm>
            <a:off x="4471560" y="4546800"/>
            <a:ext cx="1543680" cy="18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1200" spc="-1" strike="noStrike">
                <a:solidFill>
                  <a:srgbClr val="526878"/>
                </a:solidFill>
                <a:latin typeface="DejaVu Sans"/>
                <a:ea typeface="DejaVu Sans"/>
              </a:rPr>
              <a:t>Sim</a:t>
            </a:r>
            <a:endParaRPr b="0" lang="pt-BR" sz="1200" spc="-1" strike="noStrike">
              <a:latin typeface="Arial"/>
            </a:endParaRPr>
          </a:p>
        </p:txBody>
      </p:sp>
      <p:sp>
        <p:nvSpPr>
          <p:cNvPr id="164" name="Rectangle 26"/>
          <p:cNvSpPr/>
          <p:nvPr/>
        </p:nvSpPr>
        <p:spPr>
          <a:xfrm>
            <a:off x="5988960" y="4578840"/>
            <a:ext cx="794880" cy="127080"/>
          </a:xfrm>
          <a:prstGeom prst="rect">
            <a:avLst/>
          </a:prstGeom>
          <a:solidFill>
            <a:srgbClr val="dce5ea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65" name="Rectangle 27"/>
          <p:cNvSpPr/>
          <p:nvPr/>
        </p:nvSpPr>
        <p:spPr>
          <a:xfrm>
            <a:off x="5988960" y="4578840"/>
            <a:ext cx="35640" cy="127080"/>
          </a:xfrm>
          <a:prstGeom prst="rect">
            <a:avLst/>
          </a:prstGeom>
          <a:solidFill>
            <a:srgbClr val="007e98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66" name="TextBox 28"/>
          <p:cNvSpPr/>
          <p:nvPr/>
        </p:nvSpPr>
        <p:spPr>
          <a:xfrm>
            <a:off x="6839640" y="4546800"/>
            <a:ext cx="950040" cy="15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1000" spc="-1" strike="noStrike">
                <a:solidFill>
                  <a:srgbClr val="183447"/>
                </a:solidFill>
                <a:latin typeface="DejaVu Sans"/>
                <a:ea typeface="DejaVu Sans"/>
              </a:rPr>
              <a:t>3 · 3,2%</a:t>
            </a:r>
            <a:endParaRPr b="0" lang="pt-BR" sz="1000" spc="-1" strike="noStrike">
              <a:latin typeface="Arial"/>
            </a:endParaRPr>
          </a:p>
        </p:txBody>
      </p:sp>
      <p:sp>
        <p:nvSpPr>
          <p:cNvPr id="167" name="TextBox 29"/>
          <p:cNvSpPr/>
          <p:nvPr/>
        </p:nvSpPr>
        <p:spPr>
          <a:xfrm>
            <a:off x="4480560" y="5276160"/>
            <a:ext cx="3245040" cy="12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800" spc="-1" strike="noStrike">
                <a:solidFill>
                  <a:srgbClr val="526878"/>
                </a:solidFill>
                <a:latin typeface="DejaVu Sans"/>
                <a:ea typeface="DejaVu Sans"/>
              </a:rPr>
              <a:t>soma: 92 • % sobre base 94</a:t>
            </a:r>
            <a:endParaRPr b="0" lang="pt-BR" sz="800" spc="-1" strike="noStrike">
              <a:latin typeface="Arial"/>
            </a:endParaRPr>
          </a:p>
        </p:txBody>
      </p:sp>
      <p:sp>
        <p:nvSpPr>
          <p:cNvPr id="168" name="Rounded Rectangle 30"/>
          <p:cNvSpPr/>
          <p:nvPr/>
        </p:nvSpPr>
        <p:spPr>
          <a:xfrm>
            <a:off x="8165520" y="1993320"/>
            <a:ext cx="3519360" cy="3510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360">
            <a:solidFill>
              <a:srgbClr val="dce5e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69" name="TextBox 31"/>
          <p:cNvSpPr/>
          <p:nvPr/>
        </p:nvSpPr>
        <p:spPr>
          <a:xfrm>
            <a:off x="8312040" y="2103120"/>
            <a:ext cx="3245040" cy="21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1400" spc="-1" strike="noStrike">
                <a:solidFill>
                  <a:srgbClr val="112c42"/>
                </a:solidFill>
                <a:latin typeface="DejaVu Sans"/>
                <a:ea typeface="DejaVu Sans"/>
              </a:rPr>
              <a:t>Ferramentas utilizadas</a:t>
            </a:r>
            <a:endParaRPr b="0" lang="pt-BR" sz="1400" spc="-1" strike="noStrike">
              <a:latin typeface="Arial"/>
            </a:endParaRPr>
          </a:p>
        </p:txBody>
      </p:sp>
      <p:sp>
        <p:nvSpPr>
          <p:cNvPr id="170" name="TextBox 32"/>
          <p:cNvSpPr/>
          <p:nvPr/>
        </p:nvSpPr>
        <p:spPr>
          <a:xfrm>
            <a:off x="8302680" y="2525760"/>
            <a:ext cx="1543680" cy="16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1100" spc="-1" strike="noStrike">
                <a:solidFill>
                  <a:srgbClr val="526878"/>
                </a:solidFill>
                <a:latin typeface="DejaVu Sans"/>
                <a:ea typeface="DejaVu Sans"/>
              </a:rPr>
              <a:t>Office 365</a:t>
            </a:r>
            <a:endParaRPr b="0" lang="pt-BR" sz="1100" spc="-1" strike="noStrike">
              <a:latin typeface="Arial"/>
            </a:endParaRPr>
          </a:p>
        </p:txBody>
      </p:sp>
      <p:sp>
        <p:nvSpPr>
          <p:cNvPr id="171" name="Rectangle 33"/>
          <p:cNvSpPr/>
          <p:nvPr/>
        </p:nvSpPr>
        <p:spPr>
          <a:xfrm>
            <a:off x="9820080" y="2557800"/>
            <a:ext cx="794880" cy="127080"/>
          </a:xfrm>
          <a:prstGeom prst="rect">
            <a:avLst/>
          </a:prstGeom>
          <a:solidFill>
            <a:srgbClr val="dce5ea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72" name="Rectangle 34"/>
          <p:cNvSpPr/>
          <p:nvPr/>
        </p:nvSpPr>
        <p:spPr>
          <a:xfrm>
            <a:off x="9820080" y="2557800"/>
            <a:ext cx="794880" cy="127080"/>
          </a:xfrm>
          <a:prstGeom prst="rect">
            <a:avLst/>
          </a:prstGeom>
          <a:solidFill>
            <a:srgbClr val="007e98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73" name="TextBox 35"/>
          <p:cNvSpPr/>
          <p:nvPr/>
        </p:nvSpPr>
        <p:spPr>
          <a:xfrm>
            <a:off x="10671120" y="2525760"/>
            <a:ext cx="950040" cy="13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900" spc="-1" strike="noStrike">
                <a:solidFill>
                  <a:srgbClr val="183447"/>
                </a:solidFill>
                <a:latin typeface="DejaVu Sans"/>
                <a:ea typeface="DejaVu Sans"/>
              </a:rPr>
              <a:t>52 · 55,3%</a:t>
            </a:r>
            <a:endParaRPr b="0" lang="pt-BR" sz="900" spc="-1" strike="noStrike">
              <a:latin typeface="Arial"/>
            </a:endParaRPr>
          </a:p>
        </p:txBody>
      </p:sp>
      <p:sp>
        <p:nvSpPr>
          <p:cNvPr id="174" name="TextBox 36"/>
          <p:cNvSpPr/>
          <p:nvPr/>
        </p:nvSpPr>
        <p:spPr>
          <a:xfrm>
            <a:off x="8302680" y="2962800"/>
            <a:ext cx="1543680" cy="16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1100" spc="-1" strike="noStrike">
                <a:solidFill>
                  <a:srgbClr val="526878"/>
                </a:solidFill>
                <a:latin typeface="DejaVu Sans"/>
                <a:ea typeface="DejaVu Sans"/>
              </a:rPr>
              <a:t>Software próprio</a:t>
            </a:r>
            <a:endParaRPr b="0" lang="pt-BR" sz="1100" spc="-1" strike="noStrike">
              <a:latin typeface="Arial"/>
            </a:endParaRPr>
          </a:p>
        </p:txBody>
      </p:sp>
      <p:sp>
        <p:nvSpPr>
          <p:cNvPr id="175" name="Rectangle 37"/>
          <p:cNvSpPr/>
          <p:nvPr/>
        </p:nvSpPr>
        <p:spPr>
          <a:xfrm>
            <a:off x="9820080" y="2994840"/>
            <a:ext cx="794880" cy="127080"/>
          </a:xfrm>
          <a:prstGeom prst="rect">
            <a:avLst/>
          </a:prstGeom>
          <a:solidFill>
            <a:srgbClr val="dce5ea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76" name="Rectangle 38"/>
          <p:cNvSpPr/>
          <p:nvPr/>
        </p:nvSpPr>
        <p:spPr>
          <a:xfrm>
            <a:off x="9820080" y="2994840"/>
            <a:ext cx="397080" cy="127080"/>
          </a:xfrm>
          <a:prstGeom prst="rect">
            <a:avLst/>
          </a:prstGeom>
          <a:solidFill>
            <a:srgbClr val="007e98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77" name="TextBox 39"/>
          <p:cNvSpPr/>
          <p:nvPr/>
        </p:nvSpPr>
        <p:spPr>
          <a:xfrm>
            <a:off x="10671120" y="2962800"/>
            <a:ext cx="950040" cy="13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900" spc="-1" strike="noStrike">
                <a:solidFill>
                  <a:srgbClr val="183447"/>
                </a:solidFill>
                <a:latin typeface="DejaVu Sans"/>
                <a:ea typeface="DejaVu Sans"/>
              </a:rPr>
              <a:t>26 · 27,7%</a:t>
            </a:r>
            <a:endParaRPr b="0" lang="pt-BR" sz="900" spc="-1" strike="noStrike">
              <a:latin typeface="Arial"/>
            </a:endParaRPr>
          </a:p>
        </p:txBody>
      </p:sp>
      <p:sp>
        <p:nvSpPr>
          <p:cNvPr id="178" name="TextBox 40"/>
          <p:cNvSpPr/>
          <p:nvPr/>
        </p:nvSpPr>
        <p:spPr>
          <a:xfrm>
            <a:off x="8302680" y="3399840"/>
            <a:ext cx="1543680" cy="16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1100" spc="-1" strike="noStrike">
                <a:solidFill>
                  <a:srgbClr val="526878"/>
                </a:solidFill>
                <a:latin typeface="DejaVu Sans"/>
                <a:ea typeface="DejaVu Sans"/>
              </a:rPr>
              <a:t>Office 2021</a:t>
            </a:r>
            <a:endParaRPr b="0" lang="pt-BR" sz="1100" spc="-1" strike="noStrike">
              <a:latin typeface="Arial"/>
            </a:endParaRPr>
          </a:p>
        </p:txBody>
      </p:sp>
      <p:sp>
        <p:nvSpPr>
          <p:cNvPr id="179" name="Rectangle 41"/>
          <p:cNvSpPr/>
          <p:nvPr/>
        </p:nvSpPr>
        <p:spPr>
          <a:xfrm>
            <a:off x="9820080" y="3431880"/>
            <a:ext cx="794880" cy="127080"/>
          </a:xfrm>
          <a:prstGeom prst="rect">
            <a:avLst/>
          </a:prstGeom>
          <a:solidFill>
            <a:srgbClr val="dce5ea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80" name="Rectangle 42"/>
          <p:cNvSpPr/>
          <p:nvPr/>
        </p:nvSpPr>
        <p:spPr>
          <a:xfrm>
            <a:off x="9820080" y="3431880"/>
            <a:ext cx="289800" cy="127080"/>
          </a:xfrm>
          <a:prstGeom prst="rect">
            <a:avLst/>
          </a:prstGeom>
          <a:solidFill>
            <a:srgbClr val="007e98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81" name="TextBox 43"/>
          <p:cNvSpPr/>
          <p:nvPr/>
        </p:nvSpPr>
        <p:spPr>
          <a:xfrm>
            <a:off x="10671120" y="3399840"/>
            <a:ext cx="950040" cy="13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900" spc="-1" strike="noStrike">
                <a:solidFill>
                  <a:srgbClr val="183447"/>
                </a:solidFill>
                <a:latin typeface="DejaVu Sans"/>
                <a:ea typeface="DejaVu Sans"/>
              </a:rPr>
              <a:t>19 · 20,2%</a:t>
            </a:r>
            <a:endParaRPr b="0" lang="pt-BR" sz="900" spc="-1" strike="noStrike">
              <a:latin typeface="Arial"/>
            </a:endParaRPr>
          </a:p>
        </p:txBody>
      </p:sp>
      <p:sp>
        <p:nvSpPr>
          <p:cNvPr id="182" name="TextBox 44"/>
          <p:cNvSpPr/>
          <p:nvPr/>
        </p:nvSpPr>
        <p:spPr>
          <a:xfrm>
            <a:off x="8302680" y="3836880"/>
            <a:ext cx="1543680" cy="16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1100" spc="-1" strike="noStrike">
                <a:solidFill>
                  <a:srgbClr val="526878"/>
                </a:solidFill>
                <a:latin typeface="DejaVu Sans"/>
                <a:ea typeface="DejaVu Sans"/>
              </a:rPr>
              <a:t>Nenhum</a:t>
            </a:r>
            <a:endParaRPr b="0" lang="pt-BR" sz="1100" spc="-1" strike="noStrike">
              <a:latin typeface="Arial"/>
            </a:endParaRPr>
          </a:p>
        </p:txBody>
      </p:sp>
      <p:sp>
        <p:nvSpPr>
          <p:cNvPr id="183" name="Rectangle 45"/>
          <p:cNvSpPr/>
          <p:nvPr/>
        </p:nvSpPr>
        <p:spPr>
          <a:xfrm>
            <a:off x="9820080" y="3868920"/>
            <a:ext cx="794880" cy="127080"/>
          </a:xfrm>
          <a:prstGeom prst="rect">
            <a:avLst/>
          </a:prstGeom>
          <a:solidFill>
            <a:srgbClr val="dce5ea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84" name="Rectangle 46"/>
          <p:cNvSpPr/>
          <p:nvPr/>
        </p:nvSpPr>
        <p:spPr>
          <a:xfrm>
            <a:off x="9820080" y="3868920"/>
            <a:ext cx="259200" cy="127080"/>
          </a:xfrm>
          <a:prstGeom prst="rect">
            <a:avLst/>
          </a:prstGeom>
          <a:solidFill>
            <a:srgbClr val="007e98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85" name="TextBox 47"/>
          <p:cNvSpPr/>
          <p:nvPr/>
        </p:nvSpPr>
        <p:spPr>
          <a:xfrm>
            <a:off x="10671120" y="3836880"/>
            <a:ext cx="950040" cy="13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900" spc="-1" strike="noStrike">
                <a:solidFill>
                  <a:srgbClr val="183447"/>
                </a:solidFill>
                <a:latin typeface="DejaVu Sans"/>
                <a:ea typeface="DejaVu Sans"/>
              </a:rPr>
              <a:t>17 · 18,1%</a:t>
            </a:r>
            <a:endParaRPr b="0" lang="pt-BR" sz="900" spc="-1" strike="noStrike">
              <a:latin typeface="Arial"/>
            </a:endParaRPr>
          </a:p>
        </p:txBody>
      </p:sp>
      <p:sp>
        <p:nvSpPr>
          <p:cNvPr id="186" name="TextBox 48"/>
          <p:cNvSpPr/>
          <p:nvPr/>
        </p:nvSpPr>
        <p:spPr>
          <a:xfrm>
            <a:off x="8302680" y="4273920"/>
            <a:ext cx="1543680" cy="16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1100" spc="-1" strike="noStrike">
                <a:solidFill>
                  <a:srgbClr val="526878"/>
                </a:solidFill>
                <a:latin typeface="DejaVu Sans"/>
                <a:ea typeface="DejaVu Sans"/>
              </a:rPr>
              <a:t>Bloco de Notas</a:t>
            </a:r>
            <a:endParaRPr b="0" lang="pt-BR" sz="1100" spc="-1" strike="noStrike">
              <a:latin typeface="Arial"/>
            </a:endParaRPr>
          </a:p>
        </p:txBody>
      </p:sp>
      <p:sp>
        <p:nvSpPr>
          <p:cNvPr id="187" name="Rectangle 49"/>
          <p:cNvSpPr/>
          <p:nvPr/>
        </p:nvSpPr>
        <p:spPr>
          <a:xfrm>
            <a:off x="9820080" y="4305960"/>
            <a:ext cx="794880" cy="127080"/>
          </a:xfrm>
          <a:prstGeom prst="rect">
            <a:avLst/>
          </a:prstGeom>
          <a:solidFill>
            <a:srgbClr val="dce5ea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88" name="Rectangle 50"/>
          <p:cNvSpPr/>
          <p:nvPr/>
        </p:nvSpPr>
        <p:spPr>
          <a:xfrm>
            <a:off x="9820080" y="4305960"/>
            <a:ext cx="243720" cy="127080"/>
          </a:xfrm>
          <a:prstGeom prst="rect">
            <a:avLst/>
          </a:prstGeom>
          <a:solidFill>
            <a:srgbClr val="007e98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89" name="TextBox 51"/>
          <p:cNvSpPr/>
          <p:nvPr/>
        </p:nvSpPr>
        <p:spPr>
          <a:xfrm>
            <a:off x="10671120" y="4273920"/>
            <a:ext cx="950040" cy="13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900" spc="-1" strike="noStrike">
                <a:solidFill>
                  <a:srgbClr val="183447"/>
                </a:solidFill>
                <a:latin typeface="DejaVu Sans"/>
                <a:ea typeface="DejaVu Sans"/>
              </a:rPr>
              <a:t>16 · 17,0%</a:t>
            </a:r>
            <a:endParaRPr b="0" lang="pt-BR" sz="900" spc="-1" strike="noStrike">
              <a:latin typeface="Arial"/>
            </a:endParaRPr>
          </a:p>
        </p:txBody>
      </p:sp>
      <p:sp>
        <p:nvSpPr>
          <p:cNvPr id="190" name="TextBox 52"/>
          <p:cNvSpPr/>
          <p:nvPr/>
        </p:nvSpPr>
        <p:spPr>
          <a:xfrm>
            <a:off x="8302680" y="4710960"/>
            <a:ext cx="1543680" cy="16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1100" spc="-1" strike="noStrike">
                <a:solidFill>
                  <a:srgbClr val="526878"/>
                </a:solidFill>
                <a:latin typeface="DejaVu Sans"/>
                <a:ea typeface="DejaVu Sans"/>
              </a:rPr>
              <a:t>Notion</a:t>
            </a:r>
            <a:endParaRPr b="0" lang="pt-BR" sz="1100" spc="-1" strike="noStrike">
              <a:latin typeface="Arial"/>
            </a:endParaRPr>
          </a:p>
        </p:txBody>
      </p:sp>
      <p:sp>
        <p:nvSpPr>
          <p:cNvPr id="191" name="Rectangle 53"/>
          <p:cNvSpPr/>
          <p:nvPr/>
        </p:nvSpPr>
        <p:spPr>
          <a:xfrm>
            <a:off x="9820080" y="4743000"/>
            <a:ext cx="794880" cy="127080"/>
          </a:xfrm>
          <a:prstGeom prst="rect">
            <a:avLst/>
          </a:prstGeom>
          <a:solidFill>
            <a:srgbClr val="dce5ea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92" name="Rectangle 54"/>
          <p:cNvSpPr/>
          <p:nvPr/>
        </p:nvSpPr>
        <p:spPr>
          <a:xfrm>
            <a:off x="9820080" y="4743000"/>
            <a:ext cx="60120" cy="127080"/>
          </a:xfrm>
          <a:prstGeom prst="rect">
            <a:avLst/>
          </a:prstGeom>
          <a:solidFill>
            <a:srgbClr val="007e98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93" name="TextBox 55"/>
          <p:cNvSpPr/>
          <p:nvPr/>
        </p:nvSpPr>
        <p:spPr>
          <a:xfrm>
            <a:off x="10671120" y="4710960"/>
            <a:ext cx="950040" cy="13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900" spc="-1" strike="noStrike">
                <a:solidFill>
                  <a:srgbClr val="183447"/>
                </a:solidFill>
                <a:latin typeface="DejaVu Sans"/>
                <a:ea typeface="DejaVu Sans"/>
              </a:rPr>
              <a:t>4 · 4,3%</a:t>
            </a:r>
            <a:endParaRPr b="0" lang="pt-BR" sz="900" spc="-1" strike="noStrike">
              <a:latin typeface="Arial"/>
            </a:endParaRPr>
          </a:p>
        </p:txBody>
      </p:sp>
      <p:sp>
        <p:nvSpPr>
          <p:cNvPr id="194" name="TextBox 56"/>
          <p:cNvSpPr/>
          <p:nvPr/>
        </p:nvSpPr>
        <p:spPr>
          <a:xfrm>
            <a:off x="8312040" y="5276160"/>
            <a:ext cx="3245040" cy="12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800" spc="-1" strike="noStrike">
                <a:solidFill>
                  <a:srgbClr val="526878"/>
                </a:solidFill>
                <a:latin typeface="DejaVu Sans"/>
                <a:ea typeface="DejaVu Sans"/>
              </a:rPr>
              <a:t>menções não exclusivas • % de 94</a:t>
            </a:r>
            <a:endParaRPr b="0" lang="pt-BR" sz="800" spc="-1" strike="noStrike">
              <a:latin typeface="Arial"/>
            </a:endParaRPr>
          </a:p>
        </p:txBody>
      </p:sp>
      <p:sp>
        <p:nvSpPr>
          <p:cNvPr id="195" name="Rounded Rectangle 57"/>
          <p:cNvSpPr/>
          <p:nvPr/>
        </p:nvSpPr>
        <p:spPr>
          <a:xfrm>
            <a:off x="502920" y="5870520"/>
            <a:ext cx="11172960" cy="437760"/>
          </a:xfrm>
          <a:prstGeom prst="roundRect">
            <a:avLst>
              <a:gd name="adj" fmla="val 8000"/>
            </a:avLst>
          </a:prstGeom>
          <a:solidFill>
            <a:srgbClr val="112c42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96" name="TextBox 58"/>
          <p:cNvSpPr/>
          <p:nvPr/>
        </p:nvSpPr>
        <p:spPr>
          <a:xfrm>
            <a:off x="658440" y="5961960"/>
            <a:ext cx="10880280" cy="18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1200" spc="-1" strike="noStrike">
                <a:solidFill>
                  <a:srgbClr val="ffffff"/>
                </a:solidFill>
                <a:latin typeface="DejaVu Sans"/>
                <a:ea typeface="DejaVu Sans"/>
              </a:rPr>
              <a:t>52 menções a Office 365 → integração corporativa • perfil diverso → prioridade de usabilidade</a:t>
            </a:r>
            <a:endParaRPr b="0" lang="pt-BR" sz="1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3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Rectangle 1"/>
          <p:cNvSpPr/>
          <p:nvPr/>
        </p:nvSpPr>
        <p:spPr>
          <a:xfrm>
            <a:off x="0" y="0"/>
            <a:ext cx="12190680" cy="72000"/>
          </a:xfrm>
          <a:prstGeom prst="rect">
            <a:avLst/>
          </a:prstGeom>
          <a:solidFill>
            <a:srgbClr val="007e98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98" name="TextBox 2"/>
          <p:cNvSpPr/>
          <p:nvPr/>
        </p:nvSpPr>
        <p:spPr>
          <a:xfrm>
            <a:off x="502920" y="292680"/>
            <a:ext cx="10057320" cy="15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1000" spc="-1" strike="noStrike">
                <a:solidFill>
                  <a:srgbClr val="007e98"/>
                </a:solidFill>
                <a:latin typeface="DejaVu Sans"/>
                <a:ea typeface="DejaVu Sans"/>
              </a:rPr>
              <a:t>04 / ADOÇÃO E CONTEXTO</a:t>
            </a:r>
            <a:endParaRPr b="0" lang="pt-BR" sz="1000" spc="-1" strike="noStrike">
              <a:latin typeface="Arial"/>
            </a:endParaRPr>
          </a:p>
        </p:txBody>
      </p:sp>
      <p:sp>
        <p:nvSpPr>
          <p:cNvPr id="199" name="TextBox 3"/>
          <p:cNvSpPr/>
          <p:nvPr/>
        </p:nvSpPr>
        <p:spPr>
          <a:xfrm>
            <a:off x="502920" y="704160"/>
            <a:ext cx="11154600" cy="44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2900" spc="-1" strike="noStrike">
                <a:solidFill>
                  <a:srgbClr val="112c42"/>
                </a:solidFill>
                <a:latin typeface="DejaVu Sans"/>
                <a:ea typeface="DejaVu Sans"/>
              </a:rPr>
              <a:t>Uma solução dedicada precisa se adaptar à rotina</a:t>
            </a:r>
            <a:endParaRPr b="0" lang="pt-BR" sz="2900" spc="-1" strike="noStrike">
              <a:latin typeface="Arial"/>
            </a:endParaRPr>
          </a:p>
        </p:txBody>
      </p:sp>
      <p:sp>
        <p:nvSpPr>
          <p:cNvPr id="200" name="TextBox 4"/>
          <p:cNvSpPr/>
          <p:nvPr/>
        </p:nvSpPr>
        <p:spPr>
          <a:xfrm>
            <a:off x="521280" y="1362600"/>
            <a:ext cx="11063160" cy="19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1300" spc="-1" strike="noStrike">
                <a:solidFill>
                  <a:srgbClr val="526878"/>
                </a:solidFill>
                <a:latin typeface="DejaVu Sans"/>
                <a:ea typeface="DejaVu Sans"/>
              </a:rPr>
              <a:t>43 concordam com a necessidade; 33 dizem “talvez” → 80,9% de apoio ou abertura, sem inferir compra.</a:t>
            </a:r>
            <a:endParaRPr b="0" lang="pt-BR" sz="1300" spc="-1" strike="noStrike">
              <a:latin typeface="Arial"/>
            </a:endParaRPr>
          </a:p>
        </p:txBody>
      </p:sp>
      <p:sp>
        <p:nvSpPr>
          <p:cNvPr id="201" name="TextBox 5"/>
          <p:cNvSpPr/>
          <p:nvPr/>
        </p:nvSpPr>
        <p:spPr>
          <a:xfrm>
            <a:off x="502920" y="6510600"/>
            <a:ext cx="10514520" cy="12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800" spc="-1" strike="noStrike">
                <a:solidFill>
                  <a:srgbClr val="526878"/>
                </a:solidFill>
                <a:latin typeface="DejaVu Sans"/>
                <a:ea typeface="DejaVu Sans"/>
              </a:rPr>
              <a:t>Fonte: pesquisa SPOT (2026), figuras 4–8 e 13. Base 94; alternativas abreviadas; ver transcrição no guia.</a:t>
            </a:r>
            <a:endParaRPr b="0" lang="pt-BR" sz="800" spc="-1" strike="noStrike">
              <a:latin typeface="Arial"/>
            </a:endParaRPr>
          </a:p>
        </p:txBody>
      </p:sp>
      <p:sp>
        <p:nvSpPr>
          <p:cNvPr id="202" name="TextBox 6"/>
          <p:cNvSpPr/>
          <p:nvPr/>
        </p:nvSpPr>
        <p:spPr>
          <a:xfrm>
            <a:off x="11018520" y="6483240"/>
            <a:ext cx="666360" cy="15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 algn="r"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1000" spc="-1" strike="noStrike">
                <a:solidFill>
                  <a:srgbClr val="526878"/>
                </a:solidFill>
                <a:latin typeface="DejaVu Sans"/>
                <a:ea typeface="DejaVu Sans"/>
              </a:rPr>
              <a:t>05 / 11</a:t>
            </a:r>
            <a:endParaRPr b="0" lang="pt-BR" sz="1000" spc="-1" strike="noStrike">
              <a:latin typeface="Arial"/>
            </a:endParaRPr>
          </a:p>
        </p:txBody>
      </p:sp>
      <p:sp>
        <p:nvSpPr>
          <p:cNvPr id="203" name="Rounded Rectangle 7"/>
          <p:cNvSpPr/>
          <p:nvPr/>
        </p:nvSpPr>
        <p:spPr>
          <a:xfrm>
            <a:off x="502920" y="1920240"/>
            <a:ext cx="3537720" cy="1900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360">
            <a:solidFill>
              <a:srgbClr val="dce5e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04" name="TextBox 8"/>
          <p:cNvSpPr/>
          <p:nvPr/>
        </p:nvSpPr>
        <p:spPr>
          <a:xfrm>
            <a:off x="649080" y="2030040"/>
            <a:ext cx="3263400" cy="42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1400" spc="-1" strike="noStrike">
                <a:solidFill>
                  <a:srgbClr val="112c42"/>
                </a:solidFill>
                <a:latin typeface="DejaVu Sans"/>
                <a:ea typeface="DejaVu Sans"/>
              </a:rPr>
              <a:t>Software de projetos na empresa</a:t>
            </a:r>
            <a:endParaRPr b="0" lang="pt-BR" sz="1400" spc="-1" strike="noStrike">
              <a:latin typeface="Arial"/>
            </a:endParaRPr>
          </a:p>
        </p:txBody>
      </p:sp>
      <p:sp>
        <p:nvSpPr>
          <p:cNvPr id="205" name="TextBox 9"/>
          <p:cNvSpPr/>
          <p:nvPr/>
        </p:nvSpPr>
        <p:spPr>
          <a:xfrm>
            <a:off x="640080" y="2669400"/>
            <a:ext cx="1552320" cy="15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1000" spc="-1" strike="noStrike">
                <a:solidFill>
                  <a:srgbClr val="526878"/>
                </a:solidFill>
                <a:latin typeface="DejaVu Sans"/>
                <a:ea typeface="DejaVu Sans"/>
              </a:rPr>
              <a:t>Não possui</a:t>
            </a:r>
            <a:endParaRPr b="0" lang="pt-BR" sz="1000" spc="-1" strike="noStrike">
              <a:latin typeface="Arial"/>
            </a:endParaRPr>
          </a:p>
        </p:txBody>
      </p:sp>
      <p:sp>
        <p:nvSpPr>
          <p:cNvPr id="206" name="Rectangle 10"/>
          <p:cNvSpPr/>
          <p:nvPr/>
        </p:nvSpPr>
        <p:spPr>
          <a:xfrm>
            <a:off x="2166120" y="2701440"/>
            <a:ext cx="804600" cy="127080"/>
          </a:xfrm>
          <a:prstGeom prst="rect">
            <a:avLst/>
          </a:prstGeom>
          <a:solidFill>
            <a:srgbClr val="dce5ea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07" name="Rectangle 11"/>
          <p:cNvSpPr/>
          <p:nvPr/>
        </p:nvSpPr>
        <p:spPr>
          <a:xfrm>
            <a:off x="2166120" y="2701440"/>
            <a:ext cx="804600" cy="127080"/>
          </a:xfrm>
          <a:prstGeom prst="rect">
            <a:avLst/>
          </a:prstGeom>
          <a:solidFill>
            <a:srgbClr val="007e98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08" name="TextBox 12"/>
          <p:cNvSpPr/>
          <p:nvPr/>
        </p:nvSpPr>
        <p:spPr>
          <a:xfrm>
            <a:off x="3026520" y="2669400"/>
            <a:ext cx="950040" cy="12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800" spc="-1" strike="noStrike">
                <a:solidFill>
                  <a:srgbClr val="183447"/>
                </a:solidFill>
                <a:latin typeface="DejaVu Sans"/>
                <a:ea typeface="DejaVu Sans"/>
              </a:rPr>
              <a:t>33 · 35,1%</a:t>
            </a:r>
            <a:endParaRPr b="0" lang="pt-BR" sz="800" spc="-1" strike="noStrike">
              <a:latin typeface="Arial"/>
            </a:endParaRPr>
          </a:p>
        </p:txBody>
      </p:sp>
      <p:sp>
        <p:nvSpPr>
          <p:cNvPr id="209" name="TextBox 13"/>
          <p:cNvSpPr/>
          <p:nvPr/>
        </p:nvSpPr>
        <p:spPr>
          <a:xfrm>
            <a:off x="640080" y="2934720"/>
            <a:ext cx="1552320" cy="15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1000" spc="-1" strike="noStrike">
                <a:solidFill>
                  <a:srgbClr val="526878"/>
                </a:solidFill>
                <a:latin typeface="DejaVu Sans"/>
                <a:ea typeface="DejaVu Sans"/>
              </a:rPr>
              <a:t>Possui</a:t>
            </a:r>
            <a:endParaRPr b="0" lang="pt-BR" sz="1000" spc="-1" strike="noStrike">
              <a:latin typeface="Arial"/>
            </a:endParaRPr>
          </a:p>
        </p:txBody>
      </p:sp>
      <p:sp>
        <p:nvSpPr>
          <p:cNvPr id="210" name="Rectangle 14"/>
          <p:cNvSpPr/>
          <p:nvPr/>
        </p:nvSpPr>
        <p:spPr>
          <a:xfrm>
            <a:off x="2166120" y="2966760"/>
            <a:ext cx="804600" cy="127080"/>
          </a:xfrm>
          <a:prstGeom prst="rect">
            <a:avLst/>
          </a:prstGeom>
          <a:solidFill>
            <a:srgbClr val="dce5ea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11" name="Rectangle 15"/>
          <p:cNvSpPr/>
          <p:nvPr/>
        </p:nvSpPr>
        <p:spPr>
          <a:xfrm>
            <a:off x="2166120" y="2966760"/>
            <a:ext cx="780120" cy="127080"/>
          </a:xfrm>
          <a:prstGeom prst="rect">
            <a:avLst/>
          </a:prstGeom>
          <a:solidFill>
            <a:srgbClr val="007e98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12" name="TextBox 16"/>
          <p:cNvSpPr/>
          <p:nvPr/>
        </p:nvSpPr>
        <p:spPr>
          <a:xfrm>
            <a:off x="3026520" y="2934720"/>
            <a:ext cx="950040" cy="12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800" spc="-1" strike="noStrike">
                <a:solidFill>
                  <a:srgbClr val="183447"/>
                </a:solidFill>
                <a:latin typeface="DejaVu Sans"/>
                <a:ea typeface="DejaVu Sans"/>
              </a:rPr>
              <a:t>32 · 34,0%</a:t>
            </a:r>
            <a:endParaRPr b="0" lang="pt-BR" sz="800" spc="-1" strike="noStrike">
              <a:latin typeface="Arial"/>
            </a:endParaRPr>
          </a:p>
        </p:txBody>
      </p:sp>
      <p:sp>
        <p:nvSpPr>
          <p:cNvPr id="213" name="TextBox 17"/>
          <p:cNvSpPr/>
          <p:nvPr/>
        </p:nvSpPr>
        <p:spPr>
          <a:xfrm>
            <a:off x="640080" y="3200400"/>
            <a:ext cx="1552320" cy="15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1000" spc="-1" strike="noStrike">
                <a:solidFill>
                  <a:srgbClr val="526878"/>
                </a:solidFill>
                <a:latin typeface="DejaVu Sans"/>
                <a:ea typeface="DejaVu Sans"/>
              </a:rPr>
              <a:t>Sem foco em projetos</a:t>
            </a:r>
            <a:endParaRPr b="0" lang="pt-BR" sz="1000" spc="-1" strike="noStrike">
              <a:latin typeface="Arial"/>
            </a:endParaRPr>
          </a:p>
        </p:txBody>
      </p:sp>
      <p:sp>
        <p:nvSpPr>
          <p:cNvPr id="214" name="Rectangle 18"/>
          <p:cNvSpPr/>
          <p:nvPr/>
        </p:nvSpPr>
        <p:spPr>
          <a:xfrm>
            <a:off x="2166120" y="3232080"/>
            <a:ext cx="804600" cy="127080"/>
          </a:xfrm>
          <a:prstGeom prst="rect">
            <a:avLst/>
          </a:prstGeom>
          <a:solidFill>
            <a:srgbClr val="dce5ea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15" name="Rectangle 19"/>
          <p:cNvSpPr/>
          <p:nvPr/>
        </p:nvSpPr>
        <p:spPr>
          <a:xfrm>
            <a:off x="2166120" y="3232080"/>
            <a:ext cx="658080" cy="127080"/>
          </a:xfrm>
          <a:prstGeom prst="rect">
            <a:avLst/>
          </a:prstGeom>
          <a:solidFill>
            <a:srgbClr val="007e98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16" name="TextBox 20"/>
          <p:cNvSpPr/>
          <p:nvPr/>
        </p:nvSpPr>
        <p:spPr>
          <a:xfrm>
            <a:off x="3026520" y="3200400"/>
            <a:ext cx="950040" cy="12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800" spc="-1" strike="noStrike">
                <a:solidFill>
                  <a:srgbClr val="183447"/>
                </a:solidFill>
                <a:latin typeface="DejaVu Sans"/>
                <a:ea typeface="DejaVu Sans"/>
              </a:rPr>
              <a:t>27 · 28,7%</a:t>
            </a:r>
            <a:endParaRPr b="0" lang="pt-BR" sz="800" spc="-1" strike="noStrike">
              <a:latin typeface="Arial"/>
            </a:endParaRPr>
          </a:p>
        </p:txBody>
      </p:sp>
      <p:sp>
        <p:nvSpPr>
          <p:cNvPr id="217" name="TextBox 21"/>
          <p:cNvSpPr/>
          <p:nvPr/>
        </p:nvSpPr>
        <p:spPr>
          <a:xfrm>
            <a:off x="649080" y="3593520"/>
            <a:ext cx="3263400" cy="12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800" spc="-1" strike="noStrike">
                <a:solidFill>
                  <a:srgbClr val="526878"/>
                </a:solidFill>
                <a:latin typeface="DejaVu Sans"/>
                <a:ea typeface="DejaVu Sans"/>
              </a:rPr>
              <a:t>soma: 92 • % sobre base 94</a:t>
            </a:r>
            <a:endParaRPr b="0" lang="pt-BR" sz="800" spc="-1" strike="noStrike">
              <a:latin typeface="Arial"/>
            </a:endParaRPr>
          </a:p>
        </p:txBody>
      </p:sp>
      <p:sp>
        <p:nvSpPr>
          <p:cNvPr id="218" name="Rounded Rectangle 22"/>
          <p:cNvSpPr/>
          <p:nvPr/>
        </p:nvSpPr>
        <p:spPr>
          <a:xfrm>
            <a:off x="4316040" y="1920240"/>
            <a:ext cx="3537720" cy="1900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360">
            <a:solidFill>
              <a:srgbClr val="dce5e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19" name="TextBox 23"/>
          <p:cNvSpPr/>
          <p:nvPr/>
        </p:nvSpPr>
        <p:spPr>
          <a:xfrm>
            <a:off x="4443840" y="2030040"/>
            <a:ext cx="3281760" cy="19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1300" spc="-1" strike="noStrike">
                <a:solidFill>
                  <a:srgbClr val="112c42"/>
                </a:solidFill>
                <a:latin typeface="DejaVu Sans"/>
                <a:ea typeface="DejaVu Sans"/>
              </a:rPr>
              <a:t>Software dedicado — necessidade</a:t>
            </a:r>
            <a:endParaRPr b="0" lang="pt-BR" sz="1300" spc="-1" strike="noStrike">
              <a:latin typeface="Arial"/>
            </a:endParaRPr>
          </a:p>
        </p:txBody>
      </p:sp>
      <p:graphicFrame>
        <p:nvGraphicFramePr>
          <p:cNvPr id="220" name="Chart 24"/>
          <p:cNvGraphicFramePr/>
          <p:nvPr/>
        </p:nvGraphicFramePr>
        <p:xfrm>
          <a:off x="4361760" y="2386440"/>
          <a:ext cx="1306440" cy="12243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221" name="Rectangle 25"/>
          <p:cNvSpPr/>
          <p:nvPr/>
        </p:nvSpPr>
        <p:spPr>
          <a:xfrm>
            <a:off x="5724000" y="2455200"/>
            <a:ext cx="90360" cy="90360"/>
          </a:xfrm>
          <a:prstGeom prst="rect">
            <a:avLst/>
          </a:prstGeom>
          <a:solidFill>
            <a:srgbClr val="008b79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22" name="TextBox 26"/>
          <p:cNvSpPr/>
          <p:nvPr/>
        </p:nvSpPr>
        <p:spPr>
          <a:xfrm>
            <a:off x="5870520" y="2432160"/>
            <a:ext cx="1882440" cy="13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900" spc="-1" strike="noStrike">
                <a:solidFill>
                  <a:srgbClr val="183447"/>
                </a:solidFill>
                <a:latin typeface="DejaVu Sans"/>
                <a:ea typeface="DejaVu Sans"/>
              </a:rPr>
              <a:t>Concordam: 45,7% (43)</a:t>
            </a:r>
            <a:endParaRPr b="0" lang="pt-BR" sz="900" spc="-1" strike="noStrike">
              <a:latin typeface="Arial"/>
            </a:endParaRPr>
          </a:p>
        </p:txBody>
      </p:sp>
      <p:sp>
        <p:nvSpPr>
          <p:cNvPr id="223" name="Rectangle 27"/>
          <p:cNvSpPr/>
          <p:nvPr/>
        </p:nvSpPr>
        <p:spPr>
          <a:xfrm>
            <a:off x="5724000" y="2720520"/>
            <a:ext cx="90360" cy="90360"/>
          </a:xfrm>
          <a:prstGeom prst="rect">
            <a:avLst/>
          </a:prstGeom>
          <a:solidFill>
            <a:srgbClr val="007e98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24" name="TextBox 28"/>
          <p:cNvSpPr/>
          <p:nvPr/>
        </p:nvSpPr>
        <p:spPr>
          <a:xfrm>
            <a:off x="5870520" y="2697480"/>
            <a:ext cx="1882440" cy="13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900" spc="-1" strike="noStrike">
                <a:solidFill>
                  <a:srgbClr val="183447"/>
                </a:solidFill>
                <a:latin typeface="DejaVu Sans"/>
                <a:ea typeface="DejaVu Sans"/>
              </a:rPr>
              <a:t>Talvez: 35,1% (33)</a:t>
            </a:r>
            <a:endParaRPr b="0" lang="pt-BR" sz="900" spc="-1" strike="noStrike">
              <a:latin typeface="Arial"/>
            </a:endParaRPr>
          </a:p>
        </p:txBody>
      </p:sp>
      <p:sp>
        <p:nvSpPr>
          <p:cNvPr id="225" name="Rectangle 29"/>
          <p:cNvSpPr/>
          <p:nvPr/>
        </p:nvSpPr>
        <p:spPr>
          <a:xfrm>
            <a:off x="5724000" y="2985480"/>
            <a:ext cx="90360" cy="90360"/>
          </a:xfrm>
          <a:prstGeom prst="rect">
            <a:avLst/>
          </a:prstGeom>
          <a:solidFill>
            <a:srgbClr val="af6714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26" name="TextBox 30"/>
          <p:cNvSpPr/>
          <p:nvPr/>
        </p:nvSpPr>
        <p:spPr>
          <a:xfrm>
            <a:off x="5870520" y="2962800"/>
            <a:ext cx="1882440" cy="13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900" spc="-1" strike="noStrike">
                <a:solidFill>
                  <a:srgbClr val="183447"/>
                </a:solidFill>
                <a:latin typeface="DejaVu Sans"/>
                <a:ea typeface="DejaVu Sans"/>
              </a:rPr>
              <a:t>Não: 14,9% (14)</a:t>
            </a:r>
            <a:endParaRPr b="0" lang="pt-BR" sz="900" spc="-1" strike="noStrike">
              <a:latin typeface="Arial"/>
            </a:endParaRPr>
          </a:p>
        </p:txBody>
      </p:sp>
      <p:sp>
        <p:nvSpPr>
          <p:cNvPr id="227" name="Rectangle 31"/>
          <p:cNvSpPr/>
          <p:nvPr/>
        </p:nvSpPr>
        <p:spPr>
          <a:xfrm>
            <a:off x="5724000" y="3250800"/>
            <a:ext cx="90360" cy="90360"/>
          </a:xfrm>
          <a:prstGeom prst="rect">
            <a:avLst/>
          </a:prstGeom>
          <a:solidFill>
            <a:srgbClr val="a5b5bf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28" name="TextBox 32"/>
          <p:cNvSpPr/>
          <p:nvPr/>
        </p:nvSpPr>
        <p:spPr>
          <a:xfrm>
            <a:off x="5870520" y="3227760"/>
            <a:ext cx="1882440" cy="13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900" spc="-1" strike="noStrike">
                <a:solidFill>
                  <a:srgbClr val="183447"/>
                </a:solidFill>
                <a:latin typeface="DejaVu Sans"/>
                <a:ea typeface="DejaVu Sans"/>
              </a:rPr>
              <a:t>Diferença documental: 4,3% (4)</a:t>
            </a:r>
            <a:endParaRPr b="0" lang="pt-BR" sz="900" spc="-1" strike="noStrike">
              <a:latin typeface="Arial"/>
            </a:endParaRPr>
          </a:p>
        </p:txBody>
      </p:sp>
      <p:sp>
        <p:nvSpPr>
          <p:cNvPr id="229" name="TextBox 33"/>
          <p:cNvSpPr/>
          <p:nvPr/>
        </p:nvSpPr>
        <p:spPr>
          <a:xfrm>
            <a:off x="4443840" y="3611880"/>
            <a:ext cx="3281760" cy="11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750" spc="-1" strike="noStrike">
                <a:solidFill>
                  <a:srgbClr val="526878"/>
                </a:solidFill>
                <a:latin typeface="DejaVu Sans"/>
                <a:ea typeface="DejaVu Sans"/>
              </a:rPr>
              <a:t>Base 94; diferença de 4 não discriminada na fonte.</a:t>
            </a:r>
            <a:endParaRPr b="0" lang="pt-BR" sz="750" spc="-1" strike="noStrike">
              <a:latin typeface="Arial"/>
            </a:endParaRPr>
          </a:p>
        </p:txBody>
      </p:sp>
      <p:sp>
        <p:nvSpPr>
          <p:cNvPr id="230" name="Rounded Rectangle 34"/>
          <p:cNvSpPr/>
          <p:nvPr/>
        </p:nvSpPr>
        <p:spPr>
          <a:xfrm>
            <a:off x="8129160" y="1920240"/>
            <a:ext cx="3537720" cy="1900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360">
            <a:solidFill>
              <a:srgbClr val="dce5e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31" name="TextBox 35"/>
          <p:cNvSpPr/>
          <p:nvPr/>
        </p:nvSpPr>
        <p:spPr>
          <a:xfrm>
            <a:off x="8275320" y="2030040"/>
            <a:ext cx="3263400" cy="21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1400" spc="-1" strike="noStrike">
                <a:solidFill>
                  <a:srgbClr val="112c42"/>
                </a:solidFill>
                <a:latin typeface="DejaVu Sans"/>
                <a:ea typeface="DejaVu Sans"/>
              </a:rPr>
              <a:t>Satisfação com a solução atual</a:t>
            </a:r>
            <a:endParaRPr b="0" lang="pt-BR" sz="1400" spc="-1" strike="noStrike">
              <a:latin typeface="Arial"/>
            </a:endParaRPr>
          </a:p>
        </p:txBody>
      </p:sp>
      <p:sp>
        <p:nvSpPr>
          <p:cNvPr id="232" name="TextBox 36"/>
          <p:cNvSpPr/>
          <p:nvPr/>
        </p:nvSpPr>
        <p:spPr>
          <a:xfrm>
            <a:off x="8266320" y="2669400"/>
            <a:ext cx="1552320" cy="13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900" spc="-1" strike="noStrike">
                <a:solidFill>
                  <a:srgbClr val="526878"/>
                </a:solidFill>
                <a:latin typeface="DejaVu Sans"/>
                <a:ea typeface="DejaVu Sans"/>
              </a:rPr>
              <a:t>Pode melhorar</a:t>
            </a:r>
            <a:endParaRPr b="0" lang="pt-BR" sz="900" spc="-1" strike="noStrike">
              <a:latin typeface="Arial"/>
            </a:endParaRPr>
          </a:p>
        </p:txBody>
      </p:sp>
      <p:sp>
        <p:nvSpPr>
          <p:cNvPr id="233" name="Rectangle 37"/>
          <p:cNvSpPr/>
          <p:nvPr/>
        </p:nvSpPr>
        <p:spPr>
          <a:xfrm>
            <a:off x="9792360" y="2701440"/>
            <a:ext cx="804600" cy="127080"/>
          </a:xfrm>
          <a:prstGeom prst="rect">
            <a:avLst/>
          </a:prstGeom>
          <a:solidFill>
            <a:srgbClr val="dce5ea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34" name="Rectangle 38"/>
          <p:cNvSpPr/>
          <p:nvPr/>
        </p:nvSpPr>
        <p:spPr>
          <a:xfrm>
            <a:off x="9792360" y="2701440"/>
            <a:ext cx="804600" cy="127080"/>
          </a:xfrm>
          <a:prstGeom prst="rect">
            <a:avLst/>
          </a:prstGeom>
          <a:solidFill>
            <a:srgbClr val="007e98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35" name="TextBox 39"/>
          <p:cNvSpPr/>
          <p:nvPr/>
        </p:nvSpPr>
        <p:spPr>
          <a:xfrm>
            <a:off x="10652760" y="2669400"/>
            <a:ext cx="950040" cy="12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800" spc="-1" strike="noStrike">
                <a:solidFill>
                  <a:srgbClr val="183447"/>
                </a:solidFill>
                <a:latin typeface="DejaVu Sans"/>
                <a:ea typeface="DejaVu Sans"/>
              </a:rPr>
              <a:t>30 · 31,9%</a:t>
            </a:r>
            <a:endParaRPr b="0" lang="pt-BR" sz="800" spc="-1" strike="noStrike">
              <a:latin typeface="Arial"/>
            </a:endParaRPr>
          </a:p>
        </p:txBody>
      </p:sp>
      <p:sp>
        <p:nvSpPr>
          <p:cNvPr id="236" name="TextBox 40"/>
          <p:cNvSpPr/>
          <p:nvPr/>
        </p:nvSpPr>
        <p:spPr>
          <a:xfrm>
            <a:off x="8266320" y="2868480"/>
            <a:ext cx="1552320" cy="13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900" spc="-1" strike="noStrike">
                <a:solidFill>
                  <a:srgbClr val="526878"/>
                </a:solidFill>
                <a:latin typeface="DejaVu Sans"/>
                <a:ea typeface="DejaVu Sans"/>
              </a:rPr>
              <a:t>Não temos</a:t>
            </a:r>
            <a:endParaRPr b="0" lang="pt-BR" sz="900" spc="-1" strike="noStrike">
              <a:latin typeface="Arial"/>
            </a:endParaRPr>
          </a:p>
        </p:txBody>
      </p:sp>
      <p:sp>
        <p:nvSpPr>
          <p:cNvPr id="237" name="Rectangle 41"/>
          <p:cNvSpPr/>
          <p:nvPr/>
        </p:nvSpPr>
        <p:spPr>
          <a:xfrm>
            <a:off x="9792360" y="2900520"/>
            <a:ext cx="804600" cy="127080"/>
          </a:xfrm>
          <a:prstGeom prst="rect">
            <a:avLst/>
          </a:prstGeom>
          <a:solidFill>
            <a:srgbClr val="dce5ea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38" name="Rectangle 42"/>
          <p:cNvSpPr/>
          <p:nvPr/>
        </p:nvSpPr>
        <p:spPr>
          <a:xfrm>
            <a:off x="9792360" y="2900520"/>
            <a:ext cx="777600" cy="127080"/>
          </a:xfrm>
          <a:prstGeom prst="rect">
            <a:avLst/>
          </a:prstGeom>
          <a:solidFill>
            <a:srgbClr val="007e98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39" name="TextBox 43"/>
          <p:cNvSpPr/>
          <p:nvPr/>
        </p:nvSpPr>
        <p:spPr>
          <a:xfrm>
            <a:off x="10652760" y="2868480"/>
            <a:ext cx="950040" cy="12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800" spc="-1" strike="noStrike">
                <a:solidFill>
                  <a:srgbClr val="183447"/>
                </a:solidFill>
                <a:latin typeface="DejaVu Sans"/>
                <a:ea typeface="DejaVu Sans"/>
              </a:rPr>
              <a:t>29 · 30,9%</a:t>
            </a:r>
            <a:endParaRPr b="0" lang="pt-BR" sz="800" spc="-1" strike="noStrike">
              <a:latin typeface="Arial"/>
            </a:endParaRPr>
          </a:p>
        </p:txBody>
      </p:sp>
      <p:sp>
        <p:nvSpPr>
          <p:cNvPr id="240" name="TextBox 44"/>
          <p:cNvSpPr/>
          <p:nvPr/>
        </p:nvSpPr>
        <p:spPr>
          <a:xfrm>
            <a:off x="8266320" y="3067560"/>
            <a:ext cx="1552320" cy="13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900" spc="-1" strike="noStrike">
                <a:solidFill>
                  <a:srgbClr val="526878"/>
                </a:solidFill>
                <a:latin typeface="DejaVu Sans"/>
                <a:ea typeface="DejaVu Sans"/>
              </a:rPr>
              <a:t>Atende</a:t>
            </a:r>
            <a:endParaRPr b="0" lang="pt-BR" sz="900" spc="-1" strike="noStrike">
              <a:latin typeface="Arial"/>
            </a:endParaRPr>
          </a:p>
        </p:txBody>
      </p:sp>
      <p:sp>
        <p:nvSpPr>
          <p:cNvPr id="241" name="Rectangle 45"/>
          <p:cNvSpPr/>
          <p:nvPr/>
        </p:nvSpPr>
        <p:spPr>
          <a:xfrm>
            <a:off x="9792360" y="3099600"/>
            <a:ext cx="804600" cy="127080"/>
          </a:xfrm>
          <a:prstGeom prst="rect">
            <a:avLst/>
          </a:prstGeom>
          <a:solidFill>
            <a:srgbClr val="dce5ea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42" name="Rectangle 46"/>
          <p:cNvSpPr/>
          <p:nvPr/>
        </p:nvSpPr>
        <p:spPr>
          <a:xfrm>
            <a:off x="9792360" y="3099600"/>
            <a:ext cx="616680" cy="127080"/>
          </a:xfrm>
          <a:prstGeom prst="rect">
            <a:avLst/>
          </a:prstGeom>
          <a:solidFill>
            <a:srgbClr val="007e98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43" name="TextBox 47"/>
          <p:cNvSpPr/>
          <p:nvPr/>
        </p:nvSpPr>
        <p:spPr>
          <a:xfrm>
            <a:off x="10652760" y="3067560"/>
            <a:ext cx="950040" cy="12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800" spc="-1" strike="noStrike">
                <a:solidFill>
                  <a:srgbClr val="183447"/>
                </a:solidFill>
                <a:latin typeface="DejaVu Sans"/>
                <a:ea typeface="DejaVu Sans"/>
              </a:rPr>
              <a:t>23 · 24,5%</a:t>
            </a:r>
            <a:endParaRPr b="0" lang="pt-BR" sz="800" spc="-1" strike="noStrike">
              <a:latin typeface="Arial"/>
            </a:endParaRPr>
          </a:p>
        </p:txBody>
      </p:sp>
      <p:sp>
        <p:nvSpPr>
          <p:cNvPr id="244" name="TextBox 48"/>
          <p:cNvSpPr/>
          <p:nvPr/>
        </p:nvSpPr>
        <p:spPr>
          <a:xfrm>
            <a:off x="8266320" y="3266640"/>
            <a:ext cx="1552320" cy="13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900" spc="-1" strike="noStrike">
                <a:solidFill>
                  <a:srgbClr val="526878"/>
                </a:solidFill>
                <a:latin typeface="DejaVu Sans"/>
                <a:ea typeface="DejaVu Sans"/>
              </a:rPr>
              <a:t>Não é usado</a:t>
            </a:r>
            <a:endParaRPr b="0" lang="pt-BR" sz="900" spc="-1" strike="noStrike">
              <a:latin typeface="Arial"/>
            </a:endParaRPr>
          </a:p>
        </p:txBody>
      </p:sp>
      <p:sp>
        <p:nvSpPr>
          <p:cNvPr id="245" name="Rectangle 49"/>
          <p:cNvSpPr/>
          <p:nvPr/>
        </p:nvSpPr>
        <p:spPr>
          <a:xfrm>
            <a:off x="9792360" y="3298680"/>
            <a:ext cx="804600" cy="127080"/>
          </a:xfrm>
          <a:prstGeom prst="rect">
            <a:avLst/>
          </a:prstGeom>
          <a:solidFill>
            <a:srgbClr val="dce5ea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46" name="Rectangle 50"/>
          <p:cNvSpPr/>
          <p:nvPr/>
        </p:nvSpPr>
        <p:spPr>
          <a:xfrm>
            <a:off x="9792360" y="3298680"/>
            <a:ext cx="186840" cy="127080"/>
          </a:xfrm>
          <a:prstGeom prst="rect">
            <a:avLst/>
          </a:prstGeom>
          <a:solidFill>
            <a:srgbClr val="007e98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47" name="TextBox 51"/>
          <p:cNvSpPr/>
          <p:nvPr/>
        </p:nvSpPr>
        <p:spPr>
          <a:xfrm>
            <a:off x="10652760" y="3266640"/>
            <a:ext cx="950040" cy="12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800" spc="-1" strike="noStrike">
                <a:solidFill>
                  <a:srgbClr val="183447"/>
                </a:solidFill>
                <a:latin typeface="DejaVu Sans"/>
                <a:ea typeface="DejaVu Sans"/>
              </a:rPr>
              <a:t>7 · 7,4%</a:t>
            </a:r>
            <a:endParaRPr b="0" lang="pt-BR" sz="800" spc="-1" strike="noStrike">
              <a:latin typeface="Arial"/>
            </a:endParaRPr>
          </a:p>
        </p:txBody>
      </p:sp>
      <p:sp>
        <p:nvSpPr>
          <p:cNvPr id="248" name="TextBox 52"/>
          <p:cNvSpPr/>
          <p:nvPr/>
        </p:nvSpPr>
        <p:spPr>
          <a:xfrm>
            <a:off x="8275320" y="3593520"/>
            <a:ext cx="3263400" cy="12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800" spc="-1" strike="noStrike">
                <a:solidFill>
                  <a:srgbClr val="526878"/>
                </a:solidFill>
                <a:latin typeface="DejaVu Sans"/>
                <a:ea typeface="DejaVu Sans"/>
              </a:rPr>
              <a:t>soma: 89 • % sobre base 94</a:t>
            </a:r>
            <a:endParaRPr b="0" lang="pt-BR" sz="800" spc="-1" strike="noStrike">
              <a:latin typeface="Arial"/>
            </a:endParaRPr>
          </a:p>
        </p:txBody>
      </p:sp>
      <p:sp>
        <p:nvSpPr>
          <p:cNvPr id="249" name="Rounded Rectangle 53"/>
          <p:cNvSpPr/>
          <p:nvPr/>
        </p:nvSpPr>
        <p:spPr>
          <a:xfrm>
            <a:off x="502920" y="4005000"/>
            <a:ext cx="3537720" cy="1900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360">
            <a:solidFill>
              <a:srgbClr val="dce5e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50" name="TextBox 54"/>
          <p:cNvSpPr/>
          <p:nvPr/>
        </p:nvSpPr>
        <p:spPr>
          <a:xfrm>
            <a:off x="649080" y="4114800"/>
            <a:ext cx="3263400" cy="21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1400" spc="-1" strike="noStrike">
                <a:solidFill>
                  <a:srgbClr val="112c42"/>
                </a:solidFill>
                <a:latin typeface="DejaVu Sans"/>
                <a:ea typeface="DejaVu Sans"/>
              </a:rPr>
              <a:t>Interface atual é intuitiva?</a:t>
            </a:r>
            <a:endParaRPr b="0" lang="pt-BR" sz="1400" spc="-1" strike="noStrike">
              <a:latin typeface="Arial"/>
            </a:endParaRPr>
          </a:p>
        </p:txBody>
      </p:sp>
      <p:sp>
        <p:nvSpPr>
          <p:cNvPr id="251" name="TextBox 55"/>
          <p:cNvSpPr/>
          <p:nvPr/>
        </p:nvSpPr>
        <p:spPr>
          <a:xfrm>
            <a:off x="640080" y="4537440"/>
            <a:ext cx="1552320" cy="15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1000" spc="-1" strike="noStrike">
                <a:solidFill>
                  <a:srgbClr val="526878"/>
                </a:solidFill>
                <a:latin typeface="DejaVu Sans"/>
                <a:ea typeface="DejaVu Sans"/>
              </a:rPr>
              <a:t>Sem software</a:t>
            </a:r>
            <a:endParaRPr b="0" lang="pt-BR" sz="1000" spc="-1" strike="noStrike">
              <a:latin typeface="Arial"/>
            </a:endParaRPr>
          </a:p>
        </p:txBody>
      </p:sp>
      <p:sp>
        <p:nvSpPr>
          <p:cNvPr id="252" name="Rectangle 56"/>
          <p:cNvSpPr/>
          <p:nvPr/>
        </p:nvSpPr>
        <p:spPr>
          <a:xfrm>
            <a:off x="2166120" y="4569480"/>
            <a:ext cx="804600" cy="127080"/>
          </a:xfrm>
          <a:prstGeom prst="rect">
            <a:avLst/>
          </a:prstGeom>
          <a:solidFill>
            <a:srgbClr val="dce5ea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53" name="Rectangle 57"/>
          <p:cNvSpPr/>
          <p:nvPr/>
        </p:nvSpPr>
        <p:spPr>
          <a:xfrm>
            <a:off x="2166120" y="4569480"/>
            <a:ext cx="804600" cy="127080"/>
          </a:xfrm>
          <a:prstGeom prst="rect">
            <a:avLst/>
          </a:prstGeom>
          <a:solidFill>
            <a:srgbClr val="007e98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54" name="TextBox 58"/>
          <p:cNvSpPr/>
          <p:nvPr/>
        </p:nvSpPr>
        <p:spPr>
          <a:xfrm>
            <a:off x="3026520" y="4537440"/>
            <a:ext cx="950040" cy="12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800" spc="-1" strike="noStrike">
                <a:solidFill>
                  <a:srgbClr val="183447"/>
                </a:solidFill>
                <a:latin typeface="DejaVu Sans"/>
                <a:ea typeface="DejaVu Sans"/>
              </a:rPr>
              <a:t>29 · 30,9%</a:t>
            </a:r>
            <a:endParaRPr b="0" lang="pt-BR" sz="800" spc="-1" strike="noStrike">
              <a:latin typeface="Arial"/>
            </a:endParaRPr>
          </a:p>
        </p:txBody>
      </p:sp>
      <p:sp>
        <p:nvSpPr>
          <p:cNvPr id="255" name="TextBox 59"/>
          <p:cNvSpPr/>
          <p:nvPr/>
        </p:nvSpPr>
        <p:spPr>
          <a:xfrm>
            <a:off x="640080" y="4740120"/>
            <a:ext cx="1552320" cy="15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1000" spc="-1" strike="noStrike">
                <a:solidFill>
                  <a:srgbClr val="526878"/>
                </a:solidFill>
                <a:latin typeface="DejaVu Sans"/>
                <a:ea typeface="DejaVu Sans"/>
              </a:rPr>
              <a:t>Sim</a:t>
            </a:r>
            <a:endParaRPr b="0" lang="pt-BR" sz="1000" spc="-1" strike="noStrike">
              <a:latin typeface="Arial"/>
            </a:endParaRPr>
          </a:p>
        </p:txBody>
      </p:sp>
      <p:sp>
        <p:nvSpPr>
          <p:cNvPr id="256" name="Rectangle 60"/>
          <p:cNvSpPr/>
          <p:nvPr/>
        </p:nvSpPr>
        <p:spPr>
          <a:xfrm>
            <a:off x="2166120" y="4772160"/>
            <a:ext cx="804600" cy="127080"/>
          </a:xfrm>
          <a:prstGeom prst="rect">
            <a:avLst/>
          </a:prstGeom>
          <a:solidFill>
            <a:srgbClr val="dce5ea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57" name="Rectangle 61"/>
          <p:cNvSpPr/>
          <p:nvPr/>
        </p:nvSpPr>
        <p:spPr>
          <a:xfrm>
            <a:off x="2166120" y="4772160"/>
            <a:ext cx="776880" cy="127080"/>
          </a:xfrm>
          <a:prstGeom prst="rect">
            <a:avLst/>
          </a:prstGeom>
          <a:solidFill>
            <a:srgbClr val="007e98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58" name="TextBox 62"/>
          <p:cNvSpPr/>
          <p:nvPr/>
        </p:nvSpPr>
        <p:spPr>
          <a:xfrm>
            <a:off x="3026520" y="4740120"/>
            <a:ext cx="950040" cy="12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800" spc="-1" strike="noStrike">
                <a:solidFill>
                  <a:srgbClr val="183447"/>
                </a:solidFill>
                <a:latin typeface="DejaVu Sans"/>
                <a:ea typeface="DejaVu Sans"/>
              </a:rPr>
              <a:t>28 · 29,8%</a:t>
            </a:r>
            <a:endParaRPr b="0" lang="pt-BR" sz="800" spc="-1" strike="noStrike">
              <a:latin typeface="Arial"/>
            </a:endParaRPr>
          </a:p>
        </p:txBody>
      </p:sp>
      <p:sp>
        <p:nvSpPr>
          <p:cNvPr id="259" name="TextBox 63"/>
          <p:cNvSpPr/>
          <p:nvPr/>
        </p:nvSpPr>
        <p:spPr>
          <a:xfrm>
            <a:off x="640080" y="4942800"/>
            <a:ext cx="1552320" cy="15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1000" spc="-1" strike="noStrike">
                <a:solidFill>
                  <a:srgbClr val="526878"/>
                </a:solidFill>
                <a:latin typeface="DejaVu Sans"/>
                <a:ea typeface="DejaVu Sans"/>
              </a:rPr>
              <a:t>Mais ou menos</a:t>
            </a:r>
            <a:endParaRPr b="0" lang="pt-BR" sz="1000" spc="-1" strike="noStrike">
              <a:latin typeface="Arial"/>
            </a:endParaRPr>
          </a:p>
        </p:txBody>
      </p:sp>
      <p:sp>
        <p:nvSpPr>
          <p:cNvPr id="260" name="Rectangle 64"/>
          <p:cNvSpPr/>
          <p:nvPr/>
        </p:nvSpPr>
        <p:spPr>
          <a:xfrm>
            <a:off x="2166120" y="4974480"/>
            <a:ext cx="804600" cy="127080"/>
          </a:xfrm>
          <a:prstGeom prst="rect">
            <a:avLst/>
          </a:prstGeom>
          <a:solidFill>
            <a:srgbClr val="dce5ea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61" name="Rectangle 65"/>
          <p:cNvSpPr/>
          <p:nvPr/>
        </p:nvSpPr>
        <p:spPr>
          <a:xfrm>
            <a:off x="2166120" y="4974480"/>
            <a:ext cx="693360" cy="127080"/>
          </a:xfrm>
          <a:prstGeom prst="rect">
            <a:avLst/>
          </a:prstGeom>
          <a:solidFill>
            <a:srgbClr val="007e98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62" name="TextBox 66"/>
          <p:cNvSpPr/>
          <p:nvPr/>
        </p:nvSpPr>
        <p:spPr>
          <a:xfrm>
            <a:off x="3026520" y="4942800"/>
            <a:ext cx="950040" cy="12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800" spc="-1" strike="noStrike">
                <a:solidFill>
                  <a:srgbClr val="183447"/>
                </a:solidFill>
                <a:latin typeface="DejaVu Sans"/>
                <a:ea typeface="DejaVu Sans"/>
              </a:rPr>
              <a:t>25 · 26,6%</a:t>
            </a:r>
            <a:endParaRPr b="0" lang="pt-BR" sz="800" spc="-1" strike="noStrike">
              <a:latin typeface="Arial"/>
            </a:endParaRPr>
          </a:p>
        </p:txBody>
      </p:sp>
      <p:sp>
        <p:nvSpPr>
          <p:cNvPr id="263" name="TextBox 67"/>
          <p:cNvSpPr/>
          <p:nvPr/>
        </p:nvSpPr>
        <p:spPr>
          <a:xfrm>
            <a:off x="640080" y="5145120"/>
            <a:ext cx="1552320" cy="15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1000" spc="-1" strike="noStrike">
                <a:solidFill>
                  <a:srgbClr val="526878"/>
                </a:solidFill>
                <a:latin typeface="DejaVu Sans"/>
                <a:ea typeface="DejaVu Sans"/>
              </a:rPr>
              <a:t>Não</a:t>
            </a:r>
            <a:endParaRPr b="0" lang="pt-BR" sz="1000" spc="-1" strike="noStrike">
              <a:latin typeface="Arial"/>
            </a:endParaRPr>
          </a:p>
        </p:txBody>
      </p:sp>
      <p:sp>
        <p:nvSpPr>
          <p:cNvPr id="264" name="Rectangle 68"/>
          <p:cNvSpPr/>
          <p:nvPr/>
        </p:nvSpPr>
        <p:spPr>
          <a:xfrm>
            <a:off x="2166120" y="5177160"/>
            <a:ext cx="804600" cy="127080"/>
          </a:xfrm>
          <a:prstGeom prst="rect">
            <a:avLst/>
          </a:prstGeom>
          <a:solidFill>
            <a:srgbClr val="dce5ea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65" name="Rectangle 69"/>
          <p:cNvSpPr/>
          <p:nvPr/>
        </p:nvSpPr>
        <p:spPr>
          <a:xfrm>
            <a:off x="2166120" y="5177160"/>
            <a:ext cx="110160" cy="127080"/>
          </a:xfrm>
          <a:prstGeom prst="rect">
            <a:avLst/>
          </a:prstGeom>
          <a:solidFill>
            <a:srgbClr val="007e98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66" name="TextBox 70"/>
          <p:cNvSpPr/>
          <p:nvPr/>
        </p:nvSpPr>
        <p:spPr>
          <a:xfrm>
            <a:off x="3026520" y="5145120"/>
            <a:ext cx="950040" cy="12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800" spc="-1" strike="noStrike">
                <a:solidFill>
                  <a:srgbClr val="183447"/>
                </a:solidFill>
                <a:latin typeface="DejaVu Sans"/>
                <a:ea typeface="DejaVu Sans"/>
              </a:rPr>
              <a:t>4 · 4,3%</a:t>
            </a:r>
            <a:endParaRPr b="0" lang="pt-BR" sz="800" spc="-1" strike="noStrike">
              <a:latin typeface="Arial"/>
            </a:endParaRPr>
          </a:p>
        </p:txBody>
      </p:sp>
      <p:sp>
        <p:nvSpPr>
          <p:cNvPr id="267" name="TextBox 71"/>
          <p:cNvSpPr/>
          <p:nvPr/>
        </p:nvSpPr>
        <p:spPr>
          <a:xfrm>
            <a:off x="640080" y="5347800"/>
            <a:ext cx="1552320" cy="15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1000" spc="-1" strike="noStrike">
                <a:solidFill>
                  <a:srgbClr val="526878"/>
                </a:solidFill>
                <a:latin typeface="DejaVu Sans"/>
                <a:ea typeface="DejaVu Sans"/>
              </a:rPr>
              <a:t>Absolutamente</a:t>
            </a:r>
            <a:endParaRPr b="0" lang="pt-BR" sz="1000" spc="-1" strike="noStrike">
              <a:latin typeface="Arial"/>
            </a:endParaRPr>
          </a:p>
        </p:txBody>
      </p:sp>
      <p:sp>
        <p:nvSpPr>
          <p:cNvPr id="268" name="Rectangle 72"/>
          <p:cNvSpPr/>
          <p:nvPr/>
        </p:nvSpPr>
        <p:spPr>
          <a:xfrm>
            <a:off x="2166120" y="5379840"/>
            <a:ext cx="804600" cy="127080"/>
          </a:xfrm>
          <a:prstGeom prst="rect">
            <a:avLst/>
          </a:prstGeom>
          <a:solidFill>
            <a:srgbClr val="dce5ea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69" name="Rectangle 73"/>
          <p:cNvSpPr/>
          <p:nvPr/>
        </p:nvSpPr>
        <p:spPr>
          <a:xfrm>
            <a:off x="2166120" y="5379840"/>
            <a:ext cx="110160" cy="127080"/>
          </a:xfrm>
          <a:prstGeom prst="rect">
            <a:avLst/>
          </a:prstGeom>
          <a:solidFill>
            <a:srgbClr val="007e98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70" name="TextBox 74"/>
          <p:cNvSpPr/>
          <p:nvPr/>
        </p:nvSpPr>
        <p:spPr>
          <a:xfrm>
            <a:off x="3026520" y="5347800"/>
            <a:ext cx="950040" cy="12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800" spc="-1" strike="noStrike">
                <a:solidFill>
                  <a:srgbClr val="183447"/>
                </a:solidFill>
                <a:latin typeface="DejaVu Sans"/>
                <a:ea typeface="DejaVu Sans"/>
              </a:rPr>
              <a:t>4 · 4,3%</a:t>
            </a:r>
            <a:endParaRPr b="0" lang="pt-BR" sz="800" spc="-1" strike="noStrike">
              <a:latin typeface="Arial"/>
            </a:endParaRPr>
          </a:p>
        </p:txBody>
      </p:sp>
      <p:sp>
        <p:nvSpPr>
          <p:cNvPr id="271" name="TextBox 75"/>
          <p:cNvSpPr/>
          <p:nvPr/>
        </p:nvSpPr>
        <p:spPr>
          <a:xfrm>
            <a:off x="649080" y="5678280"/>
            <a:ext cx="3263400" cy="12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800" spc="-1" strike="noStrike">
                <a:solidFill>
                  <a:srgbClr val="526878"/>
                </a:solidFill>
                <a:latin typeface="DejaVu Sans"/>
                <a:ea typeface="DejaVu Sans"/>
              </a:rPr>
              <a:t>soma: 90 • % sobre base 94</a:t>
            </a:r>
            <a:endParaRPr b="0" lang="pt-BR" sz="800" spc="-1" strike="noStrike">
              <a:latin typeface="Arial"/>
            </a:endParaRPr>
          </a:p>
        </p:txBody>
      </p:sp>
      <p:sp>
        <p:nvSpPr>
          <p:cNvPr id="272" name="Rounded Rectangle 76"/>
          <p:cNvSpPr/>
          <p:nvPr/>
        </p:nvSpPr>
        <p:spPr>
          <a:xfrm>
            <a:off x="4316040" y="4005000"/>
            <a:ext cx="3537720" cy="1900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360">
            <a:solidFill>
              <a:srgbClr val="dce5e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73" name="TextBox 77"/>
          <p:cNvSpPr/>
          <p:nvPr/>
        </p:nvSpPr>
        <p:spPr>
          <a:xfrm>
            <a:off x="4462200" y="4114800"/>
            <a:ext cx="3263400" cy="21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1400" spc="-1" strike="noStrike">
                <a:solidFill>
                  <a:srgbClr val="112c42"/>
                </a:solidFill>
                <a:latin typeface="DejaVu Sans"/>
                <a:ea typeface="DejaVu Sans"/>
              </a:rPr>
              <a:t>Fluxo de projetos externos</a:t>
            </a:r>
            <a:endParaRPr b="0" lang="pt-BR" sz="1400" spc="-1" strike="noStrike">
              <a:latin typeface="Arial"/>
            </a:endParaRPr>
          </a:p>
        </p:txBody>
      </p:sp>
      <p:sp>
        <p:nvSpPr>
          <p:cNvPr id="274" name="TextBox 78"/>
          <p:cNvSpPr/>
          <p:nvPr/>
        </p:nvSpPr>
        <p:spPr>
          <a:xfrm>
            <a:off x="4453200" y="4537440"/>
            <a:ext cx="1552320" cy="15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1000" spc="-1" strike="noStrike">
                <a:solidFill>
                  <a:srgbClr val="526878"/>
                </a:solidFill>
                <a:latin typeface="DejaVu Sans"/>
                <a:ea typeface="DejaVu Sans"/>
              </a:rPr>
              <a:t>Sim</a:t>
            </a:r>
            <a:endParaRPr b="0" lang="pt-BR" sz="1000" spc="-1" strike="noStrike">
              <a:latin typeface="Arial"/>
            </a:endParaRPr>
          </a:p>
        </p:txBody>
      </p:sp>
      <p:sp>
        <p:nvSpPr>
          <p:cNvPr id="275" name="Rectangle 79"/>
          <p:cNvSpPr/>
          <p:nvPr/>
        </p:nvSpPr>
        <p:spPr>
          <a:xfrm>
            <a:off x="5979240" y="4569480"/>
            <a:ext cx="804600" cy="127080"/>
          </a:xfrm>
          <a:prstGeom prst="rect">
            <a:avLst/>
          </a:prstGeom>
          <a:solidFill>
            <a:srgbClr val="dce5ea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76" name="Rectangle 80"/>
          <p:cNvSpPr/>
          <p:nvPr/>
        </p:nvSpPr>
        <p:spPr>
          <a:xfrm>
            <a:off x="5979240" y="4569480"/>
            <a:ext cx="804600" cy="127080"/>
          </a:xfrm>
          <a:prstGeom prst="rect">
            <a:avLst/>
          </a:prstGeom>
          <a:solidFill>
            <a:srgbClr val="007e98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77" name="TextBox 81"/>
          <p:cNvSpPr/>
          <p:nvPr/>
        </p:nvSpPr>
        <p:spPr>
          <a:xfrm>
            <a:off x="6839640" y="4537440"/>
            <a:ext cx="950040" cy="12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800" spc="-1" strike="noStrike">
                <a:solidFill>
                  <a:srgbClr val="183447"/>
                </a:solidFill>
                <a:latin typeface="DejaVu Sans"/>
                <a:ea typeface="DejaVu Sans"/>
              </a:rPr>
              <a:t>42 · 44,7%</a:t>
            </a:r>
            <a:endParaRPr b="0" lang="pt-BR" sz="800" spc="-1" strike="noStrike">
              <a:latin typeface="Arial"/>
            </a:endParaRPr>
          </a:p>
        </p:txBody>
      </p:sp>
      <p:sp>
        <p:nvSpPr>
          <p:cNvPr id="278" name="TextBox 82"/>
          <p:cNvSpPr/>
          <p:nvPr/>
        </p:nvSpPr>
        <p:spPr>
          <a:xfrm>
            <a:off x="4453200" y="4790520"/>
            <a:ext cx="1552320" cy="15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1000" spc="-1" strike="noStrike">
                <a:solidFill>
                  <a:srgbClr val="526878"/>
                </a:solidFill>
                <a:latin typeface="DejaVu Sans"/>
                <a:ea typeface="DejaVu Sans"/>
              </a:rPr>
              <a:t>Não</a:t>
            </a:r>
            <a:endParaRPr b="0" lang="pt-BR" sz="1000" spc="-1" strike="noStrike">
              <a:latin typeface="Arial"/>
            </a:endParaRPr>
          </a:p>
        </p:txBody>
      </p:sp>
      <p:sp>
        <p:nvSpPr>
          <p:cNvPr id="279" name="Rectangle 83"/>
          <p:cNvSpPr/>
          <p:nvPr/>
        </p:nvSpPr>
        <p:spPr>
          <a:xfrm>
            <a:off x="5979240" y="4822560"/>
            <a:ext cx="804600" cy="127080"/>
          </a:xfrm>
          <a:prstGeom prst="rect">
            <a:avLst/>
          </a:prstGeom>
          <a:solidFill>
            <a:srgbClr val="dce5ea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80" name="Rectangle 84"/>
          <p:cNvSpPr/>
          <p:nvPr/>
        </p:nvSpPr>
        <p:spPr>
          <a:xfrm>
            <a:off x="5979240" y="4822560"/>
            <a:ext cx="401760" cy="127080"/>
          </a:xfrm>
          <a:prstGeom prst="rect">
            <a:avLst/>
          </a:prstGeom>
          <a:solidFill>
            <a:srgbClr val="007e98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81" name="TextBox 85"/>
          <p:cNvSpPr/>
          <p:nvPr/>
        </p:nvSpPr>
        <p:spPr>
          <a:xfrm>
            <a:off x="6839640" y="4790520"/>
            <a:ext cx="950040" cy="12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800" spc="-1" strike="noStrike">
                <a:solidFill>
                  <a:srgbClr val="183447"/>
                </a:solidFill>
                <a:latin typeface="DejaVu Sans"/>
                <a:ea typeface="DejaVu Sans"/>
              </a:rPr>
              <a:t>21 · 22,3%</a:t>
            </a:r>
            <a:endParaRPr b="0" lang="pt-BR" sz="800" spc="-1" strike="noStrike">
              <a:latin typeface="Arial"/>
            </a:endParaRPr>
          </a:p>
        </p:txBody>
      </p:sp>
      <p:sp>
        <p:nvSpPr>
          <p:cNvPr id="282" name="TextBox 86"/>
          <p:cNvSpPr/>
          <p:nvPr/>
        </p:nvSpPr>
        <p:spPr>
          <a:xfrm>
            <a:off x="4453200" y="5043960"/>
            <a:ext cx="1552320" cy="15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1000" spc="-1" strike="noStrike">
                <a:solidFill>
                  <a:srgbClr val="526878"/>
                </a:solidFill>
                <a:latin typeface="DejaVu Sans"/>
                <a:ea typeface="DejaVu Sans"/>
              </a:rPr>
              <a:t>Quase nunca</a:t>
            </a:r>
            <a:endParaRPr b="0" lang="pt-BR" sz="1000" spc="-1" strike="noStrike">
              <a:latin typeface="Arial"/>
            </a:endParaRPr>
          </a:p>
        </p:txBody>
      </p:sp>
      <p:sp>
        <p:nvSpPr>
          <p:cNvPr id="283" name="Rectangle 87"/>
          <p:cNvSpPr/>
          <p:nvPr/>
        </p:nvSpPr>
        <p:spPr>
          <a:xfrm>
            <a:off x="5979240" y="5076000"/>
            <a:ext cx="804600" cy="127080"/>
          </a:xfrm>
          <a:prstGeom prst="rect">
            <a:avLst/>
          </a:prstGeom>
          <a:solidFill>
            <a:srgbClr val="dce5ea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84" name="Rectangle 88"/>
          <p:cNvSpPr/>
          <p:nvPr/>
        </p:nvSpPr>
        <p:spPr>
          <a:xfrm>
            <a:off x="5979240" y="5076000"/>
            <a:ext cx="344160" cy="127080"/>
          </a:xfrm>
          <a:prstGeom prst="rect">
            <a:avLst/>
          </a:prstGeom>
          <a:solidFill>
            <a:srgbClr val="007e98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85" name="TextBox 89"/>
          <p:cNvSpPr/>
          <p:nvPr/>
        </p:nvSpPr>
        <p:spPr>
          <a:xfrm>
            <a:off x="6839640" y="5043960"/>
            <a:ext cx="950040" cy="12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800" spc="-1" strike="noStrike">
                <a:solidFill>
                  <a:srgbClr val="183447"/>
                </a:solidFill>
                <a:latin typeface="DejaVu Sans"/>
                <a:ea typeface="DejaVu Sans"/>
              </a:rPr>
              <a:t>18 · 19,1%</a:t>
            </a:r>
            <a:endParaRPr b="0" lang="pt-BR" sz="800" spc="-1" strike="noStrike">
              <a:latin typeface="Arial"/>
            </a:endParaRPr>
          </a:p>
        </p:txBody>
      </p:sp>
      <p:sp>
        <p:nvSpPr>
          <p:cNvPr id="286" name="TextBox 90"/>
          <p:cNvSpPr/>
          <p:nvPr/>
        </p:nvSpPr>
        <p:spPr>
          <a:xfrm>
            <a:off x="4453200" y="5297040"/>
            <a:ext cx="1552320" cy="15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1000" spc="-1" strike="noStrike">
                <a:solidFill>
                  <a:srgbClr val="526878"/>
                </a:solidFill>
                <a:latin typeface="DejaVu Sans"/>
                <a:ea typeface="DejaVu Sans"/>
              </a:rPr>
              <a:t>Absolutamente</a:t>
            </a:r>
            <a:endParaRPr b="0" lang="pt-BR" sz="1000" spc="-1" strike="noStrike">
              <a:latin typeface="Arial"/>
            </a:endParaRPr>
          </a:p>
        </p:txBody>
      </p:sp>
      <p:sp>
        <p:nvSpPr>
          <p:cNvPr id="287" name="Rectangle 91"/>
          <p:cNvSpPr/>
          <p:nvPr/>
        </p:nvSpPr>
        <p:spPr>
          <a:xfrm>
            <a:off x="5979240" y="5329080"/>
            <a:ext cx="804600" cy="127080"/>
          </a:xfrm>
          <a:prstGeom prst="rect">
            <a:avLst/>
          </a:prstGeom>
          <a:solidFill>
            <a:srgbClr val="dce5ea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88" name="Rectangle 92"/>
          <p:cNvSpPr/>
          <p:nvPr/>
        </p:nvSpPr>
        <p:spPr>
          <a:xfrm>
            <a:off x="5979240" y="5329080"/>
            <a:ext cx="171720" cy="127080"/>
          </a:xfrm>
          <a:prstGeom prst="rect">
            <a:avLst/>
          </a:prstGeom>
          <a:solidFill>
            <a:srgbClr val="007e98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89" name="TextBox 93"/>
          <p:cNvSpPr/>
          <p:nvPr/>
        </p:nvSpPr>
        <p:spPr>
          <a:xfrm>
            <a:off x="6839640" y="5297040"/>
            <a:ext cx="950040" cy="12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800" spc="-1" strike="noStrike">
                <a:solidFill>
                  <a:srgbClr val="183447"/>
                </a:solidFill>
                <a:latin typeface="DejaVu Sans"/>
                <a:ea typeface="DejaVu Sans"/>
              </a:rPr>
              <a:t>9 · 9,6%</a:t>
            </a:r>
            <a:endParaRPr b="0" lang="pt-BR" sz="800" spc="-1" strike="noStrike">
              <a:latin typeface="Arial"/>
            </a:endParaRPr>
          </a:p>
        </p:txBody>
      </p:sp>
      <p:sp>
        <p:nvSpPr>
          <p:cNvPr id="290" name="TextBox 94"/>
          <p:cNvSpPr/>
          <p:nvPr/>
        </p:nvSpPr>
        <p:spPr>
          <a:xfrm>
            <a:off x="4462200" y="5678280"/>
            <a:ext cx="3263400" cy="12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800" spc="-1" strike="noStrike">
                <a:solidFill>
                  <a:srgbClr val="526878"/>
                </a:solidFill>
                <a:latin typeface="DejaVu Sans"/>
                <a:ea typeface="DejaVu Sans"/>
              </a:rPr>
              <a:t>soma: 90 • % sobre base 94</a:t>
            </a:r>
            <a:endParaRPr b="0" lang="pt-BR" sz="800" spc="-1" strike="noStrike">
              <a:latin typeface="Arial"/>
            </a:endParaRPr>
          </a:p>
        </p:txBody>
      </p:sp>
      <p:sp>
        <p:nvSpPr>
          <p:cNvPr id="291" name="Rounded Rectangle 95"/>
          <p:cNvSpPr/>
          <p:nvPr/>
        </p:nvSpPr>
        <p:spPr>
          <a:xfrm>
            <a:off x="8129160" y="4005000"/>
            <a:ext cx="3537720" cy="1900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360">
            <a:solidFill>
              <a:srgbClr val="dce5e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92" name="TextBox 96"/>
          <p:cNvSpPr/>
          <p:nvPr/>
        </p:nvSpPr>
        <p:spPr>
          <a:xfrm>
            <a:off x="8275320" y="4114800"/>
            <a:ext cx="3263400" cy="21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1400" spc="-1" strike="noStrike">
                <a:solidFill>
                  <a:srgbClr val="112c42"/>
                </a:solidFill>
                <a:latin typeface="DejaVu Sans"/>
                <a:ea typeface="DejaVu Sans"/>
              </a:rPr>
              <a:t>Fluxo de projetos internos</a:t>
            </a:r>
            <a:endParaRPr b="0" lang="pt-BR" sz="1400" spc="-1" strike="noStrike">
              <a:latin typeface="Arial"/>
            </a:endParaRPr>
          </a:p>
        </p:txBody>
      </p:sp>
      <p:sp>
        <p:nvSpPr>
          <p:cNvPr id="293" name="TextBox 97"/>
          <p:cNvSpPr/>
          <p:nvPr/>
        </p:nvSpPr>
        <p:spPr>
          <a:xfrm>
            <a:off x="8266320" y="4537440"/>
            <a:ext cx="1552320" cy="15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1000" spc="-1" strike="noStrike">
                <a:solidFill>
                  <a:srgbClr val="526878"/>
                </a:solidFill>
                <a:latin typeface="DejaVu Sans"/>
                <a:ea typeface="DejaVu Sans"/>
              </a:rPr>
              <a:t>Sim</a:t>
            </a:r>
            <a:endParaRPr b="0" lang="pt-BR" sz="1000" spc="-1" strike="noStrike">
              <a:latin typeface="Arial"/>
            </a:endParaRPr>
          </a:p>
        </p:txBody>
      </p:sp>
      <p:sp>
        <p:nvSpPr>
          <p:cNvPr id="294" name="Rectangle 98"/>
          <p:cNvSpPr/>
          <p:nvPr/>
        </p:nvSpPr>
        <p:spPr>
          <a:xfrm>
            <a:off x="9792360" y="4569480"/>
            <a:ext cx="804600" cy="127080"/>
          </a:xfrm>
          <a:prstGeom prst="rect">
            <a:avLst/>
          </a:prstGeom>
          <a:solidFill>
            <a:srgbClr val="dce5ea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95" name="Rectangle 99"/>
          <p:cNvSpPr/>
          <p:nvPr/>
        </p:nvSpPr>
        <p:spPr>
          <a:xfrm>
            <a:off x="9792360" y="4569480"/>
            <a:ext cx="804600" cy="127080"/>
          </a:xfrm>
          <a:prstGeom prst="rect">
            <a:avLst/>
          </a:prstGeom>
          <a:solidFill>
            <a:srgbClr val="007e98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96" name="TextBox 100"/>
          <p:cNvSpPr/>
          <p:nvPr/>
        </p:nvSpPr>
        <p:spPr>
          <a:xfrm>
            <a:off x="10652760" y="4537440"/>
            <a:ext cx="950040" cy="12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800" spc="-1" strike="noStrike">
                <a:solidFill>
                  <a:srgbClr val="183447"/>
                </a:solidFill>
                <a:latin typeface="DejaVu Sans"/>
                <a:ea typeface="DejaVu Sans"/>
              </a:rPr>
              <a:t>57 · 60,6%</a:t>
            </a:r>
            <a:endParaRPr b="0" lang="pt-BR" sz="800" spc="-1" strike="noStrike">
              <a:latin typeface="Arial"/>
            </a:endParaRPr>
          </a:p>
        </p:txBody>
      </p:sp>
      <p:sp>
        <p:nvSpPr>
          <p:cNvPr id="297" name="TextBox 101"/>
          <p:cNvSpPr/>
          <p:nvPr/>
        </p:nvSpPr>
        <p:spPr>
          <a:xfrm>
            <a:off x="8266320" y="4790520"/>
            <a:ext cx="1552320" cy="15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1000" spc="-1" strike="noStrike">
                <a:solidFill>
                  <a:srgbClr val="526878"/>
                </a:solidFill>
                <a:latin typeface="DejaVu Sans"/>
                <a:ea typeface="DejaVu Sans"/>
              </a:rPr>
              <a:t>Absolutamente</a:t>
            </a:r>
            <a:endParaRPr b="0" lang="pt-BR" sz="1000" spc="-1" strike="noStrike">
              <a:latin typeface="Arial"/>
            </a:endParaRPr>
          </a:p>
        </p:txBody>
      </p:sp>
      <p:sp>
        <p:nvSpPr>
          <p:cNvPr id="298" name="Rectangle 102"/>
          <p:cNvSpPr/>
          <p:nvPr/>
        </p:nvSpPr>
        <p:spPr>
          <a:xfrm>
            <a:off x="9792360" y="4822560"/>
            <a:ext cx="804600" cy="127080"/>
          </a:xfrm>
          <a:prstGeom prst="rect">
            <a:avLst/>
          </a:prstGeom>
          <a:solidFill>
            <a:srgbClr val="dce5ea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99" name="Rectangle 103"/>
          <p:cNvSpPr/>
          <p:nvPr/>
        </p:nvSpPr>
        <p:spPr>
          <a:xfrm>
            <a:off x="9792360" y="4822560"/>
            <a:ext cx="225000" cy="127080"/>
          </a:xfrm>
          <a:prstGeom prst="rect">
            <a:avLst/>
          </a:prstGeom>
          <a:solidFill>
            <a:srgbClr val="007e98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300" name="TextBox 104"/>
          <p:cNvSpPr/>
          <p:nvPr/>
        </p:nvSpPr>
        <p:spPr>
          <a:xfrm>
            <a:off x="10652760" y="4790520"/>
            <a:ext cx="950040" cy="12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800" spc="-1" strike="noStrike">
                <a:solidFill>
                  <a:srgbClr val="183447"/>
                </a:solidFill>
                <a:latin typeface="DejaVu Sans"/>
                <a:ea typeface="DejaVu Sans"/>
              </a:rPr>
              <a:t>16 · 17,0%</a:t>
            </a:r>
            <a:endParaRPr b="0" lang="pt-BR" sz="800" spc="-1" strike="noStrike">
              <a:latin typeface="Arial"/>
            </a:endParaRPr>
          </a:p>
        </p:txBody>
      </p:sp>
      <p:sp>
        <p:nvSpPr>
          <p:cNvPr id="301" name="TextBox 105"/>
          <p:cNvSpPr/>
          <p:nvPr/>
        </p:nvSpPr>
        <p:spPr>
          <a:xfrm>
            <a:off x="8266320" y="5043960"/>
            <a:ext cx="1552320" cy="15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1000" spc="-1" strike="noStrike">
                <a:solidFill>
                  <a:srgbClr val="526878"/>
                </a:solidFill>
                <a:latin typeface="DejaVu Sans"/>
                <a:ea typeface="DejaVu Sans"/>
              </a:rPr>
              <a:t>Não</a:t>
            </a:r>
            <a:endParaRPr b="0" lang="pt-BR" sz="1000" spc="-1" strike="noStrike">
              <a:latin typeface="Arial"/>
            </a:endParaRPr>
          </a:p>
        </p:txBody>
      </p:sp>
      <p:sp>
        <p:nvSpPr>
          <p:cNvPr id="302" name="Rectangle 106"/>
          <p:cNvSpPr/>
          <p:nvPr/>
        </p:nvSpPr>
        <p:spPr>
          <a:xfrm>
            <a:off x="9792360" y="5076000"/>
            <a:ext cx="804600" cy="127080"/>
          </a:xfrm>
          <a:prstGeom prst="rect">
            <a:avLst/>
          </a:prstGeom>
          <a:solidFill>
            <a:srgbClr val="dce5ea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303" name="Rectangle 107"/>
          <p:cNvSpPr/>
          <p:nvPr/>
        </p:nvSpPr>
        <p:spPr>
          <a:xfrm>
            <a:off x="9792360" y="5076000"/>
            <a:ext cx="126000" cy="127080"/>
          </a:xfrm>
          <a:prstGeom prst="rect">
            <a:avLst/>
          </a:prstGeom>
          <a:solidFill>
            <a:srgbClr val="007e98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304" name="TextBox 108"/>
          <p:cNvSpPr/>
          <p:nvPr/>
        </p:nvSpPr>
        <p:spPr>
          <a:xfrm>
            <a:off x="10652760" y="5043960"/>
            <a:ext cx="950040" cy="12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800" spc="-1" strike="noStrike">
                <a:solidFill>
                  <a:srgbClr val="183447"/>
                </a:solidFill>
                <a:latin typeface="DejaVu Sans"/>
                <a:ea typeface="DejaVu Sans"/>
              </a:rPr>
              <a:t>9 · 9,6%</a:t>
            </a:r>
            <a:endParaRPr b="0" lang="pt-BR" sz="800" spc="-1" strike="noStrike">
              <a:latin typeface="Arial"/>
            </a:endParaRPr>
          </a:p>
        </p:txBody>
      </p:sp>
      <p:sp>
        <p:nvSpPr>
          <p:cNvPr id="305" name="TextBox 109"/>
          <p:cNvSpPr/>
          <p:nvPr/>
        </p:nvSpPr>
        <p:spPr>
          <a:xfrm>
            <a:off x="8266320" y="5297040"/>
            <a:ext cx="1552320" cy="15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1000" spc="-1" strike="noStrike">
                <a:solidFill>
                  <a:srgbClr val="526878"/>
                </a:solidFill>
                <a:latin typeface="DejaVu Sans"/>
                <a:ea typeface="DejaVu Sans"/>
              </a:rPr>
              <a:t>Quase nunca</a:t>
            </a:r>
            <a:endParaRPr b="0" lang="pt-BR" sz="1000" spc="-1" strike="noStrike">
              <a:latin typeface="Arial"/>
            </a:endParaRPr>
          </a:p>
        </p:txBody>
      </p:sp>
      <p:sp>
        <p:nvSpPr>
          <p:cNvPr id="306" name="Rectangle 110"/>
          <p:cNvSpPr/>
          <p:nvPr/>
        </p:nvSpPr>
        <p:spPr>
          <a:xfrm>
            <a:off x="9792360" y="5329080"/>
            <a:ext cx="804600" cy="127080"/>
          </a:xfrm>
          <a:prstGeom prst="rect">
            <a:avLst/>
          </a:prstGeom>
          <a:solidFill>
            <a:srgbClr val="dce5ea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307" name="Rectangle 111"/>
          <p:cNvSpPr/>
          <p:nvPr/>
        </p:nvSpPr>
        <p:spPr>
          <a:xfrm>
            <a:off x="9792360" y="5329080"/>
            <a:ext cx="97920" cy="127080"/>
          </a:xfrm>
          <a:prstGeom prst="rect">
            <a:avLst/>
          </a:prstGeom>
          <a:solidFill>
            <a:srgbClr val="007e98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308" name="TextBox 112"/>
          <p:cNvSpPr/>
          <p:nvPr/>
        </p:nvSpPr>
        <p:spPr>
          <a:xfrm>
            <a:off x="10652760" y="5297040"/>
            <a:ext cx="950040" cy="12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800" spc="-1" strike="noStrike">
                <a:solidFill>
                  <a:srgbClr val="183447"/>
                </a:solidFill>
                <a:latin typeface="DejaVu Sans"/>
                <a:ea typeface="DejaVu Sans"/>
              </a:rPr>
              <a:t>7 · 7,4%</a:t>
            </a:r>
            <a:endParaRPr b="0" lang="pt-BR" sz="800" spc="-1" strike="noStrike">
              <a:latin typeface="Arial"/>
            </a:endParaRPr>
          </a:p>
        </p:txBody>
      </p:sp>
      <p:sp>
        <p:nvSpPr>
          <p:cNvPr id="309" name="TextBox 113"/>
          <p:cNvSpPr/>
          <p:nvPr/>
        </p:nvSpPr>
        <p:spPr>
          <a:xfrm>
            <a:off x="8275320" y="5678280"/>
            <a:ext cx="3263400" cy="12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800" spc="-1" strike="noStrike">
                <a:solidFill>
                  <a:srgbClr val="526878"/>
                </a:solidFill>
                <a:latin typeface="DejaVu Sans"/>
                <a:ea typeface="DejaVu Sans"/>
              </a:rPr>
              <a:t>soma: 89 • % sobre base 94</a:t>
            </a:r>
            <a:endParaRPr b="0" lang="pt-BR" sz="800" spc="-1" strike="noStrike">
              <a:latin typeface="Arial"/>
            </a:endParaRPr>
          </a:p>
        </p:txBody>
      </p:sp>
      <p:sp>
        <p:nvSpPr>
          <p:cNvPr id="310" name="TextBox 114"/>
          <p:cNvSpPr/>
          <p:nvPr/>
        </p:nvSpPr>
        <p:spPr>
          <a:xfrm>
            <a:off x="548640" y="6099120"/>
            <a:ext cx="11063160" cy="18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1200" spc="-1" strike="noStrike">
                <a:solidFill>
                  <a:srgbClr val="007e98"/>
                </a:solidFill>
                <a:latin typeface="DejaVu Sans"/>
                <a:ea typeface="DejaVu Sans"/>
              </a:rPr>
              <a:t>Resposta: organização dedicada, flexibilidade de uso e base de modelagem para contextos internos/externos.</a:t>
            </a:r>
            <a:endParaRPr b="0" lang="pt-BR" sz="1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3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Rectangle 1"/>
          <p:cNvSpPr/>
          <p:nvPr/>
        </p:nvSpPr>
        <p:spPr>
          <a:xfrm>
            <a:off x="0" y="0"/>
            <a:ext cx="12190680" cy="72000"/>
          </a:xfrm>
          <a:prstGeom prst="rect">
            <a:avLst/>
          </a:prstGeom>
          <a:solidFill>
            <a:srgbClr val="007e98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312" name="TextBox 2"/>
          <p:cNvSpPr/>
          <p:nvPr/>
        </p:nvSpPr>
        <p:spPr>
          <a:xfrm>
            <a:off x="502920" y="292680"/>
            <a:ext cx="10057320" cy="15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1000" spc="-1" strike="noStrike">
                <a:solidFill>
                  <a:srgbClr val="007e98"/>
                </a:solidFill>
                <a:latin typeface="DejaVu Sans"/>
                <a:ea typeface="DejaVu Sans"/>
              </a:rPr>
              <a:t>05 / DORES → REQUISITOS</a:t>
            </a:r>
            <a:endParaRPr b="0" lang="pt-BR" sz="1000" spc="-1" strike="noStrike">
              <a:latin typeface="Arial"/>
            </a:endParaRPr>
          </a:p>
        </p:txBody>
      </p:sp>
      <p:sp>
        <p:nvSpPr>
          <p:cNvPr id="313" name="TextBox 3"/>
          <p:cNvSpPr/>
          <p:nvPr/>
        </p:nvSpPr>
        <p:spPr>
          <a:xfrm>
            <a:off x="502920" y="704160"/>
            <a:ext cx="11154600" cy="44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2900" spc="-1" strike="noStrike">
                <a:solidFill>
                  <a:srgbClr val="112c42"/>
                </a:solidFill>
                <a:latin typeface="DejaVu Sans"/>
                <a:ea typeface="DejaVu Sans"/>
              </a:rPr>
              <a:t>Organização e financeiro orientam o núcleo</a:t>
            </a:r>
            <a:endParaRPr b="0" lang="pt-BR" sz="2900" spc="-1" strike="noStrike">
              <a:latin typeface="Arial"/>
            </a:endParaRPr>
          </a:p>
        </p:txBody>
      </p:sp>
      <p:sp>
        <p:nvSpPr>
          <p:cNvPr id="314" name="TextBox 4"/>
          <p:cNvSpPr/>
          <p:nvPr/>
        </p:nvSpPr>
        <p:spPr>
          <a:xfrm>
            <a:off x="521280" y="1362600"/>
            <a:ext cx="11063160" cy="19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1300" spc="-1" strike="noStrike">
                <a:solidFill>
                  <a:srgbClr val="526878"/>
                </a:solidFill>
                <a:latin typeface="DejaVu Sans"/>
                <a:ea typeface="DejaVu Sans"/>
              </a:rPr>
              <a:t>Concordância direta = “Sim” + “Absolutamente” • percentuais sobre 94 participantes</a:t>
            </a:r>
            <a:endParaRPr b="0" lang="pt-BR" sz="1300" spc="-1" strike="noStrike">
              <a:latin typeface="Arial"/>
            </a:endParaRPr>
          </a:p>
        </p:txBody>
      </p:sp>
      <p:sp>
        <p:nvSpPr>
          <p:cNvPr id="315" name="TextBox 5"/>
          <p:cNvSpPr/>
          <p:nvPr/>
        </p:nvSpPr>
        <p:spPr>
          <a:xfrm>
            <a:off x="502920" y="6510600"/>
            <a:ext cx="10514520" cy="12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800" spc="-1" strike="noStrike">
                <a:solidFill>
                  <a:srgbClr val="526878"/>
                </a:solidFill>
                <a:latin typeface="DejaVu Sans"/>
                <a:ea typeface="DejaVu Sans"/>
              </a:rPr>
              <a:t>Fonte: pesquisa SPOT (2026), figuras 9–12. Totais exibidos variam; diferenças constam no guia.</a:t>
            </a:r>
            <a:endParaRPr b="0" lang="pt-BR" sz="800" spc="-1" strike="noStrike">
              <a:latin typeface="Arial"/>
            </a:endParaRPr>
          </a:p>
        </p:txBody>
      </p:sp>
      <p:sp>
        <p:nvSpPr>
          <p:cNvPr id="316" name="TextBox 6"/>
          <p:cNvSpPr/>
          <p:nvPr/>
        </p:nvSpPr>
        <p:spPr>
          <a:xfrm>
            <a:off x="11018520" y="6483240"/>
            <a:ext cx="666360" cy="15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 algn="r"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1000" spc="-1" strike="noStrike">
                <a:solidFill>
                  <a:srgbClr val="526878"/>
                </a:solidFill>
                <a:latin typeface="DejaVu Sans"/>
                <a:ea typeface="DejaVu Sans"/>
              </a:rPr>
              <a:t>06 / 11</a:t>
            </a:r>
            <a:endParaRPr b="0" lang="pt-BR" sz="1000" spc="-1" strike="noStrike">
              <a:latin typeface="Arial"/>
            </a:endParaRPr>
          </a:p>
        </p:txBody>
      </p:sp>
      <p:sp>
        <p:nvSpPr>
          <p:cNvPr id="317" name="TextBox 7"/>
          <p:cNvSpPr/>
          <p:nvPr/>
        </p:nvSpPr>
        <p:spPr>
          <a:xfrm>
            <a:off x="548640" y="2999160"/>
            <a:ext cx="3748320" cy="259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1700" spc="-1" strike="noStrike">
                <a:solidFill>
                  <a:srgbClr val="183447"/>
                </a:solidFill>
                <a:latin typeface="DejaVu Sans"/>
                <a:ea typeface="DejaVu Sans"/>
              </a:rPr>
              <a:t>Dificuldade de organização</a:t>
            </a:r>
            <a:endParaRPr b="0" lang="pt-BR" sz="1700" spc="-1" strike="noStrike">
              <a:latin typeface="Arial"/>
            </a:endParaRPr>
          </a:p>
        </p:txBody>
      </p:sp>
      <p:sp>
        <p:nvSpPr>
          <p:cNvPr id="318" name="Rectangle 8"/>
          <p:cNvSpPr/>
          <p:nvPr/>
        </p:nvSpPr>
        <p:spPr>
          <a:xfrm>
            <a:off x="4389120" y="2084760"/>
            <a:ext cx="2925000" cy="200160"/>
          </a:xfrm>
          <a:prstGeom prst="rect">
            <a:avLst/>
          </a:prstGeom>
          <a:solidFill>
            <a:srgbClr val="dce5ea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319" name="TextBox 10"/>
          <p:cNvSpPr/>
          <p:nvPr/>
        </p:nvSpPr>
        <p:spPr>
          <a:xfrm>
            <a:off x="7443360" y="2971800"/>
            <a:ext cx="1352520" cy="33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2200" spc="-1" strike="noStrike">
                <a:solidFill>
                  <a:srgbClr val="007e98"/>
                </a:solidFill>
                <a:latin typeface="DejaVu Sans"/>
                <a:ea typeface="DejaVu Sans"/>
              </a:rPr>
              <a:t>63,8%</a:t>
            </a:r>
            <a:endParaRPr b="0" lang="pt-BR" sz="2200" spc="-1" strike="noStrike">
              <a:latin typeface="Arial"/>
            </a:endParaRPr>
          </a:p>
        </p:txBody>
      </p:sp>
      <p:sp>
        <p:nvSpPr>
          <p:cNvPr id="320" name="TextBox 11"/>
          <p:cNvSpPr/>
          <p:nvPr/>
        </p:nvSpPr>
        <p:spPr>
          <a:xfrm>
            <a:off x="7525440" y="2414160"/>
            <a:ext cx="913680" cy="16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1100" spc="-1" strike="noStrike">
                <a:solidFill>
                  <a:srgbClr val="526878"/>
                </a:solidFill>
                <a:latin typeface="DejaVu Sans"/>
                <a:ea typeface="DejaVu Sans"/>
              </a:rPr>
              <a:t>83/94</a:t>
            </a:r>
            <a:endParaRPr b="0" lang="pt-BR" sz="1100" spc="-1" strike="noStrike">
              <a:latin typeface="Arial"/>
            </a:endParaRPr>
          </a:p>
        </p:txBody>
      </p:sp>
      <p:sp>
        <p:nvSpPr>
          <p:cNvPr id="321" name="TextBox 12"/>
          <p:cNvSpPr/>
          <p:nvPr/>
        </p:nvSpPr>
        <p:spPr>
          <a:xfrm>
            <a:off x="8823960" y="3054240"/>
            <a:ext cx="2788200" cy="24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1600" spc="-1" strike="noStrike">
                <a:solidFill>
                  <a:srgbClr val="183447"/>
                </a:solidFill>
                <a:latin typeface="DejaVu Sans"/>
                <a:ea typeface="DejaVu Sans"/>
              </a:rPr>
              <a:t>Projetos + tarefas + filtros</a:t>
            </a:r>
            <a:endParaRPr b="0" lang="pt-BR" sz="1600" spc="-1" strike="noStrike">
              <a:latin typeface="Arial"/>
            </a:endParaRPr>
          </a:p>
        </p:txBody>
      </p:sp>
      <p:sp>
        <p:nvSpPr>
          <p:cNvPr id="322" name="TextBox 13"/>
          <p:cNvSpPr/>
          <p:nvPr/>
        </p:nvSpPr>
        <p:spPr>
          <a:xfrm>
            <a:off x="548640" y="2030040"/>
            <a:ext cx="3748320" cy="51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1700" spc="-1" strike="noStrike">
                <a:solidFill>
                  <a:srgbClr val="183447"/>
                </a:solidFill>
                <a:latin typeface="DejaVu Sans"/>
                <a:ea typeface="DejaVu Sans"/>
              </a:rPr>
              <a:t>Organização ajuda no faturamento</a:t>
            </a:r>
            <a:endParaRPr b="0" lang="pt-BR" sz="1700" spc="-1" strike="noStrike">
              <a:latin typeface="Arial"/>
            </a:endParaRPr>
          </a:p>
        </p:txBody>
      </p:sp>
      <p:sp>
        <p:nvSpPr>
          <p:cNvPr id="323" name="Rectangle 14"/>
          <p:cNvSpPr/>
          <p:nvPr/>
        </p:nvSpPr>
        <p:spPr>
          <a:xfrm>
            <a:off x="4389120" y="3054240"/>
            <a:ext cx="2925000" cy="200160"/>
          </a:xfrm>
          <a:prstGeom prst="rect">
            <a:avLst/>
          </a:prstGeom>
          <a:solidFill>
            <a:srgbClr val="dce5ea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324" name="Rectangle 15"/>
          <p:cNvSpPr/>
          <p:nvPr/>
        </p:nvSpPr>
        <p:spPr>
          <a:xfrm>
            <a:off x="4389120" y="2084760"/>
            <a:ext cx="2582640" cy="200160"/>
          </a:xfrm>
          <a:prstGeom prst="rect">
            <a:avLst/>
          </a:prstGeom>
          <a:solidFill>
            <a:srgbClr val="008b79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325" name="TextBox 16"/>
          <p:cNvSpPr/>
          <p:nvPr/>
        </p:nvSpPr>
        <p:spPr>
          <a:xfrm>
            <a:off x="7443360" y="2002680"/>
            <a:ext cx="1352520" cy="33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2200" spc="-1" strike="noStrike">
                <a:solidFill>
                  <a:srgbClr val="008b79"/>
                </a:solidFill>
                <a:latin typeface="DejaVu Sans"/>
                <a:ea typeface="DejaVu Sans"/>
              </a:rPr>
              <a:t>88,3%</a:t>
            </a:r>
            <a:endParaRPr b="0" lang="pt-BR" sz="2200" spc="-1" strike="noStrike">
              <a:latin typeface="Arial"/>
            </a:endParaRPr>
          </a:p>
        </p:txBody>
      </p:sp>
      <p:sp>
        <p:nvSpPr>
          <p:cNvPr id="326" name="TextBox 17"/>
          <p:cNvSpPr/>
          <p:nvPr/>
        </p:nvSpPr>
        <p:spPr>
          <a:xfrm>
            <a:off x="7525440" y="3383280"/>
            <a:ext cx="913680" cy="16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1100" spc="-1" strike="noStrike">
                <a:solidFill>
                  <a:srgbClr val="526878"/>
                </a:solidFill>
                <a:latin typeface="DejaVu Sans"/>
                <a:ea typeface="DejaVu Sans"/>
              </a:rPr>
              <a:t>60/94</a:t>
            </a:r>
            <a:endParaRPr b="0" lang="pt-BR" sz="1100" spc="-1" strike="noStrike">
              <a:latin typeface="Arial"/>
            </a:endParaRPr>
          </a:p>
        </p:txBody>
      </p:sp>
      <p:sp>
        <p:nvSpPr>
          <p:cNvPr id="327" name="TextBox 18"/>
          <p:cNvSpPr/>
          <p:nvPr/>
        </p:nvSpPr>
        <p:spPr>
          <a:xfrm>
            <a:off x="8823960" y="2084760"/>
            <a:ext cx="2788200" cy="486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1600" spc="-1" strike="noStrike">
                <a:solidFill>
                  <a:srgbClr val="183447"/>
                </a:solidFill>
                <a:latin typeface="DejaVu Sans"/>
                <a:ea typeface="DejaVu Sans"/>
              </a:rPr>
              <a:t>Horas + custos + resultado</a:t>
            </a:r>
            <a:endParaRPr b="0" lang="pt-BR" sz="1600" spc="-1" strike="noStrike">
              <a:latin typeface="Arial"/>
            </a:endParaRPr>
          </a:p>
        </p:txBody>
      </p:sp>
      <p:sp>
        <p:nvSpPr>
          <p:cNvPr id="328" name="TextBox 19"/>
          <p:cNvSpPr/>
          <p:nvPr/>
        </p:nvSpPr>
        <p:spPr>
          <a:xfrm>
            <a:off x="548640" y="3858840"/>
            <a:ext cx="3748320" cy="259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1700" spc="-1" strike="noStrike">
                <a:solidFill>
                  <a:srgbClr val="183447"/>
                </a:solidFill>
                <a:latin typeface="DejaVu Sans"/>
                <a:ea typeface="DejaVu Sans"/>
              </a:rPr>
              <a:t>Dificuldade de alinhamento</a:t>
            </a:r>
            <a:endParaRPr b="0" lang="pt-BR" sz="1700" spc="-1" strike="noStrike">
              <a:latin typeface="Arial"/>
            </a:endParaRPr>
          </a:p>
        </p:txBody>
      </p:sp>
      <p:sp>
        <p:nvSpPr>
          <p:cNvPr id="329" name="Rectangle 20"/>
          <p:cNvSpPr/>
          <p:nvPr/>
        </p:nvSpPr>
        <p:spPr>
          <a:xfrm>
            <a:off x="4389120" y="3913560"/>
            <a:ext cx="2925000" cy="200160"/>
          </a:xfrm>
          <a:prstGeom prst="rect">
            <a:avLst/>
          </a:prstGeom>
          <a:solidFill>
            <a:srgbClr val="dce5ea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330" name="Rectangle 21"/>
          <p:cNvSpPr/>
          <p:nvPr/>
        </p:nvSpPr>
        <p:spPr>
          <a:xfrm>
            <a:off x="4389120" y="3913560"/>
            <a:ext cx="1212840" cy="200160"/>
          </a:xfrm>
          <a:prstGeom prst="rect">
            <a:avLst/>
          </a:prstGeom>
          <a:solidFill>
            <a:srgbClr val="6b58a8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331" name="TextBox 22"/>
          <p:cNvSpPr/>
          <p:nvPr/>
        </p:nvSpPr>
        <p:spPr>
          <a:xfrm>
            <a:off x="7443360" y="3831480"/>
            <a:ext cx="1352520" cy="33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2200" spc="-1" strike="noStrike">
                <a:solidFill>
                  <a:srgbClr val="6b58a8"/>
                </a:solidFill>
                <a:latin typeface="DejaVu Sans"/>
                <a:ea typeface="DejaVu Sans"/>
              </a:rPr>
              <a:t>41,5%</a:t>
            </a:r>
            <a:endParaRPr b="0" lang="pt-BR" sz="2200" spc="-1" strike="noStrike">
              <a:latin typeface="Arial"/>
            </a:endParaRPr>
          </a:p>
        </p:txBody>
      </p:sp>
      <p:sp>
        <p:nvSpPr>
          <p:cNvPr id="332" name="TextBox 23"/>
          <p:cNvSpPr/>
          <p:nvPr/>
        </p:nvSpPr>
        <p:spPr>
          <a:xfrm>
            <a:off x="7525440" y="4242960"/>
            <a:ext cx="913680" cy="16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1100" spc="-1" strike="noStrike">
                <a:solidFill>
                  <a:srgbClr val="526878"/>
                </a:solidFill>
                <a:latin typeface="DejaVu Sans"/>
                <a:ea typeface="DejaVu Sans"/>
              </a:rPr>
              <a:t>39/94</a:t>
            </a:r>
            <a:endParaRPr b="0" lang="pt-BR" sz="1100" spc="-1" strike="noStrike">
              <a:latin typeface="Arial"/>
            </a:endParaRPr>
          </a:p>
        </p:txBody>
      </p:sp>
      <p:sp>
        <p:nvSpPr>
          <p:cNvPr id="333" name="TextBox 24"/>
          <p:cNvSpPr/>
          <p:nvPr/>
        </p:nvSpPr>
        <p:spPr>
          <a:xfrm>
            <a:off x="8823960" y="3913560"/>
            <a:ext cx="2788200" cy="24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1600" spc="-1" strike="noStrike">
                <a:solidFill>
                  <a:srgbClr val="183447"/>
                </a:solidFill>
                <a:latin typeface="DejaVu Sans"/>
                <a:ea typeface="DejaVu Sans"/>
              </a:rPr>
              <a:t>Equipes + responsáveis</a:t>
            </a:r>
            <a:endParaRPr b="0" lang="pt-BR" sz="1600" spc="-1" strike="noStrike">
              <a:latin typeface="Arial"/>
            </a:endParaRPr>
          </a:p>
        </p:txBody>
      </p:sp>
      <p:sp>
        <p:nvSpPr>
          <p:cNvPr id="334" name="TextBox 25"/>
          <p:cNvSpPr/>
          <p:nvPr/>
        </p:nvSpPr>
        <p:spPr>
          <a:xfrm>
            <a:off x="548640" y="4718160"/>
            <a:ext cx="3748320" cy="51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1700" spc="-1" strike="noStrike">
                <a:solidFill>
                  <a:srgbClr val="183447"/>
                </a:solidFill>
                <a:latin typeface="DejaVu Sans"/>
                <a:ea typeface="DejaVu Sans"/>
              </a:rPr>
              <a:t>Dificuldade de custos adicionais</a:t>
            </a:r>
            <a:endParaRPr b="0" lang="pt-BR" sz="1700" spc="-1" strike="noStrike">
              <a:latin typeface="Arial"/>
            </a:endParaRPr>
          </a:p>
        </p:txBody>
      </p:sp>
      <p:sp>
        <p:nvSpPr>
          <p:cNvPr id="335" name="Rectangle 26"/>
          <p:cNvSpPr/>
          <p:nvPr/>
        </p:nvSpPr>
        <p:spPr>
          <a:xfrm>
            <a:off x="4389120" y="4773240"/>
            <a:ext cx="2925000" cy="200160"/>
          </a:xfrm>
          <a:prstGeom prst="rect">
            <a:avLst/>
          </a:prstGeom>
          <a:solidFill>
            <a:srgbClr val="dce5ea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336" name="Rectangle 27"/>
          <p:cNvSpPr/>
          <p:nvPr/>
        </p:nvSpPr>
        <p:spPr>
          <a:xfrm>
            <a:off x="4389120" y="4773240"/>
            <a:ext cx="932760" cy="200160"/>
          </a:xfrm>
          <a:prstGeom prst="rect">
            <a:avLst/>
          </a:prstGeom>
          <a:solidFill>
            <a:srgbClr val="af6714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337" name="TextBox 28"/>
          <p:cNvSpPr/>
          <p:nvPr/>
        </p:nvSpPr>
        <p:spPr>
          <a:xfrm>
            <a:off x="7443360" y="4690800"/>
            <a:ext cx="1352520" cy="33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2200" spc="-1" strike="noStrike">
                <a:solidFill>
                  <a:srgbClr val="af6714"/>
                </a:solidFill>
                <a:latin typeface="DejaVu Sans"/>
                <a:ea typeface="DejaVu Sans"/>
              </a:rPr>
              <a:t>31,9%</a:t>
            </a:r>
            <a:endParaRPr b="0" lang="pt-BR" sz="2200" spc="-1" strike="noStrike">
              <a:latin typeface="Arial"/>
            </a:endParaRPr>
          </a:p>
        </p:txBody>
      </p:sp>
      <p:sp>
        <p:nvSpPr>
          <p:cNvPr id="338" name="TextBox 29"/>
          <p:cNvSpPr/>
          <p:nvPr/>
        </p:nvSpPr>
        <p:spPr>
          <a:xfrm>
            <a:off x="7525440" y="5102280"/>
            <a:ext cx="913680" cy="16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1100" spc="-1" strike="noStrike">
                <a:solidFill>
                  <a:srgbClr val="526878"/>
                </a:solidFill>
                <a:latin typeface="DejaVu Sans"/>
                <a:ea typeface="DejaVu Sans"/>
              </a:rPr>
              <a:t>30/94</a:t>
            </a:r>
            <a:endParaRPr b="0" lang="pt-BR" sz="1100" spc="-1" strike="noStrike">
              <a:latin typeface="Arial"/>
            </a:endParaRPr>
          </a:p>
        </p:txBody>
      </p:sp>
      <p:sp>
        <p:nvSpPr>
          <p:cNvPr id="339" name="TextBox 30"/>
          <p:cNvSpPr/>
          <p:nvPr/>
        </p:nvSpPr>
        <p:spPr>
          <a:xfrm>
            <a:off x="8823960" y="4773240"/>
            <a:ext cx="2788200" cy="24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1600" spc="-1" strike="noStrike">
                <a:solidFill>
                  <a:srgbClr val="183447"/>
                </a:solidFill>
                <a:latin typeface="DejaVu Sans"/>
                <a:ea typeface="DejaVu Sans"/>
              </a:rPr>
              <a:t>Despesas + aprovação</a:t>
            </a:r>
            <a:endParaRPr b="0" lang="pt-BR" sz="1600" spc="-1" strike="noStrike">
              <a:latin typeface="Arial"/>
            </a:endParaRPr>
          </a:p>
        </p:txBody>
      </p:sp>
      <p:sp>
        <p:nvSpPr>
          <p:cNvPr id="340" name="Rounded Rectangle 31"/>
          <p:cNvSpPr/>
          <p:nvPr/>
        </p:nvSpPr>
        <p:spPr>
          <a:xfrm>
            <a:off x="502920" y="5870520"/>
            <a:ext cx="11172960" cy="437760"/>
          </a:xfrm>
          <a:prstGeom prst="roundRect">
            <a:avLst>
              <a:gd name="adj" fmla="val 8000"/>
            </a:avLst>
          </a:prstGeom>
          <a:solidFill>
            <a:srgbClr val="112c42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341" name="TextBox 32"/>
          <p:cNvSpPr/>
          <p:nvPr/>
        </p:nvSpPr>
        <p:spPr>
          <a:xfrm>
            <a:off x="658440" y="5961960"/>
            <a:ext cx="10880280" cy="18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1200" spc="-1" strike="noStrike">
                <a:solidFill>
                  <a:srgbClr val="ffffff"/>
                </a:solidFill>
                <a:latin typeface="DejaVu Sans"/>
                <a:ea typeface="DejaVu Sans"/>
              </a:rPr>
              <a:t>Percepções justificam requisitos; não comprovam ganho de faturamento causado pelo Spot.</a:t>
            </a:r>
            <a:endParaRPr b="0" lang="pt-BR" sz="1200" spc="-1" strike="noStrike">
              <a:latin typeface="Arial"/>
            </a:endParaRPr>
          </a:p>
        </p:txBody>
      </p:sp>
      <p:sp>
        <p:nvSpPr>
          <p:cNvPr id="342" name="Rectangle 9"/>
          <p:cNvSpPr/>
          <p:nvPr/>
        </p:nvSpPr>
        <p:spPr>
          <a:xfrm>
            <a:off x="4389120" y="3054240"/>
            <a:ext cx="1866600" cy="200160"/>
          </a:xfrm>
          <a:prstGeom prst="rect">
            <a:avLst/>
          </a:prstGeom>
          <a:solidFill>
            <a:srgbClr val="007e98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3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Rectangle 1"/>
          <p:cNvSpPr/>
          <p:nvPr/>
        </p:nvSpPr>
        <p:spPr>
          <a:xfrm>
            <a:off x="0" y="0"/>
            <a:ext cx="12190680" cy="72000"/>
          </a:xfrm>
          <a:prstGeom prst="rect">
            <a:avLst/>
          </a:prstGeom>
          <a:solidFill>
            <a:srgbClr val="007e98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344" name="TextBox 2"/>
          <p:cNvSpPr/>
          <p:nvPr/>
        </p:nvSpPr>
        <p:spPr>
          <a:xfrm>
            <a:off x="502920" y="292680"/>
            <a:ext cx="10057320" cy="15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1000" spc="-1" strike="noStrike">
                <a:solidFill>
                  <a:srgbClr val="007e98"/>
                </a:solidFill>
                <a:latin typeface="DejaVu Sans"/>
                <a:ea typeface="DejaVu Sans"/>
              </a:rPr>
              <a:t>06 / PESQUISA DE SISTEMAS</a:t>
            </a:r>
            <a:endParaRPr b="0" lang="pt-BR" sz="1000" spc="-1" strike="noStrike">
              <a:latin typeface="Arial"/>
            </a:endParaRPr>
          </a:p>
        </p:txBody>
      </p:sp>
      <p:sp>
        <p:nvSpPr>
          <p:cNvPr id="345" name="TextBox 3"/>
          <p:cNvSpPr/>
          <p:nvPr/>
        </p:nvSpPr>
        <p:spPr>
          <a:xfrm>
            <a:off x="502920" y="704160"/>
            <a:ext cx="11154600" cy="44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2900" spc="-1" strike="noStrike">
                <a:solidFill>
                  <a:srgbClr val="112c42"/>
                </a:solidFill>
                <a:latin typeface="DejaVu Sans"/>
                <a:ea typeface="DejaVu Sans"/>
              </a:rPr>
              <a:t>Referências do mercado. Recorte da Computécnica.</a:t>
            </a:r>
            <a:endParaRPr b="0" lang="pt-BR" sz="2900" spc="-1" strike="noStrike">
              <a:latin typeface="Arial"/>
            </a:endParaRPr>
          </a:p>
        </p:txBody>
      </p:sp>
      <p:sp>
        <p:nvSpPr>
          <p:cNvPr id="346" name="TextBox 4"/>
          <p:cNvSpPr/>
          <p:nvPr/>
        </p:nvSpPr>
        <p:spPr>
          <a:xfrm>
            <a:off x="521280" y="1362600"/>
            <a:ext cx="11063160" cy="19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1300" spc="-1" strike="noStrike">
                <a:solidFill>
                  <a:srgbClr val="526878"/>
                </a:solidFill>
                <a:latin typeface="DejaVu Sans"/>
                <a:ea typeface="DejaVu Sans"/>
              </a:rPr>
              <a:t>Diferencial defendido: adequação das regras e autonomia de evolução, sem alegar exclusividade.</a:t>
            </a:r>
            <a:endParaRPr b="0" lang="pt-BR" sz="1300" spc="-1" strike="noStrike">
              <a:latin typeface="Arial"/>
            </a:endParaRPr>
          </a:p>
        </p:txBody>
      </p:sp>
      <p:sp>
        <p:nvSpPr>
          <p:cNvPr id="347" name="TextBox 5"/>
          <p:cNvSpPr/>
          <p:nvPr/>
        </p:nvSpPr>
        <p:spPr>
          <a:xfrm>
            <a:off x="502920" y="6510600"/>
            <a:ext cx="10514520" cy="12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800" spc="-1" strike="noStrike">
                <a:solidFill>
                  <a:srgbClr val="526878"/>
                </a:solidFill>
                <a:latin typeface="DejaVu Sans"/>
                <a:ea typeface="DejaVu Sans"/>
              </a:rPr>
              <a:t>Fontes: monografia, estudo de sistemas; páginas oficiais consultadas em 26/10/2026 (URLs no guia e notas).</a:t>
            </a:r>
            <a:endParaRPr b="0" lang="pt-BR" sz="800" spc="-1" strike="noStrike">
              <a:latin typeface="Arial"/>
            </a:endParaRPr>
          </a:p>
        </p:txBody>
      </p:sp>
      <p:sp>
        <p:nvSpPr>
          <p:cNvPr id="348" name="TextBox 6"/>
          <p:cNvSpPr/>
          <p:nvPr/>
        </p:nvSpPr>
        <p:spPr>
          <a:xfrm>
            <a:off x="11018520" y="6483240"/>
            <a:ext cx="666360" cy="15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 algn="r"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1000" spc="-1" strike="noStrike">
                <a:solidFill>
                  <a:srgbClr val="526878"/>
                </a:solidFill>
                <a:latin typeface="DejaVu Sans"/>
                <a:ea typeface="DejaVu Sans"/>
              </a:rPr>
              <a:t>07 / 11</a:t>
            </a:r>
            <a:endParaRPr b="0" lang="pt-BR" sz="1000" spc="-1" strike="noStrike">
              <a:latin typeface="Arial"/>
            </a:endParaRPr>
          </a:p>
        </p:txBody>
      </p:sp>
      <p:sp>
        <p:nvSpPr>
          <p:cNvPr id="349" name="Rectangle 7"/>
          <p:cNvSpPr/>
          <p:nvPr/>
        </p:nvSpPr>
        <p:spPr>
          <a:xfrm>
            <a:off x="502920" y="1911240"/>
            <a:ext cx="1827720" cy="392040"/>
          </a:xfrm>
          <a:prstGeom prst="rect">
            <a:avLst/>
          </a:prstGeom>
          <a:solidFill>
            <a:srgbClr val="112c42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350" name="TextBox 8"/>
          <p:cNvSpPr/>
          <p:nvPr/>
        </p:nvSpPr>
        <p:spPr>
          <a:xfrm>
            <a:off x="594360" y="1993320"/>
            <a:ext cx="1644840" cy="18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1200" spc="-1" strike="noStrike">
                <a:solidFill>
                  <a:srgbClr val="ffffff"/>
                </a:solidFill>
                <a:latin typeface="DejaVu Sans"/>
                <a:ea typeface="DejaVu Sans"/>
              </a:rPr>
              <a:t>Referência</a:t>
            </a:r>
            <a:endParaRPr b="0" lang="pt-BR" sz="1200" spc="-1" strike="noStrike">
              <a:latin typeface="Arial"/>
            </a:endParaRPr>
          </a:p>
        </p:txBody>
      </p:sp>
      <p:sp>
        <p:nvSpPr>
          <p:cNvPr id="351" name="Rectangle 9"/>
          <p:cNvSpPr/>
          <p:nvPr/>
        </p:nvSpPr>
        <p:spPr>
          <a:xfrm>
            <a:off x="2468880" y="1911240"/>
            <a:ext cx="3839400" cy="392040"/>
          </a:xfrm>
          <a:prstGeom prst="rect">
            <a:avLst/>
          </a:prstGeom>
          <a:solidFill>
            <a:srgbClr val="112c42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352" name="TextBox 10"/>
          <p:cNvSpPr/>
          <p:nvPr/>
        </p:nvSpPr>
        <p:spPr>
          <a:xfrm>
            <a:off x="2560320" y="1993320"/>
            <a:ext cx="3656520" cy="18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1200" spc="-1" strike="noStrike">
                <a:solidFill>
                  <a:srgbClr val="ffffff"/>
                </a:solidFill>
                <a:latin typeface="DejaVu Sans"/>
                <a:ea typeface="DejaVu Sans"/>
              </a:rPr>
              <a:t>Força observada</a:t>
            </a:r>
            <a:endParaRPr b="0" lang="pt-BR" sz="1200" spc="-1" strike="noStrike">
              <a:latin typeface="Arial"/>
            </a:endParaRPr>
          </a:p>
        </p:txBody>
      </p:sp>
      <p:sp>
        <p:nvSpPr>
          <p:cNvPr id="353" name="Rectangle 11"/>
          <p:cNvSpPr/>
          <p:nvPr/>
        </p:nvSpPr>
        <p:spPr>
          <a:xfrm>
            <a:off x="6602040" y="1911240"/>
            <a:ext cx="5073840" cy="392040"/>
          </a:xfrm>
          <a:prstGeom prst="rect">
            <a:avLst/>
          </a:prstGeom>
          <a:solidFill>
            <a:srgbClr val="112c42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354" name="TextBox 12"/>
          <p:cNvSpPr/>
          <p:nvPr/>
        </p:nvSpPr>
        <p:spPr>
          <a:xfrm>
            <a:off x="6693480" y="1993320"/>
            <a:ext cx="4890960" cy="18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1200" spc="-1" strike="noStrike">
                <a:solidFill>
                  <a:srgbClr val="ffffff"/>
                </a:solidFill>
                <a:latin typeface="DejaVu Sans"/>
                <a:ea typeface="DejaVu Sans"/>
              </a:rPr>
              <a:t>Recorte do Spot</a:t>
            </a:r>
            <a:endParaRPr b="0" lang="pt-BR" sz="1200" spc="-1" strike="noStrike">
              <a:latin typeface="Arial"/>
            </a:endParaRPr>
          </a:p>
        </p:txBody>
      </p:sp>
      <p:sp>
        <p:nvSpPr>
          <p:cNvPr id="355" name="Rectangle 13"/>
          <p:cNvSpPr/>
          <p:nvPr/>
        </p:nvSpPr>
        <p:spPr>
          <a:xfrm>
            <a:off x="502920" y="2395800"/>
            <a:ext cx="11172960" cy="355680"/>
          </a:xfrm>
          <a:prstGeom prst="rect">
            <a:avLst/>
          </a:prstGeom>
          <a:solidFill>
            <a:srgbClr val="ffffff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356" name="TextBox 14"/>
          <p:cNvSpPr/>
          <p:nvPr/>
        </p:nvSpPr>
        <p:spPr>
          <a:xfrm>
            <a:off x="621720" y="2459880"/>
            <a:ext cx="1736280" cy="19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1300" spc="-1" strike="noStrike">
                <a:solidFill>
                  <a:srgbClr val="007e98"/>
                </a:solidFill>
                <a:latin typeface="DejaVu Sans"/>
                <a:ea typeface="DejaVu Sans"/>
              </a:rPr>
              <a:t>Monday.com</a:t>
            </a:r>
            <a:endParaRPr b="0" lang="pt-BR" sz="1300" spc="-1" strike="noStrike">
              <a:latin typeface="Arial"/>
            </a:endParaRPr>
          </a:p>
        </p:txBody>
      </p:sp>
      <p:sp>
        <p:nvSpPr>
          <p:cNvPr id="357" name="TextBox 15"/>
          <p:cNvSpPr/>
          <p:nvPr/>
        </p:nvSpPr>
        <p:spPr>
          <a:xfrm>
            <a:off x="2560320" y="2459880"/>
            <a:ext cx="3885120" cy="19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1300" spc="-1" strike="noStrike">
                <a:solidFill>
                  <a:srgbClr val="183447"/>
                </a:solidFill>
                <a:latin typeface="DejaVu Sans"/>
                <a:ea typeface="DejaVu Sans"/>
              </a:rPr>
              <a:t>Gestão visual e automações</a:t>
            </a:r>
            <a:endParaRPr b="0" lang="pt-BR" sz="1300" spc="-1" strike="noStrike">
              <a:latin typeface="Arial"/>
            </a:endParaRPr>
          </a:p>
        </p:txBody>
      </p:sp>
      <p:sp>
        <p:nvSpPr>
          <p:cNvPr id="358" name="TextBox 16"/>
          <p:cNvSpPr/>
          <p:nvPr/>
        </p:nvSpPr>
        <p:spPr>
          <a:xfrm>
            <a:off x="6693480" y="2459880"/>
            <a:ext cx="4799520" cy="19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1300" spc="-1" strike="noStrike">
                <a:solidFill>
                  <a:srgbClr val="183447"/>
                </a:solidFill>
                <a:latin typeface="DejaVu Sans"/>
                <a:ea typeface="DejaVu Sans"/>
              </a:rPr>
              <a:t>Regras financeiras para o cliente</a:t>
            </a:r>
            <a:endParaRPr b="0" lang="pt-BR" sz="1300" spc="-1" strike="noStrike">
              <a:latin typeface="Arial"/>
            </a:endParaRPr>
          </a:p>
        </p:txBody>
      </p:sp>
      <p:sp>
        <p:nvSpPr>
          <p:cNvPr id="359" name="Rectangle 17"/>
          <p:cNvSpPr/>
          <p:nvPr/>
        </p:nvSpPr>
        <p:spPr>
          <a:xfrm>
            <a:off x="502920" y="2788920"/>
            <a:ext cx="11172960" cy="355680"/>
          </a:xfrm>
          <a:prstGeom prst="rect">
            <a:avLst/>
          </a:prstGeom>
          <a:solidFill>
            <a:srgbClr val="eaf0f3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360" name="TextBox 18"/>
          <p:cNvSpPr/>
          <p:nvPr/>
        </p:nvSpPr>
        <p:spPr>
          <a:xfrm>
            <a:off x="621720" y="2853000"/>
            <a:ext cx="1736280" cy="19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1300" spc="-1" strike="noStrike">
                <a:solidFill>
                  <a:srgbClr val="007e98"/>
                </a:solidFill>
                <a:latin typeface="DejaVu Sans"/>
                <a:ea typeface="DejaVu Sans"/>
              </a:rPr>
              <a:t>Asana</a:t>
            </a:r>
            <a:endParaRPr b="0" lang="pt-BR" sz="1300" spc="-1" strike="noStrike">
              <a:latin typeface="Arial"/>
            </a:endParaRPr>
          </a:p>
        </p:txBody>
      </p:sp>
      <p:sp>
        <p:nvSpPr>
          <p:cNvPr id="361" name="TextBox 19"/>
          <p:cNvSpPr/>
          <p:nvPr/>
        </p:nvSpPr>
        <p:spPr>
          <a:xfrm>
            <a:off x="2560320" y="2853000"/>
            <a:ext cx="3885120" cy="19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1300" spc="-1" strike="noStrike">
                <a:solidFill>
                  <a:srgbClr val="183447"/>
                </a:solidFill>
                <a:latin typeface="DejaVu Sans"/>
                <a:ea typeface="DejaVu Sans"/>
              </a:rPr>
              <a:t>Coordenação de tarefas e projetos</a:t>
            </a:r>
            <a:endParaRPr b="0" lang="pt-BR" sz="1300" spc="-1" strike="noStrike">
              <a:latin typeface="Arial"/>
            </a:endParaRPr>
          </a:p>
        </p:txBody>
      </p:sp>
      <p:sp>
        <p:nvSpPr>
          <p:cNvPr id="362" name="TextBox 20"/>
          <p:cNvSpPr/>
          <p:nvPr/>
        </p:nvSpPr>
        <p:spPr>
          <a:xfrm>
            <a:off x="6693480" y="2853000"/>
            <a:ext cx="4799520" cy="19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1300" spc="-1" strike="noStrike">
                <a:solidFill>
                  <a:srgbClr val="183447"/>
                </a:solidFill>
                <a:latin typeface="DejaVu Sans"/>
                <a:ea typeface="DejaVu Sans"/>
              </a:rPr>
              <a:t>Contrato → horas → resultado</a:t>
            </a:r>
            <a:endParaRPr b="0" lang="pt-BR" sz="1300" spc="-1" strike="noStrike">
              <a:latin typeface="Arial"/>
            </a:endParaRPr>
          </a:p>
        </p:txBody>
      </p:sp>
      <p:sp>
        <p:nvSpPr>
          <p:cNvPr id="363" name="Rectangle 21"/>
          <p:cNvSpPr/>
          <p:nvPr/>
        </p:nvSpPr>
        <p:spPr>
          <a:xfrm>
            <a:off x="502920" y="3182040"/>
            <a:ext cx="11172960" cy="355680"/>
          </a:xfrm>
          <a:prstGeom prst="rect">
            <a:avLst/>
          </a:prstGeom>
          <a:solidFill>
            <a:srgbClr val="ffffff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364" name="TextBox 22"/>
          <p:cNvSpPr/>
          <p:nvPr/>
        </p:nvSpPr>
        <p:spPr>
          <a:xfrm>
            <a:off x="621720" y="3246120"/>
            <a:ext cx="1736280" cy="19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1300" spc="-1" strike="noStrike">
                <a:solidFill>
                  <a:srgbClr val="007e98"/>
                </a:solidFill>
                <a:latin typeface="DejaVu Sans"/>
                <a:ea typeface="DejaVu Sans"/>
              </a:rPr>
              <a:t>Jira</a:t>
            </a:r>
            <a:endParaRPr b="0" lang="pt-BR" sz="1300" spc="-1" strike="noStrike">
              <a:latin typeface="Arial"/>
            </a:endParaRPr>
          </a:p>
        </p:txBody>
      </p:sp>
      <p:sp>
        <p:nvSpPr>
          <p:cNvPr id="365" name="TextBox 23"/>
          <p:cNvSpPr/>
          <p:nvPr/>
        </p:nvSpPr>
        <p:spPr>
          <a:xfrm>
            <a:off x="2560320" y="3246120"/>
            <a:ext cx="3885120" cy="19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1300" spc="-1" strike="noStrike">
                <a:solidFill>
                  <a:srgbClr val="183447"/>
                </a:solidFill>
                <a:latin typeface="DejaVu Sans"/>
                <a:ea typeface="DejaVu Sans"/>
              </a:rPr>
              <a:t>Planejamento e acompanhamento</a:t>
            </a:r>
            <a:endParaRPr b="0" lang="pt-BR" sz="1300" spc="-1" strike="noStrike">
              <a:latin typeface="Arial"/>
            </a:endParaRPr>
          </a:p>
        </p:txBody>
      </p:sp>
      <p:sp>
        <p:nvSpPr>
          <p:cNvPr id="366" name="TextBox 24"/>
          <p:cNvSpPr/>
          <p:nvPr/>
        </p:nvSpPr>
        <p:spPr>
          <a:xfrm>
            <a:off x="6693480" y="3246120"/>
            <a:ext cx="4799520" cy="19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1300" spc="-1" strike="noStrike">
                <a:solidFill>
                  <a:srgbClr val="183447"/>
                </a:solidFill>
                <a:latin typeface="DejaVu Sans"/>
                <a:ea typeface="DejaVu Sans"/>
              </a:rPr>
              <a:t>Operação de serviços e custos</a:t>
            </a:r>
            <a:endParaRPr b="0" lang="pt-BR" sz="1300" spc="-1" strike="noStrike">
              <a:latin typeface="Arial"/>
            </a:endParaRPr>
          </a:p>
        </p:txBody>
      </p:sp>
      <p:sp>
        <p:nvSpPr>
          <p:cNvPr id="367" name="Rectangle 25"/>
          <p:cNvSpPr/>
          <p:nvPr/>
        </p:nvSpPr>
        <p:spPr>
          <a:xfrm>
            <a:off x="502920" y="3575160"/>
            <a:ext cx="11172960" cy="355680"/>
          </a:xfrm>
          <a:prstGeom prst="rect">
            <a:avLst/>
          </a:prstGeom>
          <a:solidFill>
            <a:srgbClr val="eaf0f3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368" name="TextBox 26"/>
          <p:cNvSpPr/>
          <p:nvPr/>
        </p:nvSpPr>
        <p:spPr>
          <a:xfrm>
            <a:off x="621720" y="3639240"/>
            <a:ext cx="1736280" cy="19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1300" spc="-1" strike="noStrike">
                <a:solidFill>
                  <a:srgbClr val="007e98"/>
                </a:solidFill>
                <a:latin typeface="DejaVu Sans"/>
                <a:ea typeface="DejaVu Sans"/>
              </a:rPr>
              <a:t>Trello</a:t>
            </a:r>
            <a:endParaRPr b="0" lang="pt-BR" sz="1300" spc="-1" strike="noStrike">
              <a:latin typeface="Arial"/>
            </a:endParaRPr>
          </a:p>
        </p:txBody>
      </p:sp>
      <p:sp>
        <p:nvSpPr>
          <p:cNvPr id="369" name="TextBox 27"/>
          <p:cNvSpPr/>
          <p:nvPr/>
        </p:nvSpPr>
        <p:spPr>
          <a:xfrm>
            <a:off x="2560320" y="3639240"/>
            <a:ext cx="3885120" cy="19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1300" spc="-1" strike="noStrike">
                <a:solidFill>
                  <a:srgbClr val="183447"/>
                </a:solidFill>
                <a:latin typeface="DejaVu Sans"/>
                <a:ea typeface="DejaVu Sans"/>
              </a:rPr>
              <a:t>Organização visual em quadros</a:t>
            </a:r>
            <a:endParaRPr b="0" lang="pt-BR" sz="1300" spc="-1" strike="noStrike">
              <a:latin typeface="Arial"/>
            </a:endParaRPr>
          </a:p>
        </p:txBody>
      </p:sp>
      <p:sp>
        <p:nvSpPr>
          <p:cNvPr id="370" name="TextBox 28"/>
          <p:cNvSpPr/>
          <p:nvPr/>
        </p:nvSpPr>
        <p:spPr>
          <a:xfrm>
            <a:off x="6693480" y="3639240"/>
            <a:ext cx="4799520" cy="19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1300" spc="-1" strike="noStrike">
                <a:solidFill>
                  <a:srgbClr val="183447"/>
                </a:solidFill>
                <a:latin typeface="DejaVu Sans"/>
                <a:ea typeface="DejaVu Sans"/>
              </a:rPr>
              <a:t>Tarifas, despesas e governança no domínio</a:t>
            </a:r>
            <a:endParaRPr b="0" lang="pt-BR" sz="1300" spc="-1" strike="noStrike">
              <a:latin typeface="Arial"/>
            </a:endParaRPr>
          </a:p>
        </p:txBody>
      </p:sp>
      <p:sp>
        <p:nvSpPr>
          <p:cNvPr id="371" name="Rectangle 29"/>
          <p:cNvSpPr/>
          <p:nvPr/>
        </p:nvSpPr>
        <p:spPr>
          <a:xfrm>
            <a:off x="502920" y="3968640"/>
            <a:ext cx="11172960" cy="355680"/>
          </a:xfrm>
          <a:prstGeom prst="rect">
            <a:avLst/>
          </a:prstGeom>
          <a:solidFill>
            <a:srgbClr val="ffffff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372" name="TextBox 30"/>
          <p:cNvSpPr/>
          <p:nvPr/>
        </p:nvSpPr>
        <p:spPr>
          <a:xfrm>
            <a:off x="621720" y="4032360"/>
            <a:ext cx="1736280" cy="19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1300" spc="-1" strike="noStrike">
                <a:solidFill>
                  <a:srgbClr val="007e98"/>
                </a:solidFill>
                <a:latin typeface="DejaVu Sans"/>
                <a:ea typeface="DejaVu Sans"/>
              </a:rPr>
              <a:t>ClickUp</a:t>
            </a:r>
            <a:endParaRPr b="0" lang="pt-BR" sz="1300" spc="-1" strike="noStrike">
              <a:latin typeface="Arial"/>
            </a:endParaRPr>
          </a:p>
        </p:txBody>
      </p:sp>
      <p:sp>
        <p:nvSpPr>
          <p:cNvPr id="373" name="TextBox 31"/>
          <p:cNvSpPr/>
          <p:nvPr/>
        </p:nvSpPr>
        <p:spPr>
          <a:xfrm>
            <a:off x="2560320" y="4032360"/>
            <a:ext cx="3885120" cy="19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1300" spc="-1" strike="noStrike">
                <a:solidFill>
                  <a:srgbClr val="183447"/>
                </a:solidFill>
                <a:latin typeface="DejaVu Sans"/>
                <a:ea typeface="DejaVu Sans"/>
              </a:rPr>
              <a:t>Centralização, tempo e dashboards</a:t>
            </a:r>
            <a:endParaRPr b="0" lang="pt-BR" sz="1300" spc="-1" strike="noStrike">
              <a:latin typeface="Arial"/>
            </a:endParaRPr>
          </a:p>
        </p:txBody>
      </p:sp>
      <p:sp>
        <p:nvSpPr>
          <p:cNvPr id="374" name="TextBox 32"/>
          <p:cNvSpPr/>
          <p:nvPr/>
        </p:nvSpPr>
        <p:spPr>
          <a:xfrm>
            <a:off x="6693480" y="4032360"/>
            <a:ext cx="4799520" cy="19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1300" spc="-1" strike="noStrike">
                <a:solidFill>
                  <a:srgbClr val="183447"/>
                </a:solidFill>
                <a:latin typeface="DejaVu Sans"/>
                <a:ea typeface="DejaVu Sans"/>
              </a:rPr>
              <a:t>Modelo específico em código próprio</a:t>
            </a:r>
            <a:endParaRPr b="0" lang="pt-BR" sz="1300" spc="-1" strike="noStrike">
              <a:latin typeface="Arial"/>
            </a:endParaRPr>
          </a:p>
        </p:txBody>
      </p:sp>
      <p:sp>
        <p:nvSpPr>
          <p:cNvPr id="375" name="Rectangle 33"/>
          <p:cNvSpPr/>
          <p:nvPr/>
        </p:nvSpPr>
        <p:spPr>
          <a:xfrm>
            <a:off x="502920" y="4361760"/>
            <a:ext cx="11172960" cy="355680"/>
          </a:xfrm>
          <a:prstGeom prst="rect">
            <a:avLst/>
          </a:prstGeom>
          <a:solidFill>
            <a:srgbClr val="eaf0f3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376" name="TextBox 34"/>
          <p:cNvSpPr/>
          <p:nvPr/>
        </p:nvSpPr>
        <p:spPr>
          <a:xfrm>
            <a:off x="621720" y="4425840"/>
            <a:ext cx="1736280" cy="19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1300" spc="-1" strike="noStrike">
                <a:solidFill>
                  <a:srgbClr val="007e98"/>
                </a:solidFill>
                <a:latin typeface="DejaVu Sans"/>
                <a:ea typeface="DejaVu Sans"/>
              </a:rPr>
              <a:t>Notion</a:t>
            </a:r>
            <a:endParaRPr b="0" lang="pt-BR" sz="1300" spc="-1" strike="noStrike">
              <a:latin typeface="Arial"/>
            </a:endParaRPr>
          </a:p>
        </p:txBody>
      </p:sp>
      <p:sp>
        <p:nvSpPr>
          <p:cNvPr id="377" name="TextBox 35"/>
          <p:cNvSpPr/>
          <p:nvPr/>
        </p:nvSpPr>
        <p:spPr>
          <a:xfrm>
            <a:off x="2560320" y="4425840"/>
            <a:ext cx="3885120" cy="19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1300" spc="-1" strike="noStrike">
                <a:solidFill>
                  <a:srgbClr val="183447"/>
                </a:solidFill>
                <a:latin typeface="DejaVu Sans"/>
                <a:ea typeface="DejaVu Sans"/>
              </a:rPr>
              <a:t>Documentos e bases configuráveis</a:t>
            </a:r>
            <a:endParaRPr b="0" lang="pt-BR" sz="1300" spc="-1" strike="noStrike">
              <a:latin typeface="Arial"/>
            </a:endParaRPr>
          </a:p>
        </p:txBody>
      </p:sp>
      <p:sp>
        <p:nvSpPr>
          <p:cNvPr id="378" name="TextBox 36"/>
          <p:cNvSpPr/>
          <p:nvPr/>
        </p:nvSpPr>
        <p:spPr>
          <a:xfrm>
            <a:off x="6693480" y="4425840"/>
            <a:ext cx="4799520" cy="19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1300" spc="-1" strike="noStrike">
                <a:solidFill>
                  <a:srgbClr val="183447"/>
                </a:solidFill>
                <a:latin typeface="DejaVu Sans"/>
                <a:ea typeface="DejaVu Sans"/>
              </a:rPr>
              <a:t>Regras transacionais explícitas</a:t>
            </a:r>
            <a:endParaRPr b="0" lang="pt-BR" sz="1300" spc="-1" strike="noStrike">
              <a:latin typeface="Arial"/>
            </a:endParaRPr>
          </a:p>
        </p:txBody>
      </p:sp>
      <p:sp>
        <p:nvSpPr>
          <p:cNvPr id="379" name="Rounded Rectangle 38"/>
          <p:cNvSpPr/>
          <p:nvPr/>
        </p:nvSpPr>
        <p:spPr>
          <a:xfrm>
            <a:off x="502920" y="5870520"/>
            <a:ext cx="11172960" cy="437760"/>
          </a:xfrm>
          <a:prstGeom prst="roundRect">
            <a:avLst>
              <a:gd name="adj" fmla="val 8000"/>
            </a:avLst>
          </a:prstGeom>
          <a:solidFill>
            <a:srgbClr val="112c42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380" name="TextBox 39"/>
          <p:cNvSpPr/>
          <p:nvPr/>
        </p:nvSpPr>
        <p:spPr>
          <a:xfrm>
            <a:off x="658440" y="5961960"/>
            <a:ext cx="10880280" cy="18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1200" spc="-1" strike="noStrike">
                <a:solidFill>
                  <a:srgbClr val="ffffff"/>
                </a:solidFill>
                <a:latin typeface="DejaVu Sans"/>
                <a:ea typeface="DejaVu Sans"/>
              </a:rPr>
              <a:t>Código próprio permite adaptação e hospedagem própria; não elimina custo de operação ou manutenção.</a:t>
            </a:r>
            <a:endParaRPr b="0" lang="pt-BR" sz="1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3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Rectangle 1"/>
          <p:cNvSpPr/>
          <p:nvPr/>
        </p:nvSpPr>
        <p:spPr>
          <a:xfrm>
            <a:off x="0" y="0"/>
            <a:ext cx="12190680" cy="72000"/>
          </a:xfrm>
          <a:prstGeom prst="rect">
            <a:avLst/>
          </a:prstGeom>
          <a:solidFill>
            <a:srgbClr val="007e98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382" name="TextBox 2"/>
          <p:cNvSpPr/>
          <p:nvPr/>
        </p:nvSpPr>
        <p:spPr>
          <a:xfrm>
            <a:off x="502920" y="292680"/>
            <a:ext cx="10057320" cy="15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1000" spc="-1" strike="noStrike">
                <a:solidFill>
                  <a:srgbClr val="007e98"/>
                </a:solidFill>
                <a:latin typeface="DejaVu Sans"/>
                <a:ea typeface="DejaVu Sans"/>
              </a:rPr>
              <a:t>07 / SUGESTÕES ABERTAS</a:t>
            </a:r>
            <a:endParaRPr b="0" lang="pt-BR" sz="1000" spc="-1" strike="noStrike">
              <a:latin typeface="Arial"/>
            </a:endParaRPr>
          </a:p>
        </p:txBody>
      </p:sp>
      <p:sp>
        <p:nvSpPr>
          <p:cNvPr id="383" name="TextBox 3"/>
          <p:cNvSpPr/>
          <p:nvPr/>
        </p:nvSpPr>
        <p:spPr>
          <a:xfrm>
            <a:off x="502920" y="704160"/>
            <a:ext cx="11154600" cy="44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2900" spc="-1" strike="noStrike">
                <a:solidFill>
                  <a:srgbClr val="112c42"/>
                </a:solidFill>
                <a:latin typeface="DejaVu Sans"/>
                <a:ea typeface="DejaVu Sans"/>
              </a:rPr>
              <a:t>Do pedido à entrega — com escopo explícito</a:t>
            </a:r>
            <a:endParaRPr b="0" lang="pt-BR" sz="2900" spc="-1" strike="noStrike">
              <a:latin typeface="Arial"/>
            </a:endParaRPr>
          </a:p>
        </p:txBody>
      </p:sp>
      <p:sp>
        <p:nvSpPr>
          <p:cNvPr id="384" name="TextBox 4"/>
          <p:cNvSpPr/>
          <p:nvPr/>
        </p:nvSpPr>
        <p:spPr>
          <a:xfrm>
            <a:off x="521280" y="1362600"/>
            <a:ext cx="11063160" cy="19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1300" spc="-1" strike="noStrike">
                <a:solidFill>
                  <a:srgbClr val="526878"/>
                </a:solidFill>
                <a:latin typeface="DejaVu Sans"/>
                <a:ea typeface="DejaVu Sans"/>
              </a:rPr>
              <a:t>57 comentários declarados • tabela publicada: 49 frequências • temas não são depoimentos literais</a:t>
            </a:r>
            <a:endParaRPr b="0" lang="pt-BR" sz="1300" spc="-1" strike="noStrike">
              <a:latin typeface="Arial"/>
            </a:endParaRPr>
          </a:p>
        </p:txBody>
      </p:sp>
      <p:sp>
        <p:nvSpPr>
          <p:cNvPr id="385" name="TextBox 5"/>
          <p:cNvSpPr/>
          <p:nvPr/>
        </p:nvSpPr>
        <p:spPr>
          <a:xfrm>
            <a:off x="502920" y="6510600"/>
            <a:ext cx="10514520" cy="12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800" spc="-1" strike="noStrike">
                <a:solidFill>
                  <a:srgbClr val="526878"/>
                </a:solidFill>
                <a:latin typeface="DejaVu Sans"/>
                <a:ea typeface="DejaVu Sans"/>
              </a:rPr>
              <a:t>Fonte: pesquisa SPOT (2026), tabela 1; código atual. Frequências não equivalem a uma distribuição completa.</a:t>
            </a:r>
            <a:endParaRPr b="0" lang="pt-BR" sz="800" spc="-1" strike="noStrike">
              <a:latin typeface="Arial"/>
            </a:endParaRPr>
          </a:p>
        </p:txBody>
      </p:sp>
      <p:sp>
        <p:nvSpPr>
          <p:cNvPr id="386" name="TextBox 6"/>
          <p:cNvSpPr/>
          <p:nvPr/>
        </p:nvSpPr>
        <p:spPr>
          <a:xfrm>
            <a:off x="11018520" y="6483240"/>
            <a:ext cx="666360" cy="15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 algn="r"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1000" spc="-1" strike="noStrike">
                <a:solidFill>
                  <a:srgbClr val="526878"/>
                </a:solidFill>
                <a:latin typeface="DejaVu Sans"/>
                <a:ea typeface="DejaVu Sans"/>
              </a:rPr>
              <a:t>08 / 11</a:t>
            </a:r>
            <a:endParaRPr b="0" lang="pt-BR" sz="1000" spc="-1" strike="noStrike">
              <a:latin typeface="Arial"/>
            </a:endParaRPr>
          </a:p>
        </p:txBody>
      </p:sp>
      <p:sp>
        <p:nvSpPr>
          <p:cNvPr id="387" name="Rounded Rectangle 7"/>
          <p:cNvSpPr/>
          <p:nvPr/>
        </p:nvSpPr>
        <p:spPr>
          <a:xfrm>
            <a:off x="502920" y="1984320"/>
            <a:ext cx="11172960" cy="410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388" name="TextBox 8"/>
          <p:cNvSpPr/>
          <p:nvPr/>
        </p:nvSpPr>
        <p:spPr>
          <a:xfrm>
            <a:off x="640080" y="2057400"/>
            <a:ext cx="2193480" cy="19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1300" spc="-1" strike="noStrike">
                <a:solidFill>
                  <a:srgbClr val="183447"/>
                </a:solidFill>
                <a:latin typeface="DejaVu Sans"/>
                <a:ea typeface="DejaVu Sans"/>
              </a:rPr>
              <a:t>Interface simples</a:t>
            </a:r>
            <a:endParaRPr b="0" lang="pt-BR" sz="1300" spc="-1" strike="noStrike">
              <a:latin typeface="Arial"/>
            </a:endParaRPr>
          </a:p>
        </p:txBody>
      </p:sp>
      <p:sp>
        <p:nvSpPr>
          <p:cNvPr id="389" name="TextBox 9"/>
          <p:cNvSpPr/>
          <p:nvPr/>
        </p:nvSpPr>
        <p:spPr>
          <a:xfrm>
            <a:off x="2834640" y="2057400"/>
            <a:ext cx="456120" cy="21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1400" spc="-1" strike="noStrike">
                <a:solidFill>
                  <a:srgbClr val="007e98"/>
                </a:solidFill>
                <a:latin typeface="DejaVu Sans"/>
                <a:ea typeface="DejaVu Sans"/>
              </a:rPr>
              <a:t>12</a:t>
            </a:r>
            <a:endParaRPr b="0" lang="pt-BR" sz="1400" spc="-1" strike="noStrike">
              <a:latin typeface="Arial"/>
            </a:endParaRPr>
          </a:p>
        </p:txBody>
      </p:sp>
      <p:sp>
        <p:nvSpPr>
          <p:cNvPr id="390" name="TextBox 10"/>
          <p:cNvSpPr/>
          <p:nvPr/>
        </p:nvSpPr>
        <p:spPr>
          <a:xfrm>
            <a:off x="3456360" y="2057400"/>
            <a:ext cx="4753800" cy="19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1300" spc="-1" strike="noStrike">
                <a:solidFill>
                  <a:srgbClr val="183447"/>
                </a:solidFill>
                <a:latin typeface="DejaVu Sans"/>
                <a:ea typeface="DejaVu Sans"/>
              </a:rPr>
              <a:t>Tutorial, temas e navegação</a:t>
            </a:r>
            <a:endParaRPr b="0" lang="pt-BR" sz="1300" spc="-1" strike="noStrike">
              <a:latin typeface="Arial"/>
            </a:endParaRPr>
          </a:p>
        </p:txBody>
      </p:sp>
      <p:sp>
        <p:nvSpPr>
          <p:cNvPr id="391" name="TextBox 11"/>
          <p:cNvSpPr/>
          <p:nvPr/>
        </p:nvSpPr>
        <p:spPr>
          <a:xfrm>
            <a:off x="8641080" y="2057400"/>
            <a:ext cx="2833560" cy="18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1200" spc="-1" strike="noStrike">
                <a:solidFill>
                  <a:srgbClr val="008b79"/>
                </a:solidFill>
                <a:latin typeface="DejaVu Sans"/>
                <a:ea typeface="DejaVu Sans"/>
              </a:rPr>
              <a:t>Implementado</a:t>
            </a:r>
            <a:endParaRPr b="0" lang="pt-BR" sz="1200" spc="-1" strike="noStrike">
              <a:latin typeface="Arial"/>
            </a:endParaRPr>
          </a:p>
        </p:txBody>
      </p:sp>
      <p:sp>
        <p:nvSpPr>
          <p:cNvPr id="392" name="Rounded Rectangle 12"/>
          <p:cNvSpPr/>
          <p:nvPr/>
        </p:nvSpPr>
        <p:spPr>
          <a:xfrm>
            <a:off x="502920" y="2523600"/>
            <a:ext cx="11172960" cy="410400"/>
          </a:xfrm>
          <a:prstGeom prst="roundRect">
            <a:avLst>
              <a:gd name="adj" fmla="val 8000"/>
            </a:avLst>
          </a:prstGeom>
          <a:solidFill>
            <a:srgbClr val="eaf0f3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393" name="TextBox 13"/>
          <p:cNvSpPr/>
          <p:nvPr/>
        </p:nvSpPr>
        <p:spPr>
          <a:xfrm>
            <a:off x="640080" y="2597040"/>
            <a:ext cx="2193480" cy="19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1300" spc="-1" strike="noStrike">
                <a:solidFill>
                  <a:srgbClr val="183447"/>
                </a:solidFill>
                <a:latin typeface="DejaVu Sans"/>
                <a:ea typeface="DejaVu Sans"/>
              </a:rPr>
              <a:t>Financeiro</a:t>
            </a:r>
            <a:endParaRPr b="0" lang="pt-BR" sz="1300" spc="-1" strike="noStrike">
              <a:latin typeface="Arial"/>
            </a:endParaRPr>
          </a:p>
        </p:txBody>
      </p:sp>
      <p:sp>
        <p:nvSpPr>
          <p:cNvPr id="394" name="TextBox 14"/>
          <p:cNvSpPr/>
          <p:nvPr/>
        </p:nvSpPr>
        <p:spPr>
          <a:xfrm>
            <a:off x="2834640" y="2597040"/>
            <a:ext cx="456120" cy="21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1400" spc="-1" strike="noStrike">
                <a:solidFill>
                  <a:srgbClr val="007e98"/>
                </a:solidFill>
                <a:latin typeface="DejaVu Sans"/>
                <a:ea typeface="DejaVu Sans"/>
              </a:rPr>
              <a:t>6</a:t>
            </a:r>
            <a:endParaRPr b="0" lang="pt-BR" sz="1400" spc="-1" strike="noStrike">
              <a:latin typeface="Arial"/>
            </a:endParaRPr>
          </a:p>
        </p:txBody>
      </p:sp>
      <p:sp>
        <p:nvSpPr>
          <p:cNvPr id="395" name="TextBox 15"/>
          <p:cNvSpPr/>
          <p:nvPr/>
        </p:nvSpPr>
        <p:spPr>
          <a:xfrm>
            <a:off x="3456360" y="2597040"/>
            <a:ext cx="4753800" cy="19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1300" spc="-1" strike="noStrike">
                <a:solidFill>
                  <a:srgbClr val="183447"/>
                </a:solidFill>
                <a:latin typeface="DejaVu Sans"/>
                <a:ea typeface="DejaVu Sans"/>
              </a:rPr>
              <a:t>Horas, tarifas, despesas e resultado</a:t>
            </a:r>
            <a:endParaRPr b="0" lang="pt-BR" sz="1300" spc="-1" strike="noStrike">
              <a:latin typeface="Arial"/>
            </a:endParaRPr>
          </a:p>
        </p:txBody>
      </p:sp>
      <p:sp>
        <p:nvSpPr>
          <p:cNvPr id="396" name="TextBox 16"/>
          <p:cNvSpPr/>
          <p:nvPr/>
        </p:nvSpPr>
        <p:spPr>
          <a:xfrm>
            <a:off x="8641080" y="2597040"/>
            <a:ext cx="2833560" cy="18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1200" spc="-1" strike="noStrike">
                <a:solidFill>
                  <a:srgbClr val="008b79"/>
                </a:solidFill>
                <a:latin typeface="DejaVu Sans"/>
                <a:ea typeface="DejaVu Sans"/>
              </a:rPr>
              <a:t>Implementado</a:t>
            </a:r>
            <a:endParaRPr b="0" lang="pt-BR" sz="1200" spc="-1" strike="noStrike">
              <a:latin typeface="Arial"/>
            </a:endParaRPr>
          </a:p>
        </p:txBody>
      </p:sp>
      <p:sp>
        <p:nvSpPr>
          <p:cNvPr id="397" name="Rounded Rectangle 17"/>
          <p:cNvSpPr/>
          <p:nvPr/>
        </p:nvSpPr>
        <p:spPr>
          <a:xfrm>
            <a:off x="502920" y="3063240"/>
            <a:ext cx="11172960" cy="410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398" name="TextBox 18"/>
          <p:cNvSpPr/>
          <p:nvPr/>
        </p:nvSpPr>
        <p:spPr>
          <a:xfrm>
            <a:off x="640080" y="3136320"/>
            <a:ext cx="2193480" cy="19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1300" spc="-1" strike="noStrike">
                <a:solidFill>
                  <a:srgbClr val="183447"/>
                </a:solidFill>
                <a:latin typeface="DejaVu Sans"/>
                <a:ea typeface="DejaVu Sans"/>
              </a:rPr>
              <a:t>Integrações/e-mail</a:t>
            </a:r>
            <a:endParaRPr b="0" lang="pt-BR" sz="1300" spc="-1" strike="noStrike">
              <a:latin typeface="Arial"/>
            </a:endParaRPr>
          </a:p>
        </p:txBody>
      </p:sp>
      <p:sp>
        <p:nvSpPr>
          <p:cNvPr id="399" name="TextBox 19"/>
          <p:cNvSpPr/>
          <p:nvPr/>
        </p:nvSpPr>
        <p:spPr>
          <a:xfrm>
            <a:off x="2834640" y="3136320"/>
            <a:ext cx="456120" cy="21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1400" spc="-1" strike="noStrike">
                <a:solidFill>
                  <a:srgbClr val="007e98"/>
                </a:solidFill>
                <a:latin typeface="DejaVu Sans"/>
                <a:ea typeface="DejaVu Sans"/>
              </a:rPr>
              <a:t>6</a:t>
            </a:r>
            <a:endParaRPr b="0" lang="pt-BR" sz="1400" spc="-1" strike="noStrike">
              <a:latin typeface="Arial"/>
            </a:endParaRPr>
          </a:p>
        </p:txBody>
      </p:sp>
      <p:sp>
        <p:nvSpPr>
          <p:cNvPr id="400" name="TextBox 20"/>
          <p:cNvSpPr/>
          <p:nvPr/>
        </p:nvSpPr>
        <p:spPr>
          <a:xfrm>
            <a:off x="3456360" y="3136320"/>
            <a:ext cx="4753800" cy="19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1300" spc="-1" strike="noStrike">
                <a:solidFill>
                  <a:srgbClr val="183447"/>
                </a:solidFill>
                <a:latin typeface="DejaVu Sans"/>
                <a:ea typeface="DejaVu Sans"/>
              </a:rPr>
              <a:t>OAuth, agenda e e-mails de atividade</a:t>
            </a:r>
            <a:endParaRPr b="0" lang="pt-BR" sz="1300" spc="-1" strike="noStrike">
              <a:latin typeface="Arial"/>
            </a:endParaRPr>
          </a:p>
        </p:txBody>
      </p:sp>
      <p:sp>
        <p:nvSpPr>
          <p:cNvPr id="401" name="TextBox 21"/>
          <p:cNvSpPr/>
          <p:nvPr/>
        </p:nvSpPr>
        <p:spPr>
          <a:xfrm>
            <a:off x="8641080" y="3136320"/>
            <a:ext cx="2833560" cy="18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1200" spc="-1" strike="noStrike">
                <a:solidFill>
                  <a:srgbClr val="008b79"/>
                </a:solidFill>
                <a:latin typeface="DejaVu Sans"/>
                <a:ea typeface="DejaVu Sans"/>
              </a:rPr>
              <a:t>Implementado / configurável</a:t>
            </a:r>
            <a:endParaRPr b="0" lang="pt-BR" sz="1200" spc="-1" strike="noStrike">
              <a:latin typeface="Arial"/>
            </a:endParaRPr>
          </a:p>
        </p:txBody>
      </p:sp>
      <p:sp>
        <p:nvSpPr>
          <p:cNvPr id="402" name="Rounded Rectangle 22"/>
          <p:cNvSpPr/>
          <p:nvPr/>
        </p:nvSpPr>
        <p:spPr>
          <a:xfrm>
            <a:off x="502920" y="3602880"/>
            <a:ext cx="11172960" cy="410400"/>
          </a:xfrm>
          <a:prstGeom prst="roundRect">
            <a:avLst>
              <a:gd name="adj" fmla="val 8000"/>
            </a:avLst>
          </a:prstGeom>
          <a:solidFill>
            <a:srgbClr val="eaf0f3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403" name="TextBox 23"/>
          <p:cNvSpPr/>
          <p:nvPr/>
        </p:nvSpPr>
        <p:spPr>
          <a:xfrm>
            <a:off x="640080" y="3675960"/>
            <a:ext cx="2193480" cy="19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1300" spc="-1" strike="noStrike">
                <a:solidFill>
                  <a:srgbClr val="183447"/>
                </a:solidFill>
                <a:latin typeface="DejaVu Sans"/>
                <a:ea typeface="DejaVu Sans"/>
              </a:rPr>
              <a:t>Dashboards</a:t>
            </a:r>
            <a:endParaRPr b="0" lang="pt-BR" sz="1300" spc="-1" strike="noStrike">
              <a:latin typeface="Arial"/>
            </a:endParaRPr>
          </a:p>
        </p:txBody>
      </p:sp>
      <p:sp>
        <p:nvSpPr>
          <p:cNvPr id="404" name="TextBox 24"/>
          <p:cNvSpPr/>
          <p:nvPr/>
        </p:nvSpPr>
        <p:spPr>
          <a:xfrm>
            <a:off x="2834640" y="3675960"/>
            <a:ext cx="456120" cy="21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1400" spc="-1" strike="noStrike">
                <a:solidFill>
                  <a:srgbClr val="007e98"/>
                </a:solidFill>
                <a:latin typeface="DejaVu Sans"/>
                <a:ea typeface="DejaVu Sans"/>
              </a:rPr>
              <a:t>5</a:t>
            </a:r>
            <a:endParaRPr b="0" lang="pt-BR" sz="1400" spc="-1" strike="noStrike">
              <a:latin typeface="Arial"/>
            </a:endParaRPr>
          </a:p>
        </p:txBody>
      </p:sp>
      <p:sp>
        <p:nvSpPr>
          <p:cNvPr id="405" name="TextBox 25"/>
          <p:cNvSpPr/>
          <p:nvPr/>
        </p:nvSpPr>
        <p:spPr>
          <a:xfrm>
            <a:off x="3456360" y="3675960"/>
            <a:ext cx="4753800" cy="19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1300" spc="-1" strike="noStrike">
                <a:solidFill>
                  <a:srgbClr val="183447"/>
                </a:solidFill>
                <a:latin typeface="DejaVu Sans"/>
                <a:ea typeface="DejaVu Sans"/>
              </a:rPr>
              <a:t>Portfólio, CSV e atualização automática</a:t>
            </a:r>
            <a:endParaRPr b="0" lang="pt-BR" sz="1300" spc="-1" strike="noStrike">
              <a:latin typeface="Arial"/>
            </a:endParaRPr>
          </a:p>
        </p:txBody>
      </p:sp>
      <p:sp>
        <p:nvSpPr>
          <p:cNvPr id="406" name="TextBox 26"/>
          <p:cNvSpPr/>
          <p:nvPr/>
        </p:nvSpPr>
        <p:spPr>
          <a:xfrm>
            <a:off x="8641080" y="3675960"/>
            <a:ext cx="2833560" cy="18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1200" spc="-1" strike="noStrike">
                <a:solidFill>
                  <a:srgbClr val="008b79"/>
                </a:solidFill>
                <a:latin typeface="DejaVu Sans"/>
                <a:ea typeface="DejaVu Sans"/>
              </a:rPr>
              <a:t>Implementado</a:t>
            </a:r>
            <a:endParaRPr b="0" lang="pt-BR" sz="1200" spc="-1" strike="noStrike">
              <a:latin typeface="Arial"/>
            </a:endParaRPr>
          </a:p>
        </p:txBody>
      </p:sp>
      <p:sp>
        <p:nvSpPr>
          <p:cNvPr id="407" name="Rounded Rectangle 27"/>
          <p:cNvSpPr/>
          <p:nvPr/>
        </p:nvSpPr>
        <p:spPr>
          <a:xfrm>
            <a:off x="502920" y="4142160"/>
            <a:ext cx="11172960" cy="410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408" name="TextBox 28"/>
          <p:cNvSpPr/>
          <p:nvPr/>
        </p:nvSpPr>
        <p:spPr>
          <a:xfrm>
            <a:off x="640080" y="4215240"/>
            <a:ext cx="2193480" cy="19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1300" spc="-1" strike="noStrike">
                <a:solidFill>
                  <a:srgbClr val="183447"/>
                </a:solidFill>
                <a:latin typeface="DejaVu Sans"/>
                <a:ea typeface="DejaVu Sans"/>
              </a:rPr>
              <a:t>Tarefas/agenda</a:t>
            </a:r>
            <a:endParaRPr b="0" lang="pt-BR" sz="1300" spc="-1" strike="noStrike">
              <a:latin typeface="Arial"/>
            </a:endParaRPr>
          </a:p>
        </p:txBody>
      </p:sp>
      <p:sp>
        <p:nvSpPr>
          <p:cNvPr id="409" name="TextBox 29"/>
          <p:cNvSpPr/>
          <p:nvPr/>
        </p:nvSpPr>
        <p:spPr>
          <a:xfrm>
            <a:off x="2834640" y="4215240"/>
            <a:ext cx="456120" cy="21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1400" spc="-1" strike="noStrike">
                <a:solidFill>
                  <a:srgbClr val="007e98"/>
                </a:solidFill>
                <a:latin typeface="DejaVu Sans"/>
                <a:ea typeface="DejaVu Sans"/>
              </a:rPr>
              <a:t>5</a:t>
            </a:r>
            <a:endParaRPr b="0" lang="pt-BR" sz="1400" spc="-1" strike="noStrike">
              <a:latin typeface="Arial"/>
            </a:endParaRPr>
          </a:p>
        </p:txBody>
      </p:sp>
      <p:sp>
        <p:nvSpPr>
          <p:cNvPr id="410" name="TextBox 30"/>
          <p:cNvSpPr/>
          <p:nvPr/>
        </p:nvSpPr>
        <p:spPr>
          <a:xfrm>
            <a:off x="3456360" y="4215240"/>
            <a:ext cx="4753800" cy="19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1300" spc="-1" strike="noStrike">
                <a:solidFill>
                  <a:srgbClr val="183447"/>
                </a:solidFill>
                <a:latin typeface="DejaVu Sans"/>
                <a:ea typeface="DejaVu Sans"/>
              </a:rPr>
              <a:t>Visões, agenda e lembretes automáticos</a:t>
            </a:r>
            <a:endParaRPr b="0" lang="pt-BR" sz="1300" spc="-1" strike="noStrike">
              <a:latin typeface="Arial"/>
            </a:endParaRPr>
          </a:p>
        </p:txBody>
      </p:sp>
      <p:sp>
        <p:nvSpPr>
          <p:cNvPr id="411" name="TextBox 31"/>
          <p:cNvSpPr/>
          <p:nvPr/>
        </p:nvSpPr>
        <p:spPr>
          <a:xfrm>
            <a:off x="8641080" y="4215240"/>
            <a:ext cx="2833560" cy="18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1200" spc="-1" strike="noStrike">
                <a:solidFill>
                  <a:srgbClr val="008b79"/>
                </a:solidFill>
                <a:latin typeface="DejaVu Sans"/>
                <a:ea typeface="DejaVu Sans"/>
              </a:rPr>
              <a:t>Implementado</a:t>
            </a:r>
            <a:endParaRPr b="0" lang="pt-BR" sz="1200" spc="-1" strike="noStrike">
              <a:latin typeface="Arial"/>
            </a:endParaRPr>
          </a:p>
        </p:txBody>
      </p:sp>
      <p:sp>
        <p:nvSpPr>
          <p:cNvPr id="412" name="Rounded Rectangle 37"/>
          <p:cNvSpPr/>
          <p:nvPr/>
        </p:nvSpPr>
        <p:spPr>
          <a:xfrm>
            <a:off x="502920" y="5870520"/>
            <a:ext cx="11172960" cy="437760"/>
          </a:xfrm>
          <a:prstGeom prst="roundRect">
            <a:avLst>
              <a:gd name="adj" fmla="val 8000"/>
            </a:avLst>
          </a:prstGeom>
          <a:solidFill>
            <a:srgbClr val="112c42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413" name="TextBox 38"/>
          <p:cNvSpPr/>
          <p:nvPr/>
        </p:nvSpPr>
        <p:spPr>
          <a:xfrm>
            <a:off x="658440" y="5961960"/>
            <a:ext cx="10880280" cy="18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1200" spc="-1" strike="noStrike">
                <a:solidFill>
                  <a:srgbClr val="ffffff"/>
                </a:solidFill>
                <a:latin typeface="DejaVu Sans"/>
                <a:ea typeface="DejaVu Sans"/>
              </a:rPr>
              <a:t>Recorte funcional da pesquisa • painel atualiza a cada 30 s • e-mail externo exige SMTP e ativação.</a:t>
            </a:r>
            <a:endParaRPr b="0" lang="pt-BR" sz="1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3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Rectangle 1"/>
          <p:cNvSpPr/>
          <p:nvPr/>
        </p:nvSpPr>
        <p:spPr>
          <a:xfrm>
            <a:off x="0" y="0"/>
            <a:ext cx="12191040" cy="63360"/>
          </a:xfrm>
          <a:prstGeom prst="rect">
            <a:avLst/>
          </a:prstGeom>
          <a:solidFill>
            <a:srgbClr val="00869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415" name="TextBox 2"/>
          <p:cNvSpPr/>
          <p:nvPr/>
        </p:nvSpPr>
        <p:spPr>
          <a:xfrm>
            <a:off x="548640" y="292680"/>
            <a:ext cx="10972080" cy="16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pt-BR" sz="1100" spc="-1" strike="noStrike">
                <a:solidFill>
                  <a:srgbClr val="00869c"/>
                </a:solidFill>
                <a:latin typeface="Aptos"/>
                <a:ea typeface="DejaVu Sans"/>
              </a:rPr>
              <a:t>09 / FLUXO TÉCNICO</a:t>
            </a:r>
            <a:endParaRPr b="0" lang="pt-BR" sz="1100" spc="-1" strike="noStrike">
              <a:latin typeface="Arial"/>
            </a:endParaRPr>
          </a:p>
        </p:txBody>
      </p:sp>
      <p:sp>
        <p:nvSpPr>
          <p:cNvPr id="416" name="TextBox 3"/>
          <p:cNvSpPr/>
          <p:nvPr/>
        </p:nvSpPr>
        <p:spPr>
          <a:xfrm>
            <a:off x="548640" y="731520"/>
            <a:ext cx="11063520" cy="42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pt-BR" sz="2800" spc="-1" strike="noStrike">
                <a:solidFill>
                  <a:srgbClr val="123044"/>
                </a:solidFill>
                <a:latin typeface="Aptos"/>
                <a:ea typeface="DejaVu Sans"/>
              </a:rPr>
              <a:t>Da interação ao dado, ao indicador e ao aviso</a:t>
            </a:r>
            <a:endParaRPr b="0" lang="pt-BR" sz="2800" spc="-1" strike="noStrike">
              <a:latin typeface="Arial"/>
            </a:endParaRPr>
          </a:p>
        </p:txBody>
      </p:sp>
      <p:sp>
        <p:nvSpPr>
          <p:cNvPr id="417" name="TextBox 4"/>
          <p:cNvSpPr/>
          <p:nvPr/>
        </p:nvSpPr>
        <p:spPr>
          <a:xfrm>
            <a:off x="548640" y="1426320"/>
            <a:ext cx="10972080" cy="21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pt-BR" sz="1400" spc="-1" strike="noStrike">
                <a:solidFill>
                  <a:srgbClr val="526d80"/>
                </a:solidFill>
                <a:latin typeface="Aptos"/>
                <a:ea typeface="DejaVu Sans"/>
              </a:rPr>
              <a:t>Núcleo integrado em Laravel; interface React e processos de apoio com responsabilidades definidas.</a:t>
            </a:r>
            <a:endParaRPr b="0" lang="pt-BR" sz="1400" spc="-1" strike="noStrike">
              <a:latin typeface="Arial"/>
            </a:endParaRPr>
          </a:p>
        </p:txBody>
      </p:sp>
      <p:sp>
        <p:nvSpPr>
          <p:cNvPr id="418" name="TextBox 5"/>
          <p:cNvSpPr/>
          <p:nvPr/>
        </p:nvSpPr>
        <p:spPr>
          <a:xfrm>
            <a:off x="548640" y="6510600"/>
            <a:ext cx="10057680" cy="121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pt-BR" sz="800" spc="-1" strike="noStrike">
                <a:solidFill>
                  <a:srgbClr val="526d80"/>
                </a:solidFill>
                <a:latin typeface="Aptos"/>
                <a:ea typeface="DejaVu Sans"/>
              </a:rPr>
              <a:t>Fonte: código local do Spot • revisão 28/10/2026</a:t>
            </a:r>
            <a:endParaRPr b="0" lang="pt-BR" sz="800" spc="-1" strike="noStrike">
              <a:latin typeface="Arial"/>
            </a:endParaRPr>
          </a:p>
        </p:txBody>
      </p:sp>
      <p:sp>
        <p:nvSpPr>
          <p:cNvPr id="419" name="TextBox 6"/>
          <p:cNvSpPr/>
          <p:nvPr/>
        </p:nvSpPr>
        <p:spPr>
          <a:xfrm>
            <a:off x="11064240" y="6483240"/>
            <a:ext cx="593640" cy="15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pt-BR" sz="1000" spc="-1" strike="noStrike">
                <a:solidFill>
                  <a:srgbClr val="526d80"/>
                </a:solidFill>
                <a:latin typeface="Aptos"/>
                <a:ea typeface="DejaVu Sans"/>
              </a:rPr>
              <a:t>10 / 11</a:t>
            </a:r>
            <a:endParaRPr b="0" lang="pt-BR" sz="1000" spc="-1" strike="noStrike">
              <a:latin typeface="Arial"/>
            </a:endParaRPr>
          </a:p>
        </p:txBody>
      </p:sp>
      <p:sp>
        <p:nvSpPr>
          <p:cNvPr id="420" name="Rounded Rectangle 7"/>
          <p:cNvSpPr/>
          <p:nvPr/>
        </p:nvSpPr>
        <p:spPr>
          <a:xfrm>
            <a:off x="548640" y="2030040"/>
            <a:ext cx="2559600" cy="1233720"/>
          </a:xfrm>
          <a:prstGeom prst="roundRect">
            <a:avLst>
              <a:gd name="adj" fmla="val 16667"/>
            </a:avLst>
          </a:prstGeom>
          <a:solidFill>
            <a:srgbClr val="12304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421" name="TextBox 8"/>
          <p:cNvSpPr/>
          <p:nvPr/>
        </p:nvSpPr>
        <p:spPr>
          <a:xfrm>
            <a:off x="685800" y="2176200"/>
            <a:ext cx="2285280" cy="259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pt-BR" sz="1700" spc="-1" strike="noStrike">
                <a:solidFill>
                  <a:srgbClr val="ffffff"/>
                </a:solidFill>
                <a:latin typeface="Aptos"/>
                <a:ea typeface="DejaVu Sans"/>
              </a:rPr>
              <a:t>1  React</a:t>
            </a:r>
            <a:endParaRPr b="0" lang="pt-BR" sz="1700" spc="-1" strike="noStrike">
              <a:latin typeface="Arial"/>
            </a:endParaRPr>
          </a:p>
        </p:txBody>
      </p:sp>
      <p:sp>
        <p:nvSpPr>
          <p:cNvPr id="422" name="TextBox 9"/>
          <p:cNvSpPr/>
          <p:nvPr/>
        </p:nvSpPr>
        <p:spPr>
          <a:xfrm>
            <a:off x="685800" y="2642760"/>
            <a:ext cx="2285280" cy="45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pt-BR" sz="1300" spc="-1" strike="noStrike">
                <a:solidFill>
                  <a:srgbClr val="dce8ee"/>
                </a:solidFill>
                <a:latin typeface="Aptos"/>
                <a:ea typeface="DejaVu Sans"/>
              </a:rPr>
              <a:t>Telas, formulários e filtros</a:t>
            </a:r>
            <a:endParaRPr b="0" lang="pt-BR" sz="13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pt-BR" sz="1300" spc="-1" strike="noStrike">
                <a:solidFill>
                  <a:srgbClr val="dce8ee"/>
                </a:solidFill>
                <a:latin typeface="Aptos"/>
                <a:ea typeface="DejaVu Sans"/>
              </a:rPr>
              <a:t>Envia a requisição</a:t>
            </a:r>
            <a:endParaRPr b="0" lang="pt-BR" sz="1300" spc="-1" strike="noStrike">
              <a:latin typeface="Arial"/>
            </a:endParaRPr>
          </a:p>
        </p:txBody>
      </p:sp>
      <p:sp>
        <p:nvSpPr>
          <p:cNvPr id="423" name="TextBox 10"/>
          <p:cNvSpPr/>
          <p:nvPr/>
        </p:nvSpPr>
        <p:spPr>
          <a:xfrm>
            <a:off x="3145680" y="2487240"/>
            <a:ext cx="236880" cy="28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pt-BR" sz="1900" spc="-1" strike="noStrike">
                <a:solidFill>
                  <a:srgbClr val="00869c"/>
                </a:solidFill>
                <a:latin typeface="Aptos"/>
                <a:ea typeface="DejaVu Sans"/>
              </a:rPr>
              <a:t>→</a:t>
            </a:r>
            <a:endParaRPr b="0" lang="pt-BR" sz="1900" spc="-1" strike="noStrike">
              <a:latin typeface="Arial"/>
            </a:endParaRPr>
          </a:p>
        </p:txBody>
      </p:sp>
      <p:sp>
        <p:nvSpPr>
          <p:cNvPr id="424" name="Rounded Rectangle 11"/>
          <p:cNvSpPr/>
          <p:nvPr/>
        </p:nvSpPr>
        <p:spPr>
          <a:xfrm>
            <a:off x="3383280" y="2030040"/>
            <a:ext cx="2559600" cy="1233720"/>
          </a:xfrm>
          <a:prstGeom prst="roundRect">
            <a:avLst>
              <a:gd name="adj" fmla="val 16667"/>
            </a:avLst>
          </a:prstGeom>
          <a:solidFill>
            <a:srgbClr val="12304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425" name="TextBox 12"/>
          <p:cNvSpPr/>
          <p:nvPr/>
        </p:nvSpPr>
        <p:spPr>
          <a:xfrm>
            <a:off x="3520440" y="2176200"/>
            <a:ext cx="2285280" cy="259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pt-BR" sz="1700" spc="-1" strike="noStrike">
                <a:solidFill>
                  <a:srgbClr val="ffffff"/>
                </a:solidFill>
                <a:latin typeface="Aptos"/>
                <a:ea typeface="DejaVu Sans"/>
              </a:rPr>
              <a:t>2  API Laravel</a:t>
            </a:r>
            <a:endParaRPr b="0" lang="pt-BR" sz="1700" spc="-1" strike="noStrike">
              <a:latin typeface="Arial"/>
            </a:endParaRPr>
          </a:p>
        </p:txBody>
      </p:sp>
      <p:sp>
        <p:nvSpPr>
          <p:cNvPr id="426" name="TextBox 13"/>
          <p:cNvSpPr/>
          <p:nvPr/>
        </p:nvSpPr>
        <p:spPr>
          <a:xfrm>
            <a:off x="3520440" y="2642760"/>
            <a:ext cx="2285280" cy="45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pt-BR" sz="1300" spc="-1" strike="noStrike">
                <a:solidFill>
                  <a:srgbClr val="dce8ee"/>
                </a:solidFill>
                <a:latin typeface="Aptos"/>
                <a:ea typeface="DejaVu Sans"/>
              </a:rPr>
              <a:t>Sessão e permissões</a:t>
            </a:r>
            <a:endParaRPr b="0" lang="pt-BR" sz="13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pt-BR" sz="1300" spc="-1" strike="noStrike">
                <a:solidFill>
                  <a:srgbClr val="dce8ee"/>
                </a:solidFill>
                <a:latin typeface="Aptos"/>
                <a:ea typeface="DejaVu Sans"/>
              </a:rPr>
              <a:t>Valida os dados</a:t>
            </a:r>
            <a:endParaRPr b="0" lang="pt-BR" sz="1300" spc="-1" strike="noStrike">
              <a:latin typeface="Arial"/>
            </a:endParaRPr>
          </a:p>
        </p:txBody>
      </p:sp>
      <p:sp>
        <p:nvSpPr>
          <p:cNvPr id="427" name="TextBox 14"/>
          <p:cNvSpPr/>
          <p:nvPr/>
        </p:nvSpPr>
        <p:spPr>
          <a:xfrm>
            <a:off x="5980320" y="2487240"/>
            <a:ext cx="236880" cy="28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pt-BR" sz="1900" spc="-1" strike="noStrike">
                <a:solidFill>
                  <a:srgbClr val="00869c"/>
                </a:solidFill>
                <a:latin typeface="Aptos"/>
                <a:ea typeface="DejaVu Sans"/>
              </a:rPr>
              <a:t>→</a:t>
            </a:r>
            <a:endParaRPr b="0" lang="pt-BR" sz="1900" spc="-1" strike="noStrike">
              <a:latin typeface="Arial"/>
            </a:endParaRPr>
          </a:p>
        </p:txBody>
      </p:sp>
      <p:sp>
        <p:nvSpPr>
          <p:cNvPr id="428" name="Rounded Rectangle 15"/>
          <p:cNvSpPr/>
          <p:nvPr/>
        </p:nvSpPr>
        <p:spPr>
          <a:xfrm>
            <a:off x="6217920" y="2030040"/>
            <a:ext cx="2559600" cy="1233720"/>
          </a:xfrm>
          <a:prstGeom prst="roundRect">
            <a:avLst>
              <a:gd name="adj" fmla="val 16667"/>
            </a:avLst>
          </a:prstGeom>
          <a:solidFill>
            <a:srgbClr val="12304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429" name="TextBox 16"/>
          <p:cNvSpPr/>
          <p:nvPr/>
        </p:nvSpPr>
        <p:spPr>
          <a:xfrm>
            <a:off x="6355080" y="2176200"/>
            <a:ext cx="2285280" cy="21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pt-BR" sz="1400" spc="-1" strike="noStrike">
                <a:solidFill>
                  <a:srgbClr val="ffffff"/>
                </a:solidFill>
                <a:latin typeface="Aptos"/>
                <a:ea typeface="DejaVu Sans"/>
              </a:rPr>
              <a:t>3  Domínio + Eloquent</a:t>
            </a:r>
            <a:endParaRPr b="0" lang="pt-BR" sz="1400" spc="-1" strike="noStrike">
              <a:latin typeface="Arial"/>
            </a:endParaRPr>
          </a:p>
        </p:txBody>
      </p:sp>
      <p:sp>
        <p:nvSpPr>
          <p:cNvPr id="430" name="TextBox 17"/>
          <p:cNvSpPr/>
          <p:nvPr/>
        </p:nvSpPr>
        <p:spPr>
          <a:xfrm>
            <a:off x="6355080" y="2642760"/>
            <a:ext cx="2285280" cy="45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pt-BR" sz="1300" spc="-1" strike="noStrike">
                <a:solidFill>
                  <a:srgbClr val="dce8ee"/>
                </a:solidFill>
                <a:latin typeface="Aptos"/>
                <a:ea typeface="DejaVu Sans"/>
              </a:rPr>
              <a:t>Regras e transações</a:t>
            </a:r>
            <a:endParaRPr b="0" lang="pt-BR" sz="13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pt-BR" sz="1300" spc="-1" strike="noStrike">
                <a:solidFill>
                  <a:srgbClr val="dce8ee"/>
                </a:solidFill>
                <a:latin typeface="Aptos"/>
                <a:ea typeface="DejaVu Sans"/>
              </a:rPr>
              <a:t>Tarifas, custos e auditoria</a:t>
            </a:r>
            <a:endParaRPr b="0" lang="pt-BR" sz="1300" spc="-1" strike="noStrike">
              <a:latin typeface="Arial"/>
            </a:endParaRPr>
          </a:p>
        </p:txBody>
      </p:sp>
      <p:sp>
        <p:nvSpPr>
          <p:cNvPr id="431" name="TextBox 18"/>
          <p:cNvSpPr/>
          <p:nvPr/>
        </p:nvSpPr>
        <p:spPr>
          <a:xfrm>
            <a:off x="8814960" y="2487240"/>
            <a:ext cx="236880" cy="28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pt-BR" sz="1900" spc="-1" strike="noStrike">
                <a:solidFill>
                  <a:srgbClr val="00869c"/>
                </a:solidFill>
                <a:latin typeface="Aptos"/>
                <a:ea typeface="DejaVu Sans"/>
              </a:rPr>
              <a:t>→</a:t>
            </a:r>
            <a:endParaRPr b="0" lang="pt-BR" sz="1900" spc="-1" strike="noStrike">
              <a:latin typeface="Arial"/>
            </a:endParaRPr>
          </a:p>
        </p:txBody>
      </p:sp>
      <p:sp>
        <p:nvSpPr>
          <p:cNvPr id="432" name="Rounded Rectangle 19"/>
          <p:cNvSpPr/>
          <p:nvPr/>
        </p:nvSpPr>
        <p:spPr>
          <a:xfrm>
            <a:off x="9052560" y="2030040"/>
            <a:ext cx="2559600" cy="1233720"/>
          </a:xfrm>
          <a:prstGeom prst="roundRect">
            <a:avLst>
              <a:gd name="adj" fmla="val 16667"/>
            </a:avLst>
          </a:prstGeom>
          <a:solidFill>
            <a:srgbClr val="12304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433" name="TextBox 20"/>
          <p:cNvSpPr/>
          <p:nvPr/>
        </p:nvSpPr>
        <p:spPr>
          <a:xfrm>
            <a:off x="9189720" y="2176200"/>
            <a:ext cx="2285280" cy="259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pt-BR" sz="1700" spc="-1" strike="noStrike">
                <a:solidFill>
                  <a:srgbClr val="ffffff"/>
                </a:solidFill>
                <a:latin typeface="Aptos"/>
                <a:ea typeface="DejaVu Sans"/>
              </a:rPr>
              <a:t>4  PostgreSQL</a:t>
            </a:r>
            <a:endParaRPr b="0" lang="pt-BR" sz="1700" spc="-1" strike="noStrike">
              <a:latin typeface="Arial"/>
            </a:endParaRPr>
          </a:p>
        </p:txBody>
      </p:sp>
      <p:sp>
        <p:nvSpPr>
          <p:cNvPr id="434" name="TextBox 21"/>
          <p:cNvSpPr/>
          <p:nvPr/>
        </p:nvSpPr>
        <p:spPr>
          <a:xfrm>
            <a:off x="9189720" y="2642760"/>
            <a:ext cx="2285280" cy="45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pt-BR" sz="1300" spc="-1" strike="noStrike">
                <a:solidFill>
                  <a:srgbClr val="dce8ee"/>
                </a:solidFill>
                <a:latin typeface="Aptos"/>
                <a:ea typeface="DejaVu Sans"/>
              </a:rPr>
              <a:t>Persiste os registros</a:t>
            </a:r>
            <a:endParaRPr b="0" lang="pt-BR" sz="13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pt-BR" sz="1300" spc="-1" strike="noStrike">
                <a:solidFill>
                  <a:srgbClr val="dce8ee"/>
                </a:solidFill>
                <a:latin typeface="Aptos"/>
                <a:ea typeface="DejaVu Sans"/>
              </a:rPr>
              <a:t>Relaciona os dados</a:t>
            </a:r>
            <a:endParaRPr b="0" lang="pt-BR" sz="1300" spc="-1" strike="noStrike">
              <a:latin typeface="Arial"/>
            </a:endParaRPr>
          </a:p>
        </p:txBody>
      </p:sp>
      <p:sp>
        <p:nvSpPr>
          <p:cNvPr id="435" name="Rounded Rectangle 22"/>
          <p:cNvSpPr/>
          <p:nvPr/>
        </p:nvSpPr>
        <p:spPr>
          <a:xfrm>
            <a:off x="548640" y="3438000"/>
            <a:ext cx="11081880" cy="392400"/>
          </a:xfrm>
          <a:prstGeom prst="roundRect">
            <a:avLst>
              <a:gd name="adj" fmla="val 16667"/>
            </a:avLst>
          </a:prstGeom>
          <a:solidFill>
            <a:srgbClr val="e3edf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436" name="TextBox 23"/>
          <p:cNvSpPr/>
          <p:nvPr/>
        </p:nvSpPr>
        <p:spPr>
          <a:xfrm>
            <a:off x="704160" y="3520440"/>
            <a:ext cx="10789200" cy="19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pt-BR" sz="1300" spc="-1" strike="noStrike">
                <a:solidFill>
                  <a:srgbClr val="123044"/>
                </a:solidFill>
                <a:latin typeface="Aptos"/>
                <a:ea typeface="DejaVu Sans"/>
              </a:rPr>
              <a:t>Retorno: PostgreSQL → Laravel → JSON → React atualiza a tela e os indicadores.</a:t>
            </a:r>
            <a:endParaRPr b="0" lang="pt-BR" sz="1300" spc="-1" strike="noStrike">
              <a:latin typeface="Arial"/>
            </a:endParaRPr>
          </a:p>
        </p:txBody>
      </p:sp>
      <p:sp>
        <p:nvSpPr>
          <p:cNvPr id="437" name="Rounded Rectangle 24"/>
          <p:cNvSpPr/>
          <p:nvPr/>
        </p:nvSpPr>
        <p:spPr>
          <a:xfrm>
            <a:off x="548640" y="4050720"/>
            <a:ext cx="3547080" cy="15721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438" name="Rectangle 25"/>
          <p:cNvSpPr/>
          <p:nvPr/>
        </p:nvSpPr>
        <p:spPr>
          <a:xfrm>
            <a:off x="548640" y="4050720"/>
            <a:ext cx="40320" cy="1572120"/>
          </a:xfrm>
          <a:prstGeom prst="rect">
            <a:avLst/>
          </a:prstGeom>
          <a:solidFill>
            <a:srgbClr val="00869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439" name="TextBox 26"/>
          <p:cNvSpPr/>
          <p:nvPr/>
        </p:nvSpPr>
        <p:spPr>
          <a:xfrm>
            <a:off x="704160" y="4206240"/>
            <a:ext cx="3218040" cy="51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pt-BR" sz="1700" spc="-1" strike="noStrike">
                <a:solidFill>
                  <a:srgbClr val="00869c"/>
                </a:solidFill>
                <a:latin typeface="Aptos"/>
                <a:ea typeface="DejaVu Sans"/>
              </a:rPr>
              <a:t>Indicadores • Python + Pandas</a:t>
            </a:r>
            <a:endParaRPr b="0" lang="pt-BR" sz="1700" spc="-1" strike="noStrike">
              <a:latin typeface="Arial"/>
            </a:endParaRPr>
          </a:p>
        </p:txBody>
      </p:sp>
      <p:sp>
        <p:nvSpPr>
          <p:cNvPr id="440" name="TextBox 27"/>
          <p:cNvSpPr/>
          <p:nvPr/>
        </p:nvSpPr>
        <p:spPr>
          <a:xfrm>
            <a:off x="704160" y="4736520"/>
            <a:ext cx="321804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pt-BR" sz="1400" spc="-1" strike="noStrike">
                <a:solidFill>
                  <a:srgbClr val="123044"/>
                </a:solidFill>
                <a:latin typeface="Aptos"/>
                <a:ea typeface="DejaVu Sans"/>
              </a:rPr>
              <a:t>Laravel envia JSON → Pandas agrega → devolve JSON. O script não acessa o banco diretamente.</a:t>
            </a:r>
            <a:endParaRPr b="0" lang="pt-BR" sz="1400" spc="-1" strike="noStrike">
              <a:latin typeface="Arial"/>
            </a:endParaRPr>
          </a:p>
        </p:txBody>
      </p:sp>
      <p:sp>
        <p:nvSpPr>
          <p:cNvPr id="441" name="Rounded Rectangle 28"/>
          <p:cNvSpPr/>
          <p:nvPr/>
        </p:nvSpPr>
        <p:spPr>
          <a:xfrm>
            <a:off x="4316040" y="4050720"/>
            <a:ext cx="3547080" cy="15721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442" name="Rectangle 29"/>
          <p:cNvSpPr/>
          <p:nvPr/>
        </p:nvSpPr>
        <p:spPr>
          <a:xfrm>
            <a:off x="4316040" y="4050720"/>
            <a:ext cx="40320" cy="1572120"/>
          </a:xfrm>
          <a:prstGeom prst="rect">
            <a:avLst/>
          </a:prstGeom>
          <a:solidFill>
            <a:srgbClr val="00869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443" name="TextBox 30"/>
          <p:cNvSpPr/>
          <p:nvPr/>
        </p:nvSpPr>
        <p:spPr>
          <a:xfrm>
            <a:off x="4471560" y="4206240"/>
            <a:ext cx="3218040" cy="259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pt-BR" sz="1700" spc="-1" strike="noStrike">
                <a:solidFill>
                  <a:srgbClr val="00869c"/>
                </a:solidFill>
                <a:latin typeface="Aptos"/>
                <a:ea typeface="DejaVu Sans"/>
              </a:rPr>
              <a:t>E-mails • fila + worker</a:t>
            </a:r>
            <a:endParaRPr b="0" lang="pt-BR" sz="1700" spc="-1" strike="noStrike">
              <a:latin typeface="Arial"/>
            </a:endParaRPr>
          </a:p>
        </p:txBody>
      </p:sp>
      <p:sp>
        <p:nvSpPr>
          <p:cNvPr id="444" name="TextBox 31"/>
          <p:cNvSpPr/>
          <p:nvPr/>
        </p:nvSpPr>
        <p:spPr>
          <a:xfrm>
            <a:off x="4471560" y="4736520"/>
            <a:ext cx="321804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pt-BR" sz="1400" spc="-1" strike="noStrike">
                <a:solidFill>
                  <a:srgbClr val="123044"/>
                </a:solidFill>
                <a:latin typeface="Aptos"/>
                <a:ea typeface="DejaVu Sans"/>
              </a:rPr>
              <a:t>Convite/ativação → fila → validação do link → transporte SMTP configurado; retentativas.</a:t>
            </a:r>
            <a:endParaRPr b="0" lang="pt-BR" sz="1400" spc="-1" strike="noStrike">
              <a:latin typeface="Arial"/>
            </a:endParaRPr>
          </a:p>
        </p:txBody>
      </p:sp>
      <p:sp>
        <p:nvSpPr>
          <p:cNvPr id="445" name="Rounded Rectangle 32"/>
          <p:cNvSpPr/>
          <p:nvPr/>
        </p:nvSpPr>
        <p:spPr>
          <a:xfrm>
            <a:off x="8083440" y="4050720"/>
            <a:ext cx="3547080" cy="15721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446" name="Rectangle 33"/>
          <p:cNvSpPr/>
          <p:nvPr/>
        </p:nvSpPr>
        <p:spPr>
          <a:xfrm>
            <a:off x="8083440" y="4050720"/>
            <a:ext cx="40320" cy="1572120"/>
          </a:xfrm>
          <a:prstGeom prst="rect">
            <a:avLst/>
          </a:prstGeom>
          <a:solidFill>
            <a:srgbClr val="00869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447" name="TextBox 34"/>
          <p:cNvSpPr/>
          <p:nvPr/>
        </p:nvSpPr>
        <p:spPr>
          <a:xfrm>
            <a:off x="8238600" y="4206240"/>
            <a:ext cx="3218040" cy="259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pt-BR" sz="1700" spc="-1" strike="noStrike">
                <a:solidFill>
                  <a:srgbClr val="00869c"/>
                </a:solidFill>
                <a:latin typeface="Aptos"/>
                <a:ea typeface="DejaVu Sans"/>
              </a:rPr>
              <a:t>Rotinas • scheduler</a:t>
            </a:r>
            <a:endParaRPr b="0" lang="pt-BR" sz="1700" spc="-1" strike="noStrike">
              <a:latin typeface="Arial"/>
            </a:endParaRPr>
          </a:p>
        </p:txBody>
      </p:sp>
      <p:sp>
        <p:nvSpPr>
          <p:cNvPr id="448" name="TextBox 35"/>
          <p:cNvSpPr/>
          <p:nvPr/>
        </p:nvSpPr>
        <p:spPr>
          <a:xfrm>
            <a:off x="8238600" y="4736520"/>
            <a:ext cx="321804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pt-BR" sz="1400" spc="-1" strike="noStrike">
                <a:solidFill>
                  <a:srgbClr val="123044"/>
                </a:solidFill>
                <a:latin typeface="Aptos"/>
                <a:ea typeface="DejaVu Sans"/>
              </a:rPr>
              <a:t>Agenda lembretes e notificações; aplica retenção de auditoria e limpeza de mensagens.</a:t>
            </a:r>
            <a:endParaRPr b="0" lang="pt-BR" sz="1400" spc="-1" strike="noStrike">
              <a:latin typeface="Arial"/>
            </a:endParaRPr>
          </a:p>
        </p:txBody>
      </p:sp>
      <p:sp>
        <p:nvSpPr>
          <p:cNvPr id="449" name="Rounded Rectangle 36"/>
          <p:cNvSpPr/>
          <p:nvPr/>
        </p:nvSpPr>
        <p:spPr>
          <a:xfrm>
            <a:off x="548640" y="5906880"/>
            <a:ext cx="11081880" cy="447480"/>
          </a:xfrm>
          <a:prstGeom prst="roundRect">
            <a:avLst>
              <a:gd name="adj" fmla="val 16667"/>
            </a:avLst>
          </a:prstGeom>
          <a:solidFill>
            <a:srgbClr val="12304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450" name="TextBox 37"/>
          <p:cNvSpPr/>
          <p:nvPr/>
        </p:nvSpPr>
        <p:spPr>
          <a:xfrm>
            <a:off x="713160" y="5998320"/>
            <a:ext cx="1074348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pt-BR" sz="1200" spc="-1" strike="noStrike">
                <a:solidFill>
                  <a:srgbClr val="ffffff"/>
                </a:solidFill>
                <a:latin typeface="Aptos"/>
                <a:ea typeface="DejaVu Sans"/>
              </a:rPr>
              <a:t>Monólito organizado: regras no backend, persistência central e tarefas de apoio em processos separados.</a:t>
            </a:r>
            <a:endParaRPr b="0" lang="pt-BR" sz="1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3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Rectangle 1"/>
          <p:cNvSpPr/>
          <p:nvPr/>
        </p:nvSpPr>
        <p:spPr>
          <a:xfrm>
            <a:off x="0" y="0"/>
            <a:ext cx="12191400" cy="63720"/>
          </a:xfrm>
          <a:prstGeom prst="rect">
            <a:avLst/>
          </a:prstGeom>
          <a:solidFill>
            <a:srgbClr val="00869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452" name="TextBox 2"/>
          <p:cNvSpPr/>
          <p:nvPr/>
        </p:nvSpPr>
        <p:spPr>
          <a:xfrm>
            <a:off x="548640" y="292680"/>
            <a:ext cx="10972440" cy="167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pt-BR" sz="1100" spc="-1" strike="noStrike">
                <a:solidFill>
                  <a:srgbClr val="00869c"/>
                </a:solidFill>
                <a:latin typeface="Aptos"/>
              </a:rPr>
              <a:t>10 / FLUXO E TELAS</a:t>
            </a:r>
            <a:endParaRPr b="0" lang="pt-BR" sz="1100" spc="-1" strike="noStrike">
              <a:latin typeface="Arial"/>
            </a:endParaRPr>
          </a:p>
        </p:txBody>
      </p:sp>
      <p:sp>
        <p:nvSpPr>
          <p:cNvPr id="453" name="TextBox 3"/>
          <p:cNvSpPr/>
          <p:nvPr/>
        </p:nvSpPr>
        <p:spPr>
          <a:xfrm>
            <a:off x="548640" y="731520"/>
            <a:ext cx="11063880" cy="426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pt-BR" sz="2800" spc="-1" strike="noStrike">
                <a:solidFill>
                  <a:srgbClr val="123044"/>
                </a:solidFill>
                <a:latin typeface="Aptos"/>
              </a:rPr>
              <a:t>Do acesso ao resultado: o fluxo principal</a:t>
            </a:r>
            <a:endParaRPr b="0" lang="pt-BR" sz="2800" spc="-1" strike="noStrike">
              <a:latin typeface="Arial"/>
            </a:endParaRPr>
          </a:p>
        </p:txBody>
      </p:sp>
      <p:sp>
        <p:nvSpPr>
          <p:cNvPr id="454" name="TextBox 4"/>
          <p:cNvSpPr/>
          <p:nvPr/>
        </p:nvSpPr>
        <p:spPr>
          <a:xfrm>
            <a:off x="548640" y="1426320"/>
            <a:ext cx="10972440" cy="213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pt-BR" sz="1400" spc="-1" strike="noStrike">
                <a:solidFill>
                  <a:srgbClr val="526d80"/>
                </a:solidFill>
                <a:latin typeface="Aptos"/>
              </a:rPr>
              <a:t>Telas do Spot e a jornada central de gestão de projetos; recursos disponíveis conforme as permissões.</a:t>
            </a:r>
            <a:endParaRPr b="0" lang="pt-BR" sz="1400" spc="-1" strike="noStrike">
              <a:latin typeface="Arial"/>
            </a:endParaRPr>
          </a:p>
        </p:txBody>
      </p:sp>
      <p:sp>
        <p:nvSpPr>
          <p:cNvPr id="455" name="TextBox 5"/>
          <p:cNvSpPr/>
          <p:nvPr/>
        </p:nvSpPr>
        <p:spPr>
          <a:xfrm>
            <a:off x="548640" y="6510600"/>
            <a:ext cx="10058040" cy="12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pt-BR" sz="800" spc="-1" strike="noStrike">
                <a:solidFill>
                  <a:srgbClr val="526d80"/>
                </a:solidFill>
                <a:latin typeface="Aptos"/>
              </a:rPr>
              <a:t>Fonte: código local do Spot • revisão 28/10/2026</a:t>
            </a:r>
            <a:endParaRPr b="0" lang="pt-BR" sz="800" spc="-1" strike="noStrike">
              <a:latin typeface="Arial"/>
            </a:endParaRPr>
          </a:p>
        </p:txBody>
      </p:sp>
      <p:sp>
        <p:nvSpPr>
          <p:cNvPr id="456" name="TextBox 6"/>
          <p:cNvSpPr/>
          <p:nvPr/>
        </p:nvSpPr>
        <p:spPr>
          <a:xfrm>
            <a:off x="11064240" y="6483240"/>
            <a:ext cx="594000" cy="15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pt-BR" sz="1000" spc="-1" strike="noStrike">
                <a:solidFill>
                  <a:srgbClr val="526d80"/>
                </a:solidFill>
                <a:latin typeface="Aptos"/>
              </a:rPr>
              <a:t>11 / 11</a:t>
            </a:r>
            <a:endParaRPr b="0" lang="pt-BR" sz="1000" spc="-1" strike="noStrike">
              <a:latin typeface="Arial"/>
            </a:endParaRPr>
          </a:p>
        </p:txBody>
      </p:sp>
      <p:sp>
        <p:nvSpPr>
          <p:cNvPr id="457" name="Rounded Rectangle 7"/>
          <p:cNvSpPr/>
          <p:nvPr/>
        </p:nvSpPr>
        <p:spPr>
          <a:xfrm>
            <a:off x="548640" y="2002680"/>
            <a:ext cx="1682280" cy="694440"/>
          </a:xfrm>
          <a:prstGeom prst="roundRect">
            <a:avLst>
              <a:gd name="adj" fmla="val 16667"/>
            </a:avLst>
          </a:prstGeom>
          <a:solidFill>
            <a:srgbClr val="12304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458" name="TextBox 8"/>
          <p:cNvSpPr/>
          <p:nvPr/>
        </p:nvSpPr>
        <p:spPr>
          <a:xfrm>
            <a:off x="640080" y="2167200"/>
            <a:ext cx="1499400" cy="213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pt-BR" sz="1400" spc="-1" strike="noStrike">
                <a:solidFill>
                  <a:srgbClr val="ffffff"/>
                </a:solidFill>
                <a:latin typeface="Aptos"/>
              </a:rPr>
              <a:t>1  Acesso</a:t>
            </a:r>
            <a:endParaRPr b="0" lang="pt-BR" sz="1400" spc="-1" strike="noStrike">
              <a:latin typeface="Arial"/>
            </a:endParaRPr>
          </a:p>
        </p:txBody>
      </p:sp>
      <p:sp>
        <p:nvSpPr>
          <p:cNvPr id="459" name="TextBox 9"/>
          <p:cNvSpPr/>
          <p:nvPr/>
        </p:nvSpPr>
        <p:spPr>
          <a:xfrm>
            <a:off x="2258640" y="2203560"/>
            <a:ext cx="173520" cy="22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pt-BR" sz="1500" spc="-1" strike="noStrike">
                <a:solidFill>
                  <a:srgbClr val="00869c"/>
                </a:solidFill>
                <a:latin typeface="Aptos"/>
              </a:rPr>
              <a:t>→</a:t>
            </a:r>
            <a:endParaRPr b="0" lang="pt-BR" sz="1500" spc="-1" strike="noStrike">
              <a:latin typeface="Arial"/>
            </a:endParaRPr>
          </a:p>
        </p:txBody>
      </p:sp>
      <p:sp>
        <p:nvSpPr>
          <p:cNvPr id="460" name="Rounded Rectangle 10"/>
          <p:cNvSpPr/>
          <p:nvPr/>
        </p:nvSpPr>
        <p:spPr>
          <a:xfrm>
            <a:off x="2432160" y="2002680"/>
            <a:ext cx="1682280" cy="694440"/>
          </a:xfrm>
          <a:prstGeom prst="roundRect">
            <a:avLst>
              <a:gd name="adj" fmla="val 16667"/>
            </a:avLst>
          </a:prstGeom>
          <a:solidFill>
            <a:srgbClr val="12304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461" name="TextBox 11"/>
          <p:cNvSpPr/>
          <p:nvPr/>
        </p:nvSpPr>
        <p:spPr>
          <a:xfrm>
            <a:off x="2523600" y="2167200"/>
            <a:ext cx="1499400" cy="213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pt-BR" sz="1400" spc="-1" strike="noStrike">
                <a:solidFill>
                  <a:srgbClr val="ffffff"/>
                </a:solidFill>
                <a:latin typeface="Aptos"/>
              </a:rPr>
              <a:t>2  Projeto</a:t>
            </a:r>
            <a:endParaRPr b="0" lang="pt-BR" sz="1400" spc="-1" strike="noStrike">
              <a:latin typeface="Arial"/>
            </a:endParaRPr>
          </a:p>
        </p:txBody>
      </p:sp>
      <p:sp>
        <p:nvSpPr>
          <p:cNvPr id="462" name="TextBox 12"/>
          <p:cNvSpPr/>
          <p:nvPr/>
        </p:nvSpPr>
        <p:spPr>
          <a:xfrm>
            <a:off x="4142160" y="2203560"/>
            <a:ext cx="173520" cy="22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pt-BR" sz="1500" spc="-1" strike="noStrike">
                <a:solidFill>
                  <a:srgbClr val="00869c"/>
                </a:solidFill>
                <a:latin typeface="Aptos"/>
              </a:rPr>
              <a:t>→</a:t>
            </a:r>
            <a:endParaRPr b="0" lang="pt-BR" sz="1500" spc="-1" strike="noStrike">
              <a:latin typeface="Arial"/>
            </a:endParaRPr>
          </a:p>
        </p:txBody>
      </p:sp>
      <p:sp>
        <p:nvSpPr>
          <p:cNvPr id="463" name="Rounded Rectangle 13"/>
          <p:cNvSpPr/>
          <p:nvPr/>
        </p:nvSpPr>
        <p:spPr>
          <a:xfrm>
            <a:off x="4316040" y="2002680"/>
            <a:ext cx="1682280" cy="694440"/>
          </a:xfrm>
          <a:prstGeom prst="roundRect">
            <a:avLst>
              <a:gd name="adj" fmla="val 16667"/>
            </a:avLst>
          </a:prstGeom>
          <a:solidFill>
            <a:srgbClr val="12304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464" name="TextBox 14"/>
          <p:cNvSpPr/>
          <p:nvPr/>
        </p:nvSpPr>
        <p:spPr>
          <a:xfrm>
            <a:off x="4407480" y="2167200"/>
            <a:ext cx="1499400" cy="42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pt-BR" sz="1400" spc="-1" strike="noStrike">
                <a:solidFill>
                  <a:srgbClr val="ffffff"/>
                </a:solidFill>
                <a:latin typeface="Aptos"/>
              </a:rPr>
              <a:t>3  Equipe e tarifas</a:t>
            </a:r>
            <a:endParaRPr b="0" lang="pt-BR" sz="1400" spc="-1" strike="noStrike">
              <a:latin typeface="Arial"/>
            </a:endParaRPr>
          </a:p>
        </p:txBody>
      </p:sp>
      <p:sp>
        <p:nvSpPr>
          <p:cNvPr id="465" name="TextBox 15"/>
          <p:cNvSpPr/>
          <p:nvPr/>
        </p:nvSpPr>
        <p:spPr>
          <a:xfrm>
            <a:off x="6026040" y="2203560"/>
            <a:ext cx="173520" cy="22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pt-BR" sz="1500" spc="-1" strike="noStrike">
                <a:solidFill>
                  <a:srgbClr val="00869c"/>
                </a:solidFill>
                <a:latin typeface="Aptos"/>
              </a:rPr>
              <a:t>→</a:t>
            </a:r>
            <a:endParaRPr b="0" lang="pt-BR" sz="1500" spc="-1" strike="noStrike">
              <a:latin typeface="Arial"/>
            </a:endParaRPr>
          </a:p>
        </p:txBody>
      </p:sp>
      <p:sp>
        <p:nvSpPr>
          <p:cNvPr id="466" name="Rounded Rectangle 16"/>
          <p:cNvSpPr/>
          <p:nvPr/>
        </p:nvSpPr>
        <p:spPr>
          <a:xfrm>
            <a:off x="6199560" y="2002680"/>
            <a:ext cx="1682280" cy="694440"/>
          </a:xfrm>
          <a:prstGeom prst="roundRect">
            <a:avLst>
              <a:gd name="adj" fmla="val 16667"/>
            </a:avLst>
          </a:prstGeom>
          <a:solidFill>
            <a:srgbClr val="12304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467" name="TextBox 17"/>
          <p:cNvSpPr/>
          <p:nvPr/>
        </p:nvSpPr>
        <p:spPr>
          <a:xfrm>
            <a:off x="6291000" y="2167200"/>
            <a:ext cx="1499400" cy="42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pt-BR" sz="1400" spc="-1" strike="noStrike">
                <a:solidFill>
                  <a:srgbClr val="ffffff"/>
                </a:solidFill>
                <a:latin typeface="Aptos"/>
              </a:rPr>
              <a:t>4  Tarefas e horas</a:t>
            </a:r>
            <a:endParaRPr b="0" lang="pt-BR" sz="1400" spc="-1" strike="noStrike">
              <a:latin typeface="Arial"/>
            </a:endParaRPr>
          </a:p>
        </p:txBody>
      </p:sp>
      <p:sp>
        <p:nvSpPr>
          <p:cNvPr id="468" name="TextBox 18"/>
          <p:cNvSpPr/>
          <p:nvPr/>
        </p:nvSpPr>
        <p:spPr>
          <a:xfrm>
            <a:off x="7909560" y="2203560"/>
            <a:ext cx="173520" cy="22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pt-BR" sz="1500" spc="-1" strike="noStrike">
                <a:solidFill>
                  <a:srgbClr val="00869c"/>
                </a:solidFill>
                <a:latin typeface="Aptos"/>
              </a:rPr>
              <a:t>→</a:t>
            </a:r>
            <a:endParaRPr b="0" lang="pt-BR" sz="1500" spc="-1" strike="noStrike">
              <a:latin typeface="Arial"/>
            </a:endParaRPr>
          </a:p>
        </p:txBody>
      </p:sp>
      <p:sp>
        <p:nvSpPr>
          <p:cNvPr id="469" name="Rounded Rectangle 19"/>
          <p:cNvSpPr/>
          <p:nvPr/>
        </p:nvSpPr>
        <p:spPr>
          <a:xfrm>
            <a:off x="8083440" y="2002680"/>
            <a:ext cx="1682280" cy="694440"/>
          </a:xfrm>
          <a:prstGeom prst="roundRect">
            <a:avLst>
              <a:gd name="adj" fmla="val 16667"/>
            </a:avLst>
          </a:prstGeom>
          <a:solidFill>
            <a:srgbClr val="12304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470" name="TextBox 20"/>
          <p:cNvSpPr/>
          <p:nvPr/>
        </p:nvSpPr>
        <p:spPr>
          <a:xfrm>
            <a:off x="8174880" y="2167200"/>
            <a:ext cx="1499400" cy="213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pt-BR" sz="1400" spc="-1" strike="noStrike">
                <a:solidFill>
                  <a:srgbClr val="ffffff"/>
                </a:solidFill>
                <a:latin typeface="Aptos"/>
              </a:rPr>
              <a:t>5  Despesas</a:t>
            </a:r>
            <a:endParaRPr b="0" lang="pt-BR" sz="1400" spc="-1" strike="noStrike">
              <a:latin typeface="Arial"/>
            </a:endParaRPr>
          </a:p>
        </p:txBody>
      </p:sp>
      <p:sp>
        <p:nvSpPr>
          <p:cNvPr id="471" name="TextBox 21"/>
          <p:cNvSpPr/>
          <p:nvPr/>
        </p:nvSpPr>
        <p:spPr>
          <a:xfrm>
            <a:off x="9793080" y="2203560"/>
            <a:ext cx="173520" cy="22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pt-BR" sz="1500" spc="-1" strike="noStrike">
                <a:solidFill>
                  <a:srgbClr val="00869c"/>
                </a:solidFill>
                <a:latin typeface="Aptos"/>
              </a:rPr>
              <a:t>→</a:t>
            </a:r>
            <a:endParaRPr b="0" lang="pt-BR" sz="1500" spc="-1" strike="noStrike">
              <a:latin typeface="Arial"/>
            </a:endParaRPr>
          </a:p>
        </p:txBody>
      </p:sp>
      <p:sp>
        <p:nvSpPr>
          <p:cNvPr id="472" name="Rounded Rectangle 22"/>
          <p:cNvSpPr/>
          <p:nvPr/>
        </p:nvSpPr>
        <p:spPr>
          <a:xfrm>
            <a:off x="9966960" y="2002680"/>
            <a:ext cx="1682280" cy="694440"/>
          </a:xfrm>
          <a:prstGeom prst="roundRect">
            <a:avLst>
              <a:gd name="adj" fmla="val 16667"/>
            </a:avLst>
          </a:prstGeom>
          <a:solidFill>
            <a:srgbClr val="12304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473" name="TextBox 23"/>
          <p:cNvSpPr/>
          <p:nvPr/>
        </p:nvSpPr>
        <p:spPr>
          <a:xfrm>
            <a:off x="10058400" y="2167200"/>
            <a:ext cx="1499400" cy="213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pt-BR" sz="1400" spc="-1" strike="noStrike">
                <a:solidFill>
                  <a:srgbClr val="ffffff"/>
                </a:solidFill>
                <a:latin typeface="Aptos"/>
              </a:rPr>
              <a:t>6  Resultado</a:t>
            </a:r>
            <a:endParaRPr b="0" lang="pt-BR" sz="1400" spc="-1" strike="noStrike">
              <a:latin typeface="Arial"/>
            </a:endParaRPr>
          </a:p>
        </p:txBody>
      </p:sp>
      <p:sp>
        <p:nvSpPr>
          <p:cNvPr id="474" name="TextBox 24"/>
          <p:cNvSpPr/>
          <p:nvPr/>
        </p:nvSpPr>
        <p:spPr>
          <a:xfrm>
            <a:off x="548640" y="2825640"/>
            <a:ext cx="11063880" cy="18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pt-BR" sz="1200" spc="-1" strike="noStrike">
                <a:solidFill>
                  <a:srgbClr val="526d80"/>
                </a:solidFill>
                <a:latin typeface="Aptos"/>
              </a:rPr>
              <a:t>Entrar → cadastrar/configurar → atribuir responsáveis → registrar execução → aprovar custos → acompanhar.</a:t>
            </a:r>
            <a:endParaRPr b="0" lang="pt-BR" sz="1200" spc="-1" strike="noStrike">
              <a:latin typeface="Arial"/>
            </a:endParaRPr>
          </a:p>
        </p:txBody>
      </p:sp>
      <p:sp>
        <p:nvSpPr>
          <p:cNvPr id="475" name="Rounded Rectangle 25"/>
          <p:cNvSpPr/>
          <p:nvPr/>
        </p:nvSpPr>
        <p:spPr>
          <a:xfrm>
            <a:off x="548640" y="3291840"/>
            <a:ext cx="3547440" cy="24044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476" name="Rectangle 26"/>
          <p:cNvSpPr/>
          <p:nvPr/>
        </p:nvSpPr>
        <p:spPr>
          <a:xfrm>
            <a:off x="548640" y="3291840"/>
            <a:ext cx="40680" cy="2404440"/>
          </a:xfrm>
          <a:prstGeom prst="rect">
            <a:avLst/>
          </a:prstGeom>
          <a:solidFill>
            <a:srgbClr val="00869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477" name="TextBox 27"/>
          <p:cNvSpPr/>
          <p:nvPr/>
        </p:nvSpPr>
        <p:spPr>
          <a:xfrm>
            <a:off x="704160" y="3456360"/>
            <a:ext cx="3236760" cy="27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pt-BR" sz="1800" spc="-1" strike="noStrike">
                <a:solidFill>
                  <a:srgbClr val="00869c"/>
                </a:solidFill>
                <a:latin typeface="Aptos"/>
              </a:rPr>
              <a:t>Acesso e conta</a:t>
            </a:r>
            <a:endParaRPr b="0" lang="pt-BR" sz="1800" spc="-1" strike="noStrike">
              <a:latin typeface="Arial"/>
            </a:endParaRPr>
          </a:p>
        </p:txBody>
      </p:sp>
      <p:sp>
        <p:nvSpPr>
          <p:cNvPr id="478" name="TextBox 28"/>
          <p:cNvSpPr/>
          <p:nvPr/>
        </p:nvSpPr>
        <p:spPr>
          <a:xfrm>
            <a:off x="723240" y="3780000"/>
            <a:ext cx="3236760" cy="146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5000"/>
              </a:lnSpc>
              <a:spcAft>
                <a:spcPts val="201"/>
              </a:spcAft>
              <a:buNone/>
            </a:pPr>
            <a:r>
              <a:rPr b="0" lang="pt-BR" sz="1400" spc="-1" strike="noStrike">
                <a:solidFill>
                  <a:srgbClr val="123044"/>
                </a:solidFill>
                <a:latin typeface="Aptos"/>
              </a:rPr>
              <a:t>Login</a:t>
            </a:r>
            <a:endParaRPr b="0" lang="pt-BR" sz="1400" spc="-1" strike="noStrike">
              <a:latin typeface="Arial"/>
            </a:endParaRPr>
          </a:p>
          <a:p>
            <a:pPr>
              <a:lnSpc>
                <a:spcPct val="105000"/>
              </a:lnSpc>
              <a:spcAft>
                <a:spcPts val="201"/>
              </a:spcAft>
              <a:buNone/>
            </a:pPr>
            <a:r>
              <a:rPr b="0" lang="pt-BR" sz="1400" spc="-1" strike="noStrike">
                <a:solidFill>
                  <a:srgbClr val="123044"/>
                </a:solidFill>
                <a:latin typeface="Aptos"/>
              </a:rPr>
              <a:t>Primeiro acesso / ativação</a:t>
            </a:r>
            <a:endParaRPr b="0" lang="pt-BR" sz="1400" spc="-1" strike="noStrike">
              <a:latin typeface="Arial"/>
            </a:endParaRPr>
          </a:p>
          <a:p>
            <a:pPr>
              <a:lnSpc>
                <a:spcPct val="105000"/>
              </a:lnSpc>
              <a:spcAft>
                <a:spcPts val="201"/>
              </a:spcAft>
              <a:buNone/>
            </a:pPr>
            <a:r>
              <a:rPr b="0" lang="pt-BR" sz="1400" spc="-1" strike="noStrike">
                <a:solidFill>
                  <a:srgbClr val="123044"/>
                </a:solidFill>
                <a:latin typeface="Aptos"/>
              </a:rPr>
              <a:t>Aceitar convite</a:t>
            </a:r>
            <a:endParaRPr b="0" lang="pt-BR" sz="1400" spc="-1" strike="noStrike">
              <a:latin typeface="Arial"/>
            </a:endParaRPr>
          </a:p>
          <a:p>
            <a:pPr>
              <a:lnSpc>
                <a:spcPct val="105000"/>
              </a:lnSpc>
              <a:spcAft>
                <a:spcPts val="201"/>
              </a:spcAft>
              <a:buNone/>
            </a:pPr>
            <a:r>
              <a:rPr b="0" lang="pt-BR" sz="1400" spc="-1" strike="noStrike">
                <a:solidFill>
                  <a:srgbClr val="123044"/>
                </a:solidFill>
                <a:latin typeface="Aptos"/>
              </a:rPr>
              <a:t>Recuperar senha</a:t>
            </a:r>
            <a:endParaRPr b="0" lang="pt-BR" sz="1400" spc="-1" strike="noStrike">
              <a:latin typeface="Arial"/>
            </a:endParaRPr>
          </a:p>
          <a:p>
            <a:pPr>
              <a:lnSpc>
                <a:spcPct val="105000"/>
              </a:lnSpc>
              <a:spcAft>
                <a:spcPts val="201"/>
              </a:spcAft>
              <a:buNone/>
            </a:pPr>
            <a:r>
              <a:rPr b="0" lang="pt-BR" sz="1400" spc="-1" strike="noStrike">
                <a:solidFill>
                  <a:srgbClr val="123044"/>
                </a:solidFill>
                <a:latin typeface="Aptos"/>
              </a:rPr>
              <a:t>Redefinir senha</a:t>
            </a:r>
            <a:endParaRPr b="0" lang="pt-BR" sz="1400" spc="-1" strike="noStrike">
              <a:latin typeface="Arial"/>
            </a:endParaRPr>
          </a:p>
          <a:p>
            <a:pPr>
              <a:lnSpc>
                <a:spcPct val="105000"/>
              </a:lnSpc>
              <a:spcAft>
                <a:spcPts val="201"/>
              </a:spcAft>
              <a:buNone/>
            </a:pPr>
            <a:r>
              <a:rPr b="0" lang="pt-BR" sz="1400" spc="-1" strike="noStrike">
                <a:solidFill>
                  <a:srgbClr val="123044"/>
                </a:solidFill>
                <a:latin typeface="Aptos"/>
              </a:rPr>
              <a:t>Meu perfil</a:t>
            </a:r>
            <a:endParaRPr b="0" lang="pt-BR" sz="1400" spc="-1" strike="noStrike">
              <a:latin typeface="Arial"/>
            </a:endParaRPr>
          </a:p>
        </p:txBody>
      </p:sp>
      <p:sp>
        <p:nvSpPr>
          <p:cNvPr id="479" name="Rounded Rectangle 29"/>
          <p:cNvSpPr/>
          <p:nvPr/>
        </p:nvSpPr>
        <p:spPr>
          <a:xfrm>
            <a:off x="4316040" y="3291840"/>
            <a:ext cx="3547440" cy="24044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480" name="Rectangle 30"/>
          <p:cNvSpPr/>
          <p:nvPr/>
        </p:nvSpPr>
        <p:spPr>
          <a:xfrm>
            <a:off x="4316040" y="3291840"/>
            <a:ext cx="40680" cy="2404440"/>
          </a:xfrm>
          <a:prstGeom prst="rect">
            <a:avLst/>
          </a:prstGeom>
          <a:solidFill>
            <a:srgbClr val="00869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481" name="TextBox 31"/>
          <p:cNvSpPr/>
          <p:nvPr/>
        </p:nvSpPr>
        <p:spPr>
          <a:xfrm>
            <a:off x="4471560" y="3456360"/>
            <a:ext cx="3236760" cy="27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pt-BR" sz="1800" spc="-1" strike="noStrike">
                <a:solidFill>
                  <a:srgbClr val="00869c"/>
                </a:solidFill>
                <a:latin typeface="Aptos"/>
              </a:rPr>
              <a:t>Trabalho diário</a:t>
            </a:r>
            <a:endParaRPr b="0" lang="pt-BR" sz="1800" spc="-1" strike="noStrike">
              <a:latin typeface="Arial"/>
            </a:endParaRPr>
          </a:p>
        </p:txBody>
      </p:sp>
      <p:sp>
        <p:nvSpPr>
          <p:cNvPr id="482" name="TextBox 32"/>
          <p:cNvSpPr/>
          <p:nvPr/>
        </p:nvSpPr>
        <p:spPr>
          <a:xfrm>
            <a:off x="4503240" y="3780000"/>
            <a:ext cx="3236760" cy="146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5000"/>
              </a:lnSpc>
              <a:spcAft>
                <a:spcPts val="201"/>
              </a:spcAft>
              <a:buNone/>
            </a:pPr>
            <a:r>
              <a:rPr b="0" lang="pt-BR" sz="1400" spc="-1" strike="noStrike">
                <a:solidFill>
                  <a:srgbClr val="123044"/>
                </a:solidFill>
                <a:latin typeface="Aptos"/>
              </a:rPr>
              <a:t>Home</a:t>
            </a:r>
            <a:endParaRPr b="0" lang="pt-BR" sz="1400" spc="-1" strike="noStrike">
              <a:latin typeface="Arial"/>
            </a:endParaRPr>
          </a:p>
          <a:p>
            <a:pPr>
              <a:lnSpc>
                <a:spcPct val="105000"/>
              </a:lnSpc>
              <a:spcAft>
                <a:spcPts val="201"/>
              </a:spcAft>
              <a:buNone/>
            </a:pPr>
            <a:r>
              <a:rPr b="0" lang="pt-BR" sz="1400" spc="-1" strike="noStrike">
                <a:solidFill>
                  <a:srgbClr val="123044"/>
                </a:solidFill>
                <a:latin typeface="Aptos"/>
              </a:rPr>
              <a:t>Meus Projetos</a:t>
            </a:r>
            <a:endParaRPr b="0" lang="pt-BR" sz="1400" spc="-1" strike="noStrike">
              <a:latin typeface="Arial"/>
            </a:endParaRPr>
          </a:p>
          <a:p>
            <a:pPr>
              <a:lnSpc>
                <a:spcPct val="105000"/>
              </a:lnSpc>
              <a:spcAft>
                <a:spcPts val="201"/>
              </a:spcAft>
              <a:buNone/>
            </a:pPr>
            <a:r>
              <a:rPr b="0" lang="pt-BR" sz="1400" spc="-1" strike="noStrike">
                <a:solidFill>
                  <a:srgbClr val="123044"/>
                </a:solidFill>
                <a:latin typeface="Aptos"/>
              </a:rPr>
              <a:t>Novo Projeto</a:t>
            </a:r>
            <a:endParaRPr b="0" lang="pt-BR" sz="1400" spc="-1" strike="noStrike">
              <a:latin typeface="Arial"/>
            </a:endParaRPr>
          </a:p>
          <a:p>
            <a:pPr>
              <a:lnSpc>
                <a:spcPct val="105000"/>
              </a:lnSpc>
              <a:spcAft>
                <a:spcPts val="201"/>
              </a:spcAft>
              <a:buNone/>
            </a:pPr>
            <a:r>
              <a:rPr b="0" lang="pt-BR" sz="1400" spc="-1" strike="noStrike">
                <a:solidFill>
                  <a:srgbClr val="123044"/>
                </a:solidFill>
                <a:latin typeface="Aptos"/>
              </a:rPr>
              <a:t>Equipes</a:t>
            </a:r>
            <a:endParaRPr b="0" lang="pt-BR" sz="1400" spc="-1" strike="noStrike">
              <a:latin typeface="Arial"/>
            </a:endParaRPr>
          </a:p>
          <a:p>
            <a:pPr>
              <a:lnSpc>
                <a:spcPct val="105000"/>
              </a:lnSpc>
              <a:spcAft>
                <a:spcPts val="201"/>
              </a:spcAft>
              <a:buNone/>
            </a:pPr>
            <a:r>
              <a:rPr b="0" lang="pt-BR" sz="1400" spc="-1" strike="noStrike">
                <a:solidFill>
                  <a:srgbClr val="123044"/>
                </a:solidFill>
                <a:latin typeface="Aptos"/>
              </a:rPr>
              <a:t>Minhas tarefas</a:t>
            </a:r>
            <a:endParaRPr b="0" lang="pt-BR" sz="1400" spc="-1" strike="noStrike">
              <a:latin typeface="Arial"/>
            </a:endParaRPr>
          </a:p>
          <a:p>
            <a:pPr>
              <a:lnSpc>
                <a:spcPct val="105000"/>
              </a:lnSpc>
              <a:spcAft>
                <a:spcPts val="201"/>
              </a:spcAft>
              <a:buNone/>
            </a:pPr>
            <a:r>
              <a:rPr b="0" lang="pt-BR" sz="1400" spc="-1" strike="noStrike">
                <a:solidFill>
                  <a:srgbClr val="123044"/>
                </a:solidFill>
                <a:latin typeface="Aptos"/>
              </a:rPr>
              <a:t>Meus documentos</a:t>
            </a:r>
            <a:endParaRPr b="0" lang="pt-BR" sz="1400" spc="-1" strike="noStrike">
              <a:latin typeface="Arial"/>
            </a:endParaRPr>
          </a:p>
        </p:txBody>
      </p:sp>
      <p:sp>
        <p:nvSpPr>
          <p:cNvPr id="483" name="Rounded Rectangle 33"/>
          <p:cNvSpPr/>
          <p:nvPr/>
        </p:nvSpPr>
        <p:spPr>
          <a:xfrm>
            <a:off x="8083440" y="3291840"/>
            <a:ext cx="3547440" cy="24044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484" name="Rectangle 34"/>
          <p:cNvSpPr/>
          <p:nvPr/>
        </p:nvSpPr>
        <p:spPr>
          <a:xfrm>
            <a:off x="8083440" y="3291840"/>
            <a:ext cx="40680" cy="2404440"/>
          </a:xfrm>
          <a:prstGeom prst="rect">
            <a:avLst/>
          </a:prstGeom>
          <a:solidFill>
            <a:srgbClr val="00869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485" name="TextBox 35"/>
          <p:cNvSpPr/>
          <p:nvPr/>
        </p:nvSpPr>
        <p:spPr>
          <a:xfrm>
            <a:off x="8238600" y="3456360"/>
            <a:ext cx="3236760" cy="27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pt-BR" sz="1800" spc="-1" strike="noStrike">
                <a:solidFill>
                  <a:srgbClr val="00869c"/>
                </a:solidFill>
                <a:latin typeface="Aptos"/>
              </a:rPr>
              <a:t>Gestão e controle</a:t>
            </a:r>
            <a:endParaRPr b="0" lang="pt-BR" sz="1800" spc="-1" strike="noStrike">
              <a:latin typeface="Arial"/>
            </a:endParaRPr>
          </a:p>
        </p:txBody>
      </p:sp>
      <p:sp>
        <p:nvSpPr>
          <p:cNvPr id="486" name="TextBox 36"/>
          <p:cNvSpPr/>
          <p:nvPr/>
        </p:nvSpPr>
        <p:spPr>
          <a:xfrm>
            <a:off x="8320320" y="3767760"/>
            <a:ext cx="3236760" cy="171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5000"/>
              </a:lnSpc>
              <a:spcAft>
                <a:spcPts val="201"/>
              </a:spcAft>
              <a:buNone/>
            </a:pPr>
            <a:r>
              <a:rPr b="0" lang="pt-BR" sz="1400" spc="-1" strike="noStrike">
                <a:solidFill>
                  <a:srgbClr val="123044"/>
                </a:solidFill>
                <a:latin typeface="Aptos"/>
              </a:rPr>
              <a:t>Caixa de entrada</a:t>
            </a:r>
            <a:endParaRPr b="0" lang="pt-BR" sz="1400" spc="-1" strike="noStrike">
              <a:latin typeface="Arial"/>
            </a:endParaRPr>
          </a:p>
          <a:p>
            <a:pPr>
              <a:lnSpc>
                <a:spcPct val="105000"/>
              </a:lnSpc>
              <a:spcAft>
                <a:spcPts val="201"/>
              </a:spcAft>
              <a:buNone/>
            </a:pPr>
            <a:r>
              <a:rPr b="0" lang="pt-BR" sz="1400" spc="-1" strike="noStrike">
                <a:solidFill>
                  <a:srgbClr val="123044"/>
                </a:solidFill>
                <a:latin typeface="Aptos"/>
              </a:rPr>
              <a:t>Agenda</a:t>
            </a:r>
            <a:endParaRPr b="0" lang="pt-BR" sz="1400" spc="-1" strike="noStrike">
              <a:latin typeface="Arial"/>
            </a:endParaRPr>
          </a:p>
          <a:p>
            <a:pPr>
              <a:lnSpc>
                <a:spcPct val="105000"/>
              </a:lnSpc>
              <a:spcAft>
                <a:spcPts val="201"/>
              </a:spcAft>
              <a:buNone/>
            </a:pPr>
            <a:r>
              <a:rPr b="0" lang="pt-BR" sz="1400" spc="-1" strike="noStrike">
                <a:solidFill>
                  <a:srgbClr val="123044"/>
                </a:solidFill>
                <a:latin typeface="Aptos"/>
              </a:rPr>
              <a:t>Portfólios</a:t>
            </a:r>
            <a:endParaRPr b="0" lang="pt-BR" sz="1400" spc="-1" strike="noStrike">
              <a:latin typeface="Arial"/>
            </a:endParaRPr>
          </a:p>
          <a:p>
            <a:pPr>
              <a:lnSpc>
                <a:spcPct val="105000"/>
              </a:lnSpc>
              <a:spcAft>
                <a:spcPts val="201"/>
              </a:spcAft>
              <a:buNone/>
            </a:pPr>
            <a:r>
              <a:rPr b="0" lang="pt-BR" sz="1400" spc="-1" strike="noStrike">
                <a:solidFill>
                  <a:srgbClr val="123044"/>
                </a:solidFill>
                <a:latin typeface="Aptos"/>
              </a:rPr>
              <a:t>Clientes</a:t>
            </a:r>
            <a:endParaRPr b="0" lang="pt-BR" sz="1400" spc="-1" strike="noStrike">
              <a:latin typeface="Arial"/>
            </a:endParaRPr>
          </a:p>
          <a:p>
            <a:pPr>
              <a:lnSpc>
                <a:spcPct val="105000"/>
              </a:lnSpc>
              <a:spcAft>
                <a:spcPts val="201"/>
              </a:spcAft>
              <a:buNone/>
            </a:pPr>
            <a:r>
              <a:rPr b="0" lang="pt-BR" sz="1400" spc="-1" strike="noStrike">
                <a:solidFill>
                  <a:srgbClr val="123044"/>
                </a:solidFill>
                <a:latin typeface="Aptos"/>
              </a:rPr>
              <a:t>Histórico</a:t>
            </a:r>
            <a:endParaRPr b="0" lang="pt-BR" sz="1400" spc="-1" strike="noStrike">
              <a:latin typeface="Arial"/>
            </a:endParaRPr>
          </a:p>
          <a:p>
            <a:pPr>
              <a:lnSpc>
                <a:spcPct val="105000"/>
              </a:lnSpc>
              <a:spcAft>
                <a:spcPts val="201"/>
              </a:spcAft>
              <a:buNone/>
            </a:pPr>
            <a:r>
              <a:rPr b="0" lang="pt-BR" sz="1400" spc="-1" strike="noStrike">
                <a:solidFill>
                  <a:srgbClr val="123044"/>
                </a:solidFill>
                <a:latin typeface="Aptos"/>
              </a:rPr>
              <a:t>Parâmetros</a:t>
            </a:r>
            <a:endParaRPr b="0" lang="pt-BR" sz="1400" spc="-1" strike="noStrike">
              <a:latin typeface="Arial"/>
            </a:endParaRPr>
          </a:p>
          <a:p>
            <a:pPr>
              <a:lnSpc>
                <a:spcPct val="105000"/>
              </a:lnSpc>
              <a:spcAft>
                <a:spcPts val="201"/>
              </a:spcAft>
              <a:buNone/>
            </a:pPr>
            <a:r>
              <a:rPr b="0" lang="pt-BR" sz="1400" spc="-1" strike="noStrike">
                <a:solidFill>
                  <a:srgbClr val="123044"/>
                </a:solidFill>
                <a:latin typeface="Aptos"/>
              </a:rPr>
              <a:t>Usuários e responsáveis</a:t>
            </a:r>
            <a:endParaRPr b="0" lang="pt-BR" sz="1400" spc="-1" strike="noStrike">
              <a:latin typeface="Arial"/>
            </a:endParaRPr>
          </a:p>
        </p:txBody>
      </p:sp>
      <p:sp>
        <p:nvSpPr>
          <p:cNvPr id="487" name="Rounded Rectangle 37"/>
          <p:cNvSpPr/>
          <p:nvPr/>
        </p:nvSpPr>
        <p:spPr>
          <a:xfrm>
            <a:off x="548640" y="5906880"/>
            <a:ext cx="11082240" cy="447840"/>
          </a:xfrm>
          <a:prstGeom prst="roundRect">
            <a:avLst>
              <a:gd name="adj" fmla="val 16667"/>
            </a:avLst>
          </a:prstGeom>
          <a:solidFill>
            <a:srgbClr val="12304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488" name="TextBox 38"/>
          <p:cNvSpPr/>
          <p:nvPr/>
        </p:nvSpPr>
        <p:spPr>
          <a:xfrm>
            <a:off x="713160" y="5998320"/>
            <a:ext cx="10743840" cy="18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pt-BR" sz="1200" spc="-1" strike="noStrike">
                <a:solidFill>
                  <a:srgbClr val="ffffff"/>
                </a:solidFill>
                <a:latin typeface="Aptos"/>
              </a:rPr>
              <a:t>No projeto: configuração, tarifas, impostos, despesas, resultado financeiro e auditoria; tarefas em lista/quadro.</a:t>
            </a:r>
            <a:endParaRPr b="0" lang="pt-BR" sz="1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3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Rectangle 1"/>
          <p:cNvSpPr/>
          <p:nvPr/>
        </p:nvSpPr>
        <p:spPr>
          <a:xfrm>
            <a:off x="0" y="0"/>
            <a:ext cx="12191040" cy="63360"/>
          </a:xfrm>
          <a:prstGeom prst="rect">
            <a:avLst/>
          </a:prstGeom>
          <a:solidFill>
            <a:srgbClr val="00869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490" name="TextBox 2"/>
          <p:cNvSpPr/>
          <p:nvPr/>
        </p:nvSpPr>
        <p:spPr>
          <a:xfrm>
            <a:off x="548640" y="292680"/>
            <a:ext cx="10972080" cy="16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pt-BR" sz="1100" spc="-1" strike="noStrike">
                <a:solidFill>
                  <a:srgbClr val="00869c"/>
                </a:solidFill>
                <a:latin typeface="Aptos"/>
                <a:ea typeface="DejaVu Sans"/>
              </a:rPr>
              <a:t>08 / DIFERENCIAIS</a:t>
            </a:r>
            <a:endParaRPr b="0" lang="pt-BR" sz="1100" spc="-1" strike="noStrike">
              <a:latin typeface="Arial"/>
            </a:endParaRPr>
          </a:p>
        </p:txBody>
      </p:sp>
      <p:sp>
        <p:nvSpPr>
          <p:cNvPr id="491" name="TextBox 3"/>
          <p:cNvSpPr/>
          <p:nvPr/>
        </p:nvSpPr>
        <p:spPr>
          <a:xfrm>
            <a:off x="548640" y="731520"/>
            <a:ext cx="11063520" cy="42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pt-BR" sz="2800" spc="-1" strike="noStrike">
                <a:solidFill>
                  <a:srgbClr val="123044"/>
                </a:solidFill>
                <a:latin typeface="Aptos"/>
                <a:ea typeface="DejaVu Sans"/>
              </a:rPr>
              <a:t>Diferenciais que conectam gestão e resultado</a:t>
            </a:r>
            <a:endParaRPr b="0" lang="pt-BR" sz="2800" spc="-1" strike="noStrike">
              <a:latin typeface="Arial"/>
            </a:endParaRPr>
          </a:p>
        </p:txBody>
      </p:sp>
      <p:sp>
        <p:nvSpPr>
          <p:cNvPr id="492" name="TextBox 4"/>
          <p:cNvSpPr/>
          <p:nvPr/>
        </p:nvSpPr>
        <p:spPr>
          <a:xfrm>
            <a:off x="548640" y="1426320"/>
            <a:ext cx="10972080" cy="21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pt-BR" sz="1400" spc="-1" strike="noStrike">
                <a:solidFill>
                  <a:srgbClr val="526d80"/>
                </a:solidFill>
                <a:latin typeface="Aptos"/>
                <a:ea typeface="DejaVu Sans"/>
              </a:rPr>
              <a:t>O diferencial está na combinação e na adequação à Computécnica; recursos isolados existem no mercado.</a:t>
            </a:r>
            <a:endParaRPr b="0" lang="pt-BR" sz="1400" spc="-1" strike="noStrike">
              <a:latin typeface="Arial"/>
            </a:endParaRPr>
          </a:p>
        </p:txBody>
      </p:sp>
      <p:sp>
        <p:nvSpPr>
          <p:cNvPr id="493" name="TextBox 5"/>
          <p:cNvSpPr/>
          <p:nvPr/>
        </p:nvSpPr>
        <p:spPr>
          <a:xfrm>
            <a:off x="548640" y="6510600"/>
            <a:ext cx="10057680" cy="121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pt-BR" sz="800" spc="-1" strike="noStrike">
                <a:solidFill>
                  <a:srgbClr val="526d80"/>
                </a:solidFill>
                <a:latin typeface="Aptos"/>
                <a:ea typeface="DejaVu Sans"/>
              </a:rPr>
              <a:t>Fonte: código local do Spot • revisão 28/10/2026</a:t>
            </a:r>
            <a:endParaRPr b="0" lang="pt-BR" sz="800" spc="-1" strike="noStrike">
              <a:latin typeface="Arial"/>
            </a:endParaRPr>
          </a:p>
        </p:txBody>
      </p:sp>
      <p:sp>
        <p:nvSpPr>
          <p:cNvPr id="494" name="TextBox 6"/>
          <p:cNvSpPr/>
          <p:nvPr/>
        </p:nvSpPr>
        <p:spPr>
          <a:xfrm>
            <a:off x="11064240" y="6483240"/>
            <a:ext cx="593640" cy="15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pt-BR" sz="1000" spc="-1" strike="noStrike">
                <a:solidFill>
                  <a:srgbClr val="526d80"/>
                </a:solidFill>
                <a:latin typeface="Aptos"/>
                <a:ea typeface="DejaVu Sans"/>
              </a:rPr>
              <a:t>09 / 11</a:t>
            </a:r>
            <a:endParaRPr b="0" lang="pt-BR" sz="1000" spc="-1" strike="noStrike">
              <a:latin typeface="Arial"/>
            </a:endParaRPr>
          </a:p>
        </p:txBody>
      </p:sp>
      <p:sp>
        <p:nvSpPr>
          <p:cNvPr id="495" name="Rounded Rectangle 7"/>
          <p:cNvSpPr/>
          <p:nvPr/>
        </p:nvSpPr>
        <p:spPr>
          <a:xfrm>
            <a:off x="548640" y="2039040"/>
            <a:ext cx="3547080" cy="15811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496" name="Rectangle 8"/>
          <p:cNvSpPr/>
          <p:nvPr/>
        </p:nvSpPr>
        <p:spPr>
          <a:xfrm>
            <a:off x="548640" y="2039040"/>
            <a:ext cx="40320" cy="1581120"/>
          </a:xfrm>
          <a:prstGeom prst="rect">
            <a:avLst/>
          </a:prstGeom>
          <a:solidFill>
            <a:srgbClr val="00869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497" name="TextBox 9"/>
          <p:cNvSpPr/>
          <p:nvPr/>
        </p:nvSpPr>
        <p:spPr>
          <a:xfrm>
            <a:off x="713160" y="2194560"/>
            <a:ext cx="3199680" cy="54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pt-BR" sz="1800" spc="-1" strike="noStrike">
                <a:solidFill>
                  <a:srgbClr val="00869c"/>
                </a:solidFill>
                <a:latin typeface="Aptos"/>
                <a:ea typeface="DejaVu Sans"/>
              </a:rPr>
              <a:t>Financeiro ligado à execução</a:t>
            </a:r>
            <a:endParaRPr b="0" lang="pt-BR" sz="1800" spc="-1" strike="noStrike">
              <a:latin typeface="Arial"/>
            </a:endParaRPr>
          </a:p>
        </p:txBody>
      </p:sp>
      <p:sp>
        <p:nvSpPr>
          <p:cNvPr id="498" name="TextBox 10"/>
          <p:cNvSpPr/>
          <p:nvPr/>
        </p:nvSpPr>
        <p:spPr>
          <a:xfrm>
            <a:off x="713160" y="2770560"/>
            <a:ext cx="319968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pt-BR" sz="1400" spc="-1" strike="noStrike">
                <a:solidFill>
                  <a:srgbClr val="123044"/>
                </a:solidFill>
                <a:latin typeface="Aptos"/>
                <a:ea typeface="DejaVu Sans"/>
              </a:rPr>
              <a:t>Horas, tarifas e despesas compõem o resultado gerencial do projeto.</a:t>
            </a:r>
            <a:endParaRPr b="0" lang="pt-BR" sz="1400" spc="-1" strike="noStrike">
              <a:latin typeface="Arial"/>
            </a:endParaRPr>
          </a:p>
        </p:txBody>
      </p:sp>
      <p:sp>
        <p:nvSpPr>
          <p:cNvPr id="499" name="Rounded Rectangle 11"/>
          <p:cNvSpPr/>
          <p:nvPr/>
        </p:nvSpPr>
        <p:spPr>
          <a:xfrm>
            <a:off x="4316040" y="2039040"/>
            <a:ext cx="3547080" cy="15811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500" name="Rectangle 12"/>
          <p:cNvSpPr/>
          <p:nvPr/>
        </p:nvSpPr>
        <p:spPr>
          <a:xfrm>
            <a:off x="4316040" y="2039040"/>
            <a:ext cx="40320" cy="1581120"/>
          </a:xfrm>
          <a:prstGeom prst="rect">
            <a:avLst/>
          </a:prstGeom>
          <a:solidFill>
            <a:srgbClr val="00869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501" name="TextBox 13"/>
          <p:cNvSpPr/>
          <p:nvPr/>
        </p:nvSpPr>
        <p:spPr>
          <a:xfrm>
            <a:off x="4480560" y="2194560"/>
            <a:ext cx="31996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pt-BR" sz="1800" spc="-1" strike="noStrike">
                <a:solidFill>
                  <a:srgbClr val="00869c"/>
                </a:solidFill>
                <a:latin typeface="Aptos"/>
                <a:ea typeface="DejaVu Sans"/>
              </a:rPr>
              <a:t>Regras para a operação do cliente</a:t>
            </a:r>
            <a:endParaRPr b="0" lang="pt-BR" sz="1800" spc="-1" strike="noStrike">
              <a:latin typeface="Arial"/>
            </a:endParaRPr>
          </a:p>
        </p:txBody>
      </p:sp>
      <p:sp>
        <p:nvSpPr>
          <p:cNvPr id="502" name="TextBox 14"/>
          <p:cNvSpPr/>
          <p:nvPr/>
        </p:nvSpPr>
        <p:spPr>
          <a:xfrm>
            <a:off x="4480560" y="2770560"/>
            <a:ext cx="319968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pt-BR" sz="1400" spc="-1" strike="noStrike">
                <a:solidFill>
                  <a:srgbClr val="123044"/>
                </a:solidFill>
                <a:latin typeface="Aptos"/>
                <a:ea typeface="DejaVu Sans"/>
              </a:rPr>
              <a:t>Contratos, permissões e encerramento com justificativa no mesmo fluxo.</a:t>
            </a:r>
            <a:endParaRPr b="0" lang="pt-BR" sz="1400" spc="-1" strike="noStrike">
              <a:latin typeface="Arial"/>
            </a:endParaRPr>
          </a:p>
        </p:txBody>
      </p:sp>
      <p:sp>
        <p:nvSpPr>
          <p:cNvPr id="503" name="Rounded Rectangle 15"/>
          <p:cNvSpPr/>
          <p:nvPr/>
        </p:nvSpPr>
        <p:spPr>
          <a:xfrm>
            <a:off x="8083440" y="2039040"/>
            <a:ext cx="3547080" cy="15811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504" name="Rectangle 16"/>
          <p:cNvSpPr/>
          <p:nvPr/>
        </p:nvSpPr>
        <p:spPr>
          <a:xfrm>
            <a:off x="8083440" y="2039040"/>
            <a:ext cx="40320" cy="1581120"/>
          </a:xfrm>
          <a:prstGeom prst="rect">
            <a:avLst/>
          </a:prstGeom>
          <a:solidFill>
            <a:srgbClr val="00869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505" name="TextBox 17"/>
          <p:cNvSpPr/>
          <p:nvPr/>
        </p:nvSpPr>
        <p:spPr>
          <a:xfrm>
            <a:off x="8247960" y="2194560"/>
            <a:ext cx="3199680" cy="54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pt-BR" sz="1800" spc="-1" strike="noStrike">
                <a:solidFill>
                  <a:srgbClr val="00869c"/>
                </a:solidFill>
                <a:latin typeface="Aptos"/>
                <a:ea typeface="DejaVu Sans"/>
              </a:rPr>
              <a:t>Rastreabilidade das alterações</a:t>
            </a:r>
            <a:endParaRPr b="0" lang="pt-BR" sz="1800" spc="-1" strike="noStrike">
              <a:latin typeface="Arial"/>
            </a:endParaRPr>
          </a:p>
        </p:txBody>
      </p:sp>
      <p:sp>
        <p:nvSpPr>
          <p:cNvPr id="506" name="TextBox 18"/>
          <p:cNvSpPr/>
          <p:nvPr/>
        </p:nvSpPr>
        <p:spPr>
          <a:xfrm>
            <a:off x="8247960" y="2770560"/>
            <a:ext cx="3199680" cy="42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pt-BR" sz="1400" spc="-1" strike="noStrike">
                <a:solidFill>
                  <a:srgbClr val="123044"/>
                </a:solidFill>
                <a:latin typeface="Aptos"/>
                <a:ea typeface="DejaVu Sans"/>
              </a:rPr>
              <a:t>Histórico de ações e captura da tarifa válida na data trabalhada.</a:t>
            </a:r>
            <a:endParaRPr b="0" lang="pt-BR" sz="1400" spc="-1" strike="noStrike">
              <a:latin typeface="Arial"/>
            </a:endParaRPr>
          </a:p>
        </p:txBody>
      </p:sp>
      <p:sp>
        <p:nvSpPr>
          <p:cNvPr id="507" name="Rounded Rectangle 19"/>
          <p:cNvSpPr/>
          <p:nvPr/>
        </p:nvSpPr>
        <p:spPr>
          <a:xfrm>
            <a:off x="548640" y="3822120"/>
            <a:ext cx="3547080" cy="15811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508" name="Rectangle 20"/>
          <p:cNvSpPr/>
          <p:nvPr/>
        </p:nvSpPr>
        <p:spPr>
          <a:xfrm>
            <a:off x="548640" y="3822120"/>
            <a:ext cx="40320" cy="1581120"/>
          </a:xfrm>
          <a:prstGeom prst="rect">
            <a:avLst/>
          </a:prstGeom>
          <a:solidFill>
            <a:srgbClr val="00869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509" name="TextBox 21"/>
          <p:cNvSpPr/>
          <p:nvPr/>
        </p:nvSpPr>
        <p:spPr>
          <a:xfrm>
            <a:off x="713160" y="3977640"/>
            <a:ext cx="3199680" cy="27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pt-BR" sz="1800" spc="-1" strike="noStrike">
                <a:solidFill>
                  <a:srgbClr val="00869c"/>
                </a:solidFill>
                <a:latin typeface="Aptos"/>
                <a:ea typeface="DejaVu Sans"/>
              </a:rPr>
              <a:t>Portfólio para decidir</a:t>
            </a:r>
            <a:endParaRPr b="0" lang="pt-BR" sz="1800" spc="-1" strike="noStrike">
              <a:latin typeface="Arial"/>
            </a:endParaRPr>
          </a:p>
        </p:txBody>
      </p:sp>
      <p:sp>
        <p:nvSpPr>
          <p:cNvPr id="510" name="TextBox 22"/>
          <p:cNvSpPr/>
          <p:nvPr/>
        </p:nvSpPr>
        <p:spPr>
          <a:xfrm>
            <a:off x="692640" y="4358880"/>
            <a:ext cx="31996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pt-BR" sz="1400" spc="-1" strike="noStrike">
                <a:solidFill>
                  <a:srgbClr val="123044"/>
                </a:solidFill>
                <a:latin typeface="Aptos"/>
                <a:ea typeface="DejaVu Sans"/>
              </a:rPr>
              <a:t>Indicadores, filtros, agrupamentos, gráficos e exportação CSV</a:t>
            </a:r>
            <a:r>
              <a:rPr b="0" lang="pt-BR" sz="1600" spc="-1" strike="noStrike">
                <a:solidFill>
                  <a:srgbClr val="123044"/>
                </a:solidFill>
                <a:latin typeface="Aptos"/>
                <a:ea typeface="DejaVu Sans"/>
              </a:rPr>
              <a:t>.</a:t>
            </a:r>
            <a:endParaRPr b="0" lang="pt-BR" sz="1600" spc="-1" strike="noStrike">
              <a:latin typeface="Arial"/>
            </a:endParaRPr>
          </a:p>
        </p:txBody>
      </p:sp>
      <p:sp>
        <p:nvSpPr>
          <p:cNvPr id="511" name="Rounded Rectangle 23"/>
          <p:cNvSpPr/>
          <p:nvPr/>
        </p:nvSpPr>
        <p:spPr>
          <a:xfrm>
            <a:off x="4316040" y="3822120"/>
            <a:ext cx="3547080" cy="15811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512" name="Rectangle 24"/>
          <p:cNvSpPr/>
          <p:nvPr/>
        </p:nvSpPr>
        <p:spPr>
          <a:xfrm>
            <a:off x="4316040" y="3822120"/>
            <a:ext cx="40320" cy="1581120"/>
          </a:xfrm>
          <a:prstGeom prst="rect">
            <a:avLst/>
          </a:prstGeom>
          <a:solidFill>
            <a:srgbClr val="00869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513" name="TextBox 25"/>
          <p:cNvSpPr/>
          <p:nvPr/>
        </p:nvSpPr>
        <p:spPr>
          <a:xfrm>
            <a:off x="4480560" y="3977640"/>
            <a:ext cx="3199680" cy="27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pt-BR" sz="1800" spc="-1" strike="noStrike">
                <a:solidFill>
                  <a:srgbClr val="00869c"/>
                </a:solidFill>
                <a:latin typeface="Aptos"/>
                <a:ea typeface="DejaVu Sans"/>
              </a:rPr>
              <a:t>Integrações e rotina</a:t>
            </a:r>
            <a:endParaRPr b="0" lang="pt-BR" sz="1800" spc="-1" strike="noStrike">
              <a:latin typeface="Arial"/>
            </a:endParaRPr>
          </a:p>
        </p:txBody>
      </p:sp>
      <p:sp>
        <p:nvSpPr>
          <p:cNvPr id="514" name="TextBox 26"/>
          <p:cNvSpPr/>
          <p:nvPr/>
        </p:nvSpPr>
        <p:spPr>
          <a:xfrm>
            <a:off x="4480560" y="4320000"/>
            <a:ext cx="3199680" cy="42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pt-BR" sz="1400" spc="-1" strike="noStrike">
                <a:solidFill>
                  <a:srgbClr val="123044"/>
                </a:solidFill>
                <a:latin typeface="Aptos"/>
                <a:ea typeface="DejaVu Sans"/>
              </a:rPr>
              <a:t>Google/Microsoft OAuth, agenda, Teams, convites e lembretes.</a:t>
            </a:r>
            <a:endParaRPr b="0" lang="pt-BR" sz="1400" spc="-1" strike="noStrike">
              <a:latin typeface="Arial"/>
            </a:endParaRPr>
          </a:p>
        </p:txBody>
      </p:sp>
      <p:sp>
        <p:nvSpPr>
          <p:cNvPr id="515" name="Rounded Rectangle 27"/>
          <p:cNvSpPr/>
          <p:nvPr/>
        </p:nvSpPr>
        <p:spPr>
          <a:xfrm>
            <a:off x="8083440" y="3822120"/>
            <a:ext cx="3547080" cy="15811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516" name="Rectangle 28"/>
          <p:cNvSpPr/>
          <p:nvPr/>
        </p:nvSpPr>
        <p:spPr>
          <a:xfrm>
            <a:off x="8083440" y="3822120"/>
            <a:ext cx="40320" cy="1581120"/>
          </a:xfrm>
          <a:prstGeom prst="rect">
            <a:avLst/>
          </a:prstGeom>
          <a:solidFill>
            <a:srgbClr val="00869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517" name="TextBox 29"/>
          <p:cNvSpPr/>
          <p:nvPr/>
        </p:nvSpPr>
        <p:spPr>
          <a:xfrm>
            <a:off x="8247960" y="3977640"/>
            <a:ext cx="3199680" cy="54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pt-BR" sz="1800" spc="-1" strike="noStrike">
                <a:solidFill>
                  <a:srgbClr val="00869c"/>
                </a:solidFill>
                <a:latin typeface="Aptos"/>
                <a:ea typeface="DejaVu Sans"/>
              </a:rPr>
              <a:t>Controle sobre a evolução</a:t>
            </a:r>
            <a:endParaRPr b="0" lang="pt-BR" sz="1800" spc="-1" strike="noStrike">
              <a:latin typeface="Arial"/>
            </a:endParaRPr>
          </a:p>
        </p:txBody>
      </p:sp>
      <p:sp>
        <p:nvSpPr>
          <p:cNvPr id="518" name="TextBox 30"/>
          <p:cNvSpPr/>
          <p:nvPr/>
        </p:nvSpPr>
        <p:spPr>
          <a:xfrm>
            <a:off x="8247960" y="4553640"/>
            <a:ext cx="3199680" cy="42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pt-BR" sz="1400" spc="-1" strike="noStrike">
                <a:solidFill>
                  <a:srgbClr val="123044"/>
                </a:solidFill>
                <a:latin typeface="Aptos"/>
                <a:ea typeface="DejaVu Sans"/>
              </a:rPr>
              <a:t>Código próprio permite adaptar regras e escolher a hospedagem.</a:t>
            </a:r>
            <a:endParaRPr b="0" lang="pt-BR" sz="1400" spc="-1" strike="noStrike">
              <a:latin typeface="Arial"/>
            </a:endParaRPr>
          </a:p>
        </p:txBody>
      </p:sp>
      <p:sp>
        <p:nvSpPr>
          <p:cNvPr id="519" name="Rounded Rectangle 31"/>
          <p:cNvSpPr/>
          <p:nvPr/>
        </p:nvSpPr>
        <p:spPr>
          <a:xfrm>
            <a:off x="548640" y="5906880"/>
            <a:ext cx="11081880" cy="447480"/>
          </a:xfrm>
          <a:prstGeom prst="roundRect">
            <a:avLst>
              <a:gd name="adj" fmla="val 16667"/>
            </a:avLst>
          </a:prstGeom>
          <a:solidFill>
            <a:srgbClr val="12304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520" name="TextBox 32"/>
          <p:cNvSpPr/>
          <p:nvPr/>
        </p:nvSpPr>
        <p:spPr>
          <a:xfrm>
            <a:off x="713160" y="5998320"/>
            <a:ext cx="1074348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pt-BR" sz="1200" spc="-1" strike="noStrike">
                <a:solidFill>
                  <a:srgbClr val="ffffff"/>
                </a:solidFill>
                <a:latin typeface="Aptos"/>
                <a:ea typeface="DejaVu Sans"/>
              </a:rPr>
              <a:t>Valor da proposta: organização + governança + visão financeira em um fluxo adaptável ao cliente.</a:t>
            </a:r>
            <a:endParaRPr b="0" lang="pt-BR" sz="1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264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>Equipe SPOT</dc:creator>
  <dc:description>generated using python-pptx</dc:description>
  <dc:language>en-US</dc:language>
  <cp:lastModifiedBy/>
  <dcterms:modified xsi:type="dcterms:W3CDTF">2026-10-28T18:56:26Z</dcterms:modified>
  <cp:revision>5</cp:revision>
  <dc:subject>11 slides; revisão visual de 28/10/2026; fonte: recuperação com alterações do usuário</dc:subject>
  <dc:title>SPOT — Defesa de TCC — versão corrigida e revisada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