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Participantes (%)</c:v>
                </c:pt>
              </c:strCache>
            </c:strRef>
          </c:tx>
          <c:spPr>
            <a:solidFill>
              <a:srgbClr val="007e98"/>
            </a:solidFill>
            <a:ln w="31680">
              <a:solidFill>
                <a:srgbClr val="007e98"/>
              </a:solidFill>
              <a:round/>
            </a:ln>
          </c:spPr>
          <c:marker>
            <c:symbol val="circle"/>
            <c:size val="7"/>
            <c:spPr>
              <a:solidFill>
                <a:srgbClr val="007e98"/>
              </a:solidFill>
            </c:spPr>
          </c:marker>
          <c:dPt>
            <c:idx val="0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1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2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3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4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Lbls>
            <c:dLbl>
              <c:idx val="0"/>
              <c:txPr>
                <a:bodyPr wrap="square"/>
                <a:lstStyle/>
                <a:p>
                  <a:pPr>
                    <a:defRPr b="1" sz="1000" spc="-1" strike="noStrike">
                      <a:solidFill>
                        <a:srgbClr val="183447"/>
                      </a:solidFill>
                      <a:latin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</a:rPr>
                      <a:t>29,8%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1" sz="1000" spc="-1" strike="noStrike">
                      <a:solidFill>
                        <a:srgbClr val="183447"/>
                      </a:solidFill>
                      <a:latin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</a:rPr>
                      <a:t>23,4%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1" sz="1000" spc="-1" strike="noStrike">
                      <a:solidFill>
                        <a:srgbClr val="183447"/>
                      </a:solidFill>
                      <a:latin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</a:rPr>
                      <a:t>20,2%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1" sz="1000" spc="-1" strike="noStrike">
                      <a:solidFill>
                        <a:srgbClr val="183447"/>
                      </a:solidFill>
                      <a:latin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</a:rPr>
                      <a:t>16,0%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1" sz="1000" spc="-1" strike="noStrike">
                      <a:solidFill>
                        <a:srgbClr val="183447"/>
                      </a:solidFill>
                      <a:latin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</a:rPr>
                      <a:t>10,6%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15–25</c:v>
                </c:pt>
                <c:pt idx="1">
                  <c:v>25–35</c:v>
                </c:pt>
                <c:pt idx="2">
                  <c:v>35–45</c:v>
                </c:pt>
                <c:pt idx="3">
                  <c:v>45–55</c:v>
                </c:pt>
                <c:pt idx="4">
                  <c:v>&gt;55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0.297872340425532</c:v>
                </c:pt>
                <c:pt idx="1">
                  <c:v>0.234042553191489</c:v>
                </c:pt>
                <c:pt idx="2">
                  <c:v>0.202127659574468</c:v>
                </c:pt>
                <c:pt idx="3">
                  <c:v>0.159574468085106</c:v>
                </c:pt>
                <c:pt idx="4">
                  <c:v>0.106382978723404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11044430"/>
        <c:axId val="66665873"/>
      </c:lineChart>
      <c:catAx>
        <c:axId val="11044430"/>
        <c:scaling>
          <c:orientation val="minMax"/>
        </c:scaling>
        <c:delete val="0"/>
        <c:axPos val="b"/>
        <c:numFmt formatCode="[$-416]dd/mm/yyyy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000000"/>
                </a:solidFill>
                <a:latin typeface="DejaVu Sans"/>
              </a:defRPr>
            </a:pPr>
          </a:p>
        </c:txPr>
        <c:crossAx val="66665873"/>
        <c:crosses val="autoZero"/>
        <c:auto val="1"/>
        <c:lblAlgn val="ctr"/>
        <c:lblOffset val="100"/>
        <c:noMultiLvlLbl val="0"/>
      </c:catAx>
      <c:valAx>
        <c:axId val="66665873"/>
        <c:scaling>
          <c:orientation val="minMax"/>
          <c:max val="0.4"/>
          <c:min val="0"/>
        </c:scaling>
        <c:delete val="0"/>
        <c:axPos val="l"/>
        <c:majorGridlines>
          <c:spPr>
            <a:ln w="9360">
              <a:solidFill>
                <a:srgbClr val="dce5ea"/>
              </a:solidFill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000000"/>
                </a:solidFill>
                <a:latin typeface="DejaVu Sans"/>
              </a:defRPr>
            </a:pPr>
          </a:p>
        </c:txPr>
        <c:crossAx val="11044430"/>
        <c:crosses val="autoZero"/>
        <c:crossBetween val="between"/>
        <c:majorUnit val="0.1"/>
      </c:valAx>
      <c:spPr>
        <a:noFill/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Participantes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8b79"/>
              </a:solidFill>
              <a:ln w="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7e98"/>
              </a:solidFill>
              <a:ln w="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af6714"/>
              </a:solidFill>
              <a:ln w="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5b5bf"/>
              </a:solidFill>
              <a:ln w="0">
                <a:solidFill>
                  <a:srgbClr val="ffffff"/>
                </a:solidFill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Concordam</c:v>
                </c:pt>
                <c:pt idx="1">
                  <c:v>Talvez</c:v>
                </c:pt>
                <c:pt idx="2">
                  <c:v>Não</c:v>
                </c:pt>
                <c:pt idx="3">
                  <c:v>Diferença documental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43</c:v>
                </c:pt>
                <c:pt idx="1">
                  <c:v>33</c:v>
                </c:pt>
                <c:pt idx="2">
                  <c:v>14</c:v>
                </c:pt>
                <c:pt idx="3">
                  <c:v>4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2000" spc="-1" strike="noStrike">
                <a:latin typeface="Arial"/>
              </a:rPr>
              <a:t>Click to edit the notes format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1400" spc="-1" strike="noStrike">
                <a:latin typeface="Times New Roman"/>
              </a:rPr>
              <a:t>&lt;header&gt;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pt-BR" sz="1400" spc="-1" strike="noStrike">
                <a:latin typeface="Times New Roman"/>
              </a:rPr>
              <a:t>&lt;date/time&gt;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&lt;footer&gt;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0A9451A-95CE-4323-8106-6D92F061A109}" type="slidenum">
              <a:rPr b="0" lang="pt-BR" sz="1400" spc="-1" strike="noStrike">
                <a:latin typeface="Times New Roman"/>
              </a:rPr>
              <a:t>&lt;number&gt;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SLIDE 1 — TEMPO: 20 segundos</a:t>
            </a:r>
          </a:p>
          <a:p>
            <a:r>
              <a:t>Acumulado: 00:00 a 00:20</a:t>
            </a:r>
          </a:p>
          <a:p/>
          <a:p>
            <a:r>
              <a:t>“Somos a equipe do Spot, Sistemas de Projetos, Organização e Tarefas. O projeto nasceu de uma necessidade da Computécnica: organizar a execução dos projetos com mais clareza e ligar esse trabalho ao seu resultado financeiro. Vamos mostrar como a pesquisa orientou as decisões e como elas aparecem no sistema.”</a:t>
            </a:r>
          </a:p>
          <a:p/>
          <a:p>
            <a:r>
              <a:t>Fontes: pesquisa de campo DOCX (2026), texto e figuras; monografia integrada; código local em 26/10/2026. Consulte o guia para contagens completas e limitações.</a:t>
            </a:r>
          </a:p>
        </p:txBody>
      </p:sp>
      <p:sp>
        <p:nvSpPr>
          <p:cNvPr id="45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3629E6D-55C5-4CF9-8D5D-36617462D318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SLIDE 2 — TEMPO: 40 segundos</a:t>
            </a:r>
          </a:p>
          <a:p>
            <a:r>
              <a:t>Acumulado: 00:20 a 01:00</a:t>
            </a:r>
          </a:p>
          <a:p/>
          <a:p>
            <a:r>
              <a:t>“O trabalho conecta três coisas: uma necessidade real, pesquisa para priorizar requisitos e implementação verificável. O Spot organiza a execução e a relaciona ao resultado financeiro, com governança e autonomia de evolução. Nossa contribuição é uma solução adaptada à Computécnica e uma base técnica que pode amadurecer com uso e validação. Esses são os três pilares que orientam a proposta a seguir.”</a:t>
            </a:r>
          </a:p>
          <a:p/>
          <a:p>
            <a:r>
              <a:t>Fontes: pesquisa de campo DOCX (2026), texto e figuras; monografia integrada; código local em 26/10/2026. Consulte o guia para contagens completas e limitações.</a:t>
            </a:r>
          </a:p>
        </p:txBody>
      </p:sp>
      <p:sp>
        <p:nvSpPr>
          <p:cNvPr id="4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CE2305-8E34-4B0F-9BE1-9C074E6EAF63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SLIDE 3 — TEMPO: 50 segundos</a:t>
            </a:r>
          </a:p>
          <a:p>
            <a:r>
              <a:t>Acumulado: 01:00 a 01:50</a:t>
            </a:r>
          </a:p>
          <a:p/>
          <a:p>
            <a:r>
              <a:t>“O ponto de partida foi um sistema com visual antigo, dificuldades de integração e controle insuficiente de responsabilidades e custos. Usamos duas bases: a pesquisa de campo, para identificar dores e expectativas, e o estudo de sistemas, para conhecer soluções existentes. O formulário reuniu 94 respostas entre março e agosto de 2026. A amostra é de conveniência: orienta nosso projeto, mas não representa estatisticamente todas as empresas. Também confrontamos essas evidências com o memorial e as necessidades específicas do cliente.”</a:t>
            </a:r>
          </a:p>
          <a:p/>
          <a:p>
            <a:r>
              <a:t>Fontes: pesquisa de campo DOCX (2026), texto e figuras; monografia integrada; código local em 26/10/2026. Consulte o guia para contagens completas e limitações.</a:t>
            </a:r>
          </a:p>
        </p:txBody>
      </p:sp>
      <p:sp>
        <p:nvSpPr>
          <p:cNvPr id="46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A0508AE-19B6-4AE8-A4E1-45094E1016B3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SLIDE 4 — TEMPO: 60 segundos</a:t>
            </a:r>
          </a:p>
          <a:p>
            <a:r>
              <a:t>Acumulado: 01:50 a 02:50</a:t>
            </a:r>
          </a:p>
          <a:p/>
          <a:p>
            <a:r>
              <a:t>Leitura do gráfico de linhas: cada ponto representa uma faixa etária, com percentual calculado sobre 94. A ligação mostra o perfil das faixas ordenadas; não representa evolução temporal nem acompanhamento das mesmas pessoas.</a:t>
            </a:r>
          </a:p>
          <a:p/>
          <a:p>
            <a:r>
              <a:t>“Dos 94 participantes, 88 estavam empregados. A amostra reúne diferentes idades e 65 pessoas que não atuam diretamente em gestão de projetos. Isso nos ajudou a pensar no uso cotidiano, além de especialistas. O Office 365 teve 52 menções e 17 pessoas disseram não utilizar software. As ferramentas podem aparecer juntas, por isso essas contagens não somam 94. No Spot, essa presença do Microsoft se traduz em login, agenda e integração de diretório; a diversidade de usuários levou à prioridade de interface simples e tutorial.”</a:t>
            </a:r>
          </a:p>
          <a:p/>
          <a:p>
            <a:r>
              <a:t>Fontes: pesquisa de campo DOCX (2026), texto e figuras; monografia integrada; código local em 26/10/2026. Consulte o guia para contagens completas e limitações.</a:t>
            </a:r>
          </a:p>
        </p:txBody>
      </p:sp>
      <p:sp>
        <p:nvSpPr>
          <p:cNvPr id="46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AC3CD56-D345-41D3-8DD6-FC63200921F4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SLIDE 5 — TEMPO: 65 segundos</a:t>
            </a:r>
          </a:p>
          <a:p>
            <a:r>
              <a:t>Acumulado: 02:50 a 03:55</a:t>
            </a:r>
          </a:p>
          <a:p/>
          <a:p>
            <a:r>
              <a:t>Leitura do gráfico de setores: concordância = 43/94 (45,7%); talvez = 33/94 (35,1%); não = 14/94 (14,9%); diferença documental = 4/94 (4,3%). A última fatia é apenas a diferença entre a base declarada e as categorias publicadas, não uma resposta observada. As legendas também mostram as contagens.</a:t>
            </a:r>
          </a:p>
          <a:p/>
          <a:p>
            <a:r>
              <a:t>“Sobre software de projetos, 33 não têm e 27 usam uma solução cujo foco não é esse. Ao perguntar sobre uma ferramenta dedicada, 43 concordam diretamente e 33 respondem talvez. Assim, 80,9% demonstram concordância ou abertura, mas não intenção comprovada de compra. O estudo também identifica fluxos internos e externos e opiniões intermediárias sobre a interface atual. Isso levou a centralizar projetos e criar diferentes visões de trabalho. O suporte a contextos internos e externos tem base no modelo, mas não afirmamos dois fluxos completos e separados.”</a:t>
            </a:r>
          </a:p>
          <a:p/>
          <a:p>
            <a:r>
              <a:t>Fontes: pesquisa de campo DOCX (2026), texto e figuras; monografia integrada; código local em 26/10/2026. Consulte o guia para contagens completas e limitações.</a:t>
            </a:r>
          </a:p>
        </p:txBody>
      </p:sp>
      <p:sp>
        <p:nvSpPr>
          <p:cNvPr id="47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F2A3C9D-4C00-48CA-BAB3-E0A509824740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SLIDE 6 — TEMPO: 70 segundos</a:t>
            </a:r>
          </a:p>
          <a:p>
            <a:r>
              <a:t>Acumulado: 03:55 a 05:05</a:t>
            </a:r>
          </a:p>
          <a:p/>
          <a:p>
            <a:r>
              <a:t>“Os dois números centrais são 63,8% com dificuldade de organização e 88,3% que percebem relação entre organização e faturamento. Também encontramos 41,5% com dificuldade de alinhamento e 31,9% com dificuldade de registrar custos adicionais. O Spot responde com tarefas e responsáveis, equipes, despesas revisadas e resultado financeiro. Esses números são percepções da amostra, não provas de que o Spot aumentou faturamento. Usamos 94 como base e sinalizamos que algumas figuras não discriminam todos os participantes.”</a:t>
            </a:r>
          </a:p>
          <a:p/>
          <a:p>
            <a:r>
              <a:t>Fontes: pesquisa de campo DOCX (2026), texto e figuras; monografia integrada; código local em 26/10/2026. Consulte o guia para contagens completas e limitações.</a:t>
            </a:r>
          </a:p>
        </p:txBody>
      </p:sp>
      <p:sp>
        <p:nvSpPr>
          <p:cNvPr id="47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7F5DF45-7E3D-4993-B0E6-B694FBECBAD6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SLIDE 7 — TEMPO: 65 segundos</a:t>
            </a:r>
          </a:p>
          <a:p>
            <a:r>
              <a:t>Acumulado: 05:05 a 06:10</a:t>
            </a:r>
          </a:p>
          <a:p/>
          <a:p>
            <a:r>
              <a:t>“Estudamos Monday, Asana, Jira, Trello, ClickUp e Notion. Eles já oferecem recursos fortes de organização, colaboração e automação. O diferencial que defendemos não é exclusividade de quadros ou dashboards: é entregar um fluxo específico da Computécnica, com tarifas por vigência, despesas aprovadas e regras de encerramento em código próprio. Recursos semelhantes existem em outras ferramentas; defendemos a adequação ao cliente, não exclusividade. Código próprio dá autonomia de evolução, mas continua exigindo hospedagem e manutenção.”</a:t>
            </a:r>
          </a:p>
          <a:p/>
          <a:p>
            <a:r>
              <a:t>Fontes: pesquisa de campo DOCX (2026), texto e figuras; monografia integrada; código local em 26/10/2026. Consulte o guia para contagens completas e limitações. Páginas oficiais: monday.com/w/use-cases/ai-project-management-software; asana.com/features; atlassian.com/software/jira/features; trello.com/tour; clickup.com/features; notion.com/product/projects; taskrush.com.br/gerenciamento-de-projetos/; artia.com/produto/ia-do-artia/; jestor.com/pt/ai/; aws.amazon.com/what-is-cloud-computing/ (consulta 26/10/2026).</a:t>
            </a:r>
          </a:p>
        </p:txBody>
      </p:sp>
      <p:sp>
        <p:nvSpPr>
          <p:cNvPr id="47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E26BA5-8C0D-4746-9512-5D2FC737F497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SLIDE 8 — TEMPO: 65 segundos</a:t>
            </a:r>
          </a:p>
          <a:p>
            <a:r>
              <a:t>Acumulado: 06:10 a 07:15</a:t>
            </a:r>
          </a:p>
          <a:p/>
          <a:p>
            <a:r>
              <a:t>“A análise aberta destacou interface simples, financeiro, integrações, indicadores e tarefas com agenda. Mostramos a ligação de cada tema com a entrega: tutorial e navegação; horas, tarifas e despesas; calendários; portfólio; quadro, lista e calendário de tarefas. Os alertas agora são gerados por prazo e evento, com caixa de entrada, fila de e-mail, resumos e horário de silêncio. O portfólio atualiza automaticamente. Serviços externos continuam exigindo credenciais, consentimento e SMTP; isso é condição de operação, não ausência do código. A tabela da pesquisa soma 49 frequências e o texto cita 57 comentários: registramos essa diferença e não a preenchemos com respostas inventadas.”</a:t>
            </a:r>
          </a:p>
          <a:p/>
          <a:p>
            <a:r>
              <a:t>Fontes: pesquisa de campo DOCX (2026), texto e figuras; monografia integrada; código local em 26/10/2026. Consulte o guia para contagens completas e limitações.</a:t>
            </a:r>
          </a:p>
        </p:txBody>
      </p:sp>
      <p:sp>
        <p:nvSpPr>
          <p:cNvPr id="47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E3B0AFF-4779-4DA0-AD37-1604138C4027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SLIDE 9 — TEMPO: 60 segundos</a:t>
            </a:r>
          </a:p>
          <a:p>
            <a:r>
              <a:t>Acumulado: 07:15 a 08:15</a:t>
            </a:r>
          </a:p>
          <a:p/>
          <a:p>
            <a:r>
              <a:t>“O Spot é um monólito organizado por camadas. React apresenta a interface; a API Laravel valida acesso e dados; ações de domínio executam regras; Eloquent persiste no PostgreSQL. Python faz a agregação analítica, sem acesso direto ao banco. Worker processa e-mails e scheduler executa manutenção. A escolha mantém uma implantação administrável para a equipe, sem exigir microserviços. Separar responsabilidades ajuda a testar e evoluir, embora alguns controllers e o componente principal ainda possam ser divididos melhor.”</a:t>
            </a:r>
          </a:p>
          <a:p/>
          <a:p>
            <a:r>
              <a:t>Fontes: pesquisa de campo DOCX (2026), texto e figuras; monografia integrada; código local em 26/10/2026. Consulte o guia para contagens completas e limitações.</a:t>
            </a:r>
          </a:p>
        </p:txBody>
      </p:sp>
      <p:sp>
        <p:nvSpPr>
          <p:cNvPr id="48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6F48C5-32FB-4C6B-9AD4-9F7726CADDA9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SLIDE 10 — TEMPO: 60 segundos</a:t>
            </a:r>
          </a:p>
          <a:p>
            <a:r>
              <a:t>Acumulado: 08:15 a 09:15</a:t>
            </a:r>
          </a:p>
          <a:p/>
          <a:p>
            <a:r>
              <a:t>“O controle de acesso combina perfis, permissões e vínculo com projeto. Finalizar exige justificativa, bloqueia os principais lançamentos e revoga vínculos ativos; reabrir não restaura esses vínculos automaticamente. A auditoria registra ações relevantes e possui retenção configurável. Na integração, o que existe de fato é OAuth, calendários, criação de Teams e diretório Microsoft, com configuração externa. Os 24 ícones de aplicativos são atalhos. Convites usam links com validade, uso único e envio por fila.”</a:t>
            </a:r>
          </a:p>
          <a:p/>
          <a:p>
            <a:r>
              <a:t>Fontes: pesquisa de campo DOCX (2026), texto e figuras; monografia integrada; código local em 26/10/2026. Consulte o guia para contagens completas e limitações.</a:t>
            </a:r>
          </a:p>
        </p:txBody>
      </p:sp>
      <p:sp>
        <p:nvSpPr>
          <p:cNvPr id="48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51DA60-C25A-446E-A678-600216526342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SLIDE 11 — TEMPO: 75 segundos</a:t>
            </a:r>
          </a:p>
          <a:p>
            <a:r>
              <a:t>Acumulado: 09:15 a 10:30</a:t>
            </a:r>
          </a:p>
          <a:p/>
          <a:p>
            <a:r>
              <a:t>“Ao salvar, TasksPage transforma horas e minutos em um número inteiro. O cliente de API prepara CSRF e envia a requisição. TaskV1Controller verifica o projeto e as pessoas. Dentro da transação, cria a tarefa, vincula participantes, captura tarifa e registra auditoria. O JSON atualiza a tela. Quando o relatório é aberto, o cálculo usa essa fotografia e evita somar novamente tarefas que já tenham apontamento associado. Esse caminho mostra que a funcionalidade existe além do desenho da tela.”</a:t>
            </a:r>
          </a:p>
          <a:p/>
          <a:p>
            <a:r>
              <a:t>Para concluir: o Spot conecta os requisitos levantados com regras verificáveis de organização, governança e resultado gerencial. Obrigado.</a:t>
            </a:r>
          </a:p>
          <a:p/>
          <a:p>
            <a:r>
              <a:t>Fontes: pesquisa de campo DOCX (2026), texto e figuras; monografia integrada; código local em 26/10/2026. Consulte o guia para contagens completas e limitações.</a:t>
            </a:r>
          </a:p>
        </p:txBody>
      </p:sp>
      <p:sp>
        <p:nvSpPr>
          <p:cNvPr id="48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FCA2D2-8FEC-4703-A395-0C74AD7D4C65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47640E-86EE-466E-A728-337913D237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844297-BCA1-4551-A878-D898C4BA3A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945FB6-043C-42F7-A9E5-B3C971EBBC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159CF1-C99D-479C-BD25-48D3805FAF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29AD80-644A-42DC-B1EB-810896BAE7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E89D4F-B70E-4AA7-8412-4472FC39EC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B03C2B-01D0-4424-9E1C-746DF8D132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4F63B6-4883-4AE0-94FD-D849477A87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704308-F3B2-4A32-B31E-A445635ECA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08A3FB-B3B4-47EE-A029-0EE6ABDD09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D92FAA-DE13-4D2C-835B-455BE218AFB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C2A199-6599-4AD0-B58D-AE6F3F13B8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pt-BR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&lt;footer&gt;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B1C75BC-E039-4EBB-8A59-DF208A4D90E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1"/>
          <p:cNvSpPr/>
          <p:nvPr/>
        </p:nvSpPr>
        <p:spPr>
          <a:xfrm>
            <a:off x="8458200" y="0"/>
            <a:ext cx="3733200" cy="68576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8" name="TextBox 2"/>
          <p:cNvSpPr/>
          <p:nvPr/>
        </p:nvSpPr>
        <p:spPr>
          <a:xfrm>
            <a:off x="640080" y="548640"/>
            <a:ext cx="7314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64d9e6"/>
                </a:solidFill>
                <a:latin typeface="DejaVu Sans"/>
              </a:rPr>
              <a:t>TCC • INFORMÁTICA • 2026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9" name="TextBox 3"/>
          <p:cNvSpPr/>
          <p:nvPr/>
        </p:nvSpPr>
        <p:spPr>
          <a:xfrm>
            <a:off x="594360" y="1417320"/>
            <a:ext cx="731484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7000" spc="-1" strike="noStrike">
                <a:solidFill>
                  <a:srgbClr val="ffffff"/>
                </a:solidFill>
                <a:latin typeface="DejaVu Sans"/>
              </a:rPr>
              <a:t>SPOT</a:t>
            </a:r>
            <a:endParaRPr b="0" lang="pt-BR" sz="7000" spc="-1" strike="noStrike">
              <a:latin typeface="Arial"/>
            </a:endParaRPr>
          </a:p>
        </p:txBody>
      </p:sp>
      <p:sp>
        <p:nvSpPr>
          <p:cNvPr id="50" name="TextBox 4"/>
          <p:cNvSpPr/>
          <p:nvPr/>
        </p:nvSpPr>
        <p:spPr>
          <a:xfrm>
            <a:off x="658440" y="2697480"/>
            <a:ext cx="749772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DejaVu Sans"/>
              </a:rPr>
              <a:t>Da pesquisa</a:t>
            </a:r>
            <a:endParaRPr b="0" lang="pt-BR" sz="3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DejaVu Sans"/>
              </a:rPr>
              <a:t>à implementação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51" name="TextBox 5"/>
          <p:cNvSpPr/>
          <p:nvPr/>
        </p:nvSpPr>
        <p:spPr>
          <a:xfrm>
            <a:off x="685800" y="4507920"/>
            <a:ext cx="70405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900" spc="-1" strike="noStrike">
                <a:solidFill>
                  <a:srgbClr val="c6dce5"/>
                </a:solidFill>
                <a:latin typeface="DejaVu Sans"/>
              </a:rPr>
              <a:t>Projetos, pessoas e resultado financeiro</a:t>
            </a:r>
            <a:endParaRPr b="0" lang="pt-BR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900" spc="-1" strike="noStrike">
                <a:solidFill>
                  <a:srgbClr val="c6dce5"/>
                </a:solidFill>
                <a:latin typeface="DejaVu Sans"/>
              </a:rPr>
              <a:t>no contexto da Computécnica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52" name="TextBox 6"/>
          <p:cNvSpPr/>
          <p:nvPr/>
        </p:nvSpPr>
        <p:spPr>
          <a:xfrm>
            <a:off x="685800" y="5715000"/>
            <a:ext cx="731484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6dce5"/>
                </a:solidFill>
                <a:latin typeface="DejaVu Sans"/>
              </a:rPr>
              <a:t>Alexander Molany Longo • Lucas Rodrigues Soares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6dce5"/>
                </a:solidFill>
                <a:latin typeface="DejaVu Sans"/>
              </a:rPr>
              <a:t>Pedro Galvão de Matos • Yasmin Regina de Souza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53" name="TextBox 7"/>
          <p:cNvSpPr/>
          <p:nvPr/>
        </p:nvSpPr>
        <p:spPr>
          <a:xfrm>
            <a:off x="8851320" y="1188720"/>
            <a:ext cx="2834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DejaVu Sans"/>
              </a:rPr>
              <a:t>4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54" name="TextBox 8"/>
          <p:cNvSpPr/>
          <p:nvPr/>
        </p:nvSpPr>
        <p:spPr>
          <a:xfrm>
            <a:off x="8897040" y="1938600"/>
            <a:ext cx="27428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</a:rPr>
              <a:t>integrantes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55" name="TextBox 9"/>
          <p:cNvSpPr/>
          <p:nvPr/>
        </p:nvSpPr>
        <p:spPr>
          <a:xfrm>
            <a:off x="8851320" y="2788920"/>
            <a:ext cx="2834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DejaVu Sans"/>
              </a:rPr>
              <a:t>11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8897040" y="3538800"/>
            <a:ext cx="27428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</a:rPr>
              <a:t>slides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57" name="TextBox 11"/>
          <p:cNvSpPr/>
          <p:nvPr/>
        </p:nvSpPr>
        <p:spPr>
          <a:xfrm>
            <a:off x="8851320" y="4389120"/>
            <a:ext cx="2834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DejaVu Sans"/>
              </a:rPr>
              <a:t>15 min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58" name="TextBox 12"/>
          <p:cNvSpPr/>
          <p:nvPr/>
        </p:nvSpPr>
        <p:spPr>
          <a:xfrm>
            <a:off x="8897040" y="5139000"/>
            <a:ext cx="27428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</a:rPr>
              <a:t>tempo máximo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/>
          <a:p/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62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01 / PROPOSTA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Pesquisa → requisitos → implementação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Uma solução adaptada à Computécnica, com caminho técnico verificável.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Fonte: código local do Spot • corte técnico 26/10/2026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02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548640" y="2194560"/>
            <a:ext cx="338292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07e98"/>
                </a:solidFill>
                <a:latin typeface="DejaVu Sans"/>
              </a:rPr>
              <a:t>01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548640" y="3145680"/>
            <a:ext cx="338292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12c42"/>
                </a:solidFill>
                <a:latin typeface="DejaVu Sans"/>
              </a:rPr>
              <a:t>Organizar a execução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548640" y="4050720"/>
            <a:ext cx="33829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83447"/>
                </a:solidFill>
                <a:latin typeface="DejaVu Sans"/>
              </a:rPr>
              <a:t>Projetos, tarefas, responsáveis e equipes.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4361760" y="2194560"/>
            <a:ext cx="338292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07e98"/>
                </a:solidFill>
                <a:latin typeface="DejaVu Sans"/>
              </a:rPr>
              <a:t>02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4361760" y="3145680"/>
            <a:ext cx="338292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12c42"/>
                </a:solidFill>
                <a:latin typeface="DejaVu Sans"/>
              </a:rPr>
              <a:t>Entender o resultado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4361760" y="4050720"/>
            <a:ext cx="33829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83447"/>
                </a:solidFill>
                <a:latin typeface="DejaVu Sans"/>
              </a:rPr>
              <a:t>Horas, custos, despesas e margem gerencial.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8174880" y="2194560"/>
            <a:ext cx="338292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07e98"/>
                </a:solidFill>
                <a:latin typeface="DejaVu Sans"/>
              </a:rPr>
              <a:t>03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8174880" y="3145680"/>
            <a:ext cx="338292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12c42"/>
                </a:solidFill>
                <a:latin typeface="DejaVu Sans"/>
              </a:rPr>
              <a:t>Controlar a evolução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8174880" y="4050720"/>
            <a:ext cx="33829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83447"/>
                </a:solidFill>
                <a:latin typeface="DejaVu Sans"/>
              </a:rPr>
              <a:t>Permissões, histórico e implantação própria.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76" name="Rounded Rectangle 16"/>
          <p:cNvSpPr/>
          <p:nvPr/>
        </p:nvSpPr>
        <p:spPr>
          <a:xfrm>
            <a:off x="502920" y="562356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77" name="TextBox 17"/>
          <p:cNvSpPr/>
          <p:nvPr/>
        </p:nvSpPr>
        <p:spPr>
          <a:xfrm>
            <a:off x="658440" y="571500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Próximo passo: validar o uso real, medir resultados e evoluir com o retorno do cliente.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79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02 / PONTO DE PARTIDA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Um problema real. Duas pesquisas.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Como transformar a rotina do cliente em requisitos verificáveis.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Fontes: monografia, introdução; capítulo da pesquisa, metodologia (2026).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03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84" name="Rounded Rectangle 7"/>
          <p:cNvSpPr/>
          <p:nvPr/>
        </p:nvSpPr>
        <p:spPr>
          <a:xfrm>
            <a:off x="502920" y="2030040"/>
            <a:ext cx="3547440" cy="338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85" name="Rectangle 8"/>
          <p:cNvSpPr/>
          <p:nvPr/>
        </p:nvSpPr>
        <p:spPr>
          <a:xfrm>
            <a:off x="502920" y="2030040"/>
            <a:ext cx="50040" cy="33829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86" name="TextBox 9"/>
          <p:cNvSpPr/>
          <p:nvPr/>
        </p:nvSpPr>
        <p:spPr>
          <a:xfrm>
            <a:off x="667440" y="2167200"/>
            <a:ext cx="3227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Computécnica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667440" y="2642760"/>
            <a:ext cx="3227400" cy="11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Visual antigo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Acesso pouco delimitado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Custos desconectados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Dependência da solução anterior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88" name="Rounded Rectangle 11"/>
          <p:cNvSpPr/>
          <p:nvPr/>
        </p:nvSpPr>
        <p:spPr>
          <a:xfrm>
            <a:off x="4316040" y="2030040"/>
            <a:ext cx="3547440" cy="338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89" name="Rectangle 12"/>
          <p:cNvSpPr/>
          <p:nvPr/>
        </p:nvSpPr>
        <p:spPr>
          <a:xfrm>
            <a:off x="4316040" y="2030040"/>
            <a:ext cx="50040" cy="33829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90" name="TextBox 13"/>
          <p:cNvSpPr/>
          <p:nvPr/>
        </p:nvSpPr>
        <p:spPr>
          <a:xfrm>
            <a:off x="4480560" y="2167200"/>
            <a:ext cx="3227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Pesquisa de campo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91" name="TextBox 14"/>
          <p:cNvSpPr/>
          <p:nvPr/>
        </p:nvSpPr>
        <p:spPr>
          <a:xfrm>
            <a:off x="4480560" y="2642760"/>
            <a:ext cx="3227400" cy="11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16 perguntas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18 mar → 24 ago de 2026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Survey quali-quantitativo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Amostra de conveniência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92" name="Rounded Rectangle 15"/>
          <p:cNvSpPr/>
          <p:nvPr/>
        </p:nvSpPr>
        <p:spPr>
          <a:xfrm>
            <a:off x="8129160" y="2030040"/>
            <a:ext cx="3547440" cy="338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93" name="Rectangle 16"/>
          <p:cNvSpPr/>
          <p:nvPr/>
        </p:nvSpPr>
        <p:spPr>
          <a:xfrm>
            <a:off x="8129160" y="2030040"/>
            <a:ext cx="50040" cy="33829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94" name="TextBox 17"/>
          <p:cNvSpPr/>
          <p:nvPr/>
        </p:nvSpPr>
        <p:spPr>
          <a:xfrm>
            <a:off x="8293680" y="2167200"/>
            <a:ext cx="3227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Pesquisa de sistemas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95" name="TextBox 18"/>
          <p:cNvSpPr/>
          <p:nvPr/>
        </p:nvSpPr>
        <p:spPr>
          <a:xfrm>
            <a:off x="8293680" y="2642760"/>
            <a:ext cx="3227400" cy="11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6 plataformas principais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Integrações e automação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Referências de interação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Escolhas para o cliente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96" name="Rounded Rectangle 19"/>
          <p:cNvSpPr/>
          <p:nvPr/>
        </p:nvSpPr>
        <p:spPr>
          <a:xfrm>
            <a:off x="502920" y="587052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97" name="TextBox 20"/>
          <p:cNvSpPr/>
          <p:nvPr/>
        </p:nvSpPr>
        <p:spPr>
          <a:xfrm>
            <a:off x="658440" y="596196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A amostra orienta prioridades; não representa estatisticamente todas as empresas.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99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03 / PESQUISA DE CAMPO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Quem respondeu e o que já utiliza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88 de 94 estavam empregados • 65 não atuam diretamente em gestão de projetos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Fonte: pesquisa SPOT (2026), figuras 1–3 e perfil. Contagens reconstruídas dos gráficos do DOCX.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03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04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04" name="Rounded Rectangle 7"/>
          <p:cNvSpPr/>
          <p:nvPr/>
        </p:nvSpPr>
        <p:spPr>
          <a:xfrm>
            <a:off x="502920" y="1993320"/>
            <a:ext cx="3520080" cy="3511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05" name="TextBox 8"/>
          <p:cNvSpPr/>
          <p:nvPr/>
        </p:nvSpPr>
        <p:spPr>
          <a:xfrm>
            <a:off x="631080" y="2103120"/>
            <a:ext cx="3264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</a:rPr>
              <a:t>Perfil etário — gráfico de linhas</a:t>
            </a:r>
            <a:endParaRPr b="0" lang="pt-BR" sz="1400" spc="-1" strike="noStrike">
              <a:latin typeface="Arial"/>
            </a:endParaRPr>
          </a:p>
        </p:txBody>
      </p:sp>
      <p:graphicFrame>
        <p:nvGraphicFramePr>
          <p:cNvPr id="106" name="Chart 9"/>
          <p:cNvGraphicFramePr/>
          <p:nvPr/>
        </p:nvGraphicFramePr>
        <p:xfrm>
          <a:off x="612720" y="2569320"/>
          <a:ext cx="3300480" cy="2459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7" name="TextBox 10"/>
          <p:cNvSpPr/>
          <p:nvPr/>
        </p:nvSpPr>
        <p:spPr>
          <a:xfrm>
            <a:off x="631080" y="5184720"/>
            <a:ext cx="32641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Base: 94 • linha entre faixas etárias, não evolução no tempo.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08" name="Rounded Rectangle 11"/>
          <p:cNvSpPr/>
          <p:nvPr/>
        </p:nvSpPr>
        <p:spPr>
          <a:xfrm>
            <a:off x="4334400" y="1993320"/>
            <a:ext cx="3520080" cy="3511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09" name="TextBox 12"/>
          <p:cNvSpPr/>
          <p:nvPr/>
        </p:nvSpPr>
        <p:spPr>
          <a:xfrm>
            <a:off x="4480560" y="2103120"/>
            <a:ext cx="32457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</a:rPr>
              <a:t>Atuação em gestão de projetos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4471560" y="2742840"/>
            <a:ext cx="15444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</a:rPr>
              <a:t>Não atua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11" name="Rectangle 14"/>
          <p:cNvSpPr/>
          <p:nvPr/>
        </p:nvSpPr>
        <p:spPr>
          <a:xfrm>
            <a:off x="5988960" y="277452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12" name="Rectangle 15"/>
          <p:cNvSpPr/>
          <p:nvPr/>
        </p:nvSpPr>
        <p:spPr>
          <a:xfrm>
            <a:off x="5988960" y="2774520"/>
            <a:ext cx="79560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13" name="TextBox 16"/>
          <p:cNvSpPr/>
          <p:nvPr/>
        </p:nvSpPr>
        <p:spPr>
          <a:xfrm>
            <a:off x="6839640" y="2742840"/>
            <a:ext cx="9507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</a:rPr>
              <a:t>65 · 69,1%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14" name="TextBox 17"/>
          <p:cNvSpPr/>
          <p:nvPr/>
        </p:nvSpPr>
        <p:spPr>
          <a:xfrm>
            <a:off x="4471560" y="3344040"/>
            <a:ext cx="15444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</a:rPr>
              <a:t>Atua parcialmente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15" name="Rectangle 18"/>
          <p:cNvSpPr/>
          <p:nvPr/>
        </p:nvSpPr>
        <p:spPr>
          <a:xfrm>
            <a:off x="5988960" y="337608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16" name="Rectangle 19"/>
          <p:cNvSpPr/>
          <p:nvPr/>
        </p:nvSpPr>
        <p:spPr>
          <a:xfrm>
            <a:off x="5988960" y="3376080"/>
            <a:ext cx="24444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17" name="TextBox 20"/>
          <p:cNvSpPr/>
          <p:nvPr/>
        </p:nvSpPr>
        <p:spPr>
          <a:xfrm>
            <a:off x="6839640" y="3344040"/>
            <a:ext cx="9507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</a:rPr>
              <a:t>20 · 21,3%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18" name="TextBox 21"/>
          <p:cNvSpPr/>
          <p:nvPr/>
        </p:nvSpPr>
        <p:spPr>
          <a:xfrm>
            <a:off x="4471560" y="3945240"/>
            <a:ext cx="15444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</a:rPr>
              <a:t>Totalmente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19" name="Rectangle 22"/>
          <p:cNvSpPr/>
          <p:nvPr/>
        </p:nvSpPr>
        <p:spPr>
          <a:xfrm>
            <a:off x="5988960" y="397728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20" name="Rectangle 23"/>
          <p:cNvSpPr/>
          <p:nvPr/>
        </p:nvSpPr>
        <p:spPr>
          <a:xfrm>
            <a:off x="5988960" y="3977280"/>
            <a:ext cx="4860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21" name="TextBox 24"/>
          <p:cNvSpPr/>
          <p:nvPr/>
        </p:nvSpPr>
        <p:spPr>
          <a:xfrm>
            <a:off x="6839640" y="3945240"/>
            <a:ext cx="9507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</a:rPr>
              <a:t>4 · 4,3%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22" name="TextBox 25"/>
          <p:cNvSpPr/>
          <p:nvPr/>
        </p:nvSpPr>
        <p:spPr>
          <a:xfrm>
            <a:off x="4471560" y="4546800"/>
            <a:ext cx="15444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</a:rPr>
              <a:t>Sim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23" name="Rectangle 26"/>
          <p:cNvSpPr/>
          <p:nvPr/>
        </p:nvSpPr>
        <p:spPr>
          <a:xfrm>
            <a:off x="5988960" y="457884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24" name="Rectangle 27"/>
          <p:cNvSpPr/>
          <p:nvPr/>
        </p:nvSpPr>
        <p:spPr>
          <a:xfrm>
            <a:off x="5988960" y="4578840"/>
            <a:ext cx="3636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25" name="TextBox 28"/>
          <p:cNvSpPr/>
          <p:nvPr/>
        </p:nvSpPr>
        <p:spPr>
          <a:xfrm>
            <a:off x="6839640" y="4546800"/>
            <a:ext cx="9507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</a:rPr>
              <a:t>3 · 3,2%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26" name="TextBox 29"/>
          <p:cNvSpPr/>
          <p:nvPr/>
        </p:nvSpPr>
        <p:spPr>
          <a:xfrm>
            <a:off x="4480560" y="5276160"/>
            <a:ext cx="3245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soma: 92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27" name="Rounded Rectangle 30"/>
          <p:cNvSpPr/>
          <p:nvPr/>
        </p:nvSpPr>
        <p:spPr>
          <a:xfrm>
            <a:off x="8165520" y="1993320"/>
            <a:ext cx="3520080" cy="3511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28" name="TextBox 31"/>
          <p:cNvSpPr/>
          <p:nvPr/>
        </p:nvSpPr>
        <p:spPr>
          <a:xfrm>
            <a:off x="8312040" y="2103120"/>
            <a:ext cx="32457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</a:rPr>
              <a:t>Ferramentas utilizadas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29" name="TextBox 32"/>
          <p:cNvSpPr/>
          <p:nvPr/>
        </p:nvSpPr>
        <p:spPr>
          <a:xfrm>
            <a:off x="8302680" y="2525760"/>
            <a:ext cx="1544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Office 365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30" name="Rectangle 33"/>
          <p:cNvSpPr/>
          <p:nvPr/>
        </p:nvSpPr>
        <p:spPr>
          <a:xfrm>
            <a:off x="9820080" y="255780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1" name="Rectangle 34"/>
          <p:cNvSpPr/>
          <p:nvPr/>
        </p:nvSpPr>
        <p:spPr>
          <a:xfrm>
            <a:off x="9820080" y="2557800"/>
            <a:ext cx="79560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2" name="TextBox 35"/>
          <p:cNvSpPr/>
          <p:nvPr/>
        </p:nvSpPr>
        <p:spPr>
          <a:xfrm>
            <a:off x="10671120" y="2525760"/>
            <a:ext cx="9507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</a:rPr>
              <a:t>52 · 55,3%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33" name="TextBox 36"/>
          <p:cNvSpPr/>
          <p:nvPr/>
        </p:nvSpPr>
        <p:spPr>
          <a:xfrm>
            <a:off x="8302680" y="2962800"/>
            <a:ext cx="1544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Software próprio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34" name="Rectangle 37"/>
          <p:cNvSpPr/>
          <p:nvPr/>
        </p:nvSpPr>
        <p:spPr>
          <a:xfrm>
            <a:off x="9820080" y="299484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5" name="Rectangle 38"/>
          <p:cNvSpPr/>
          <p:nvPr/>
        </p:nvSpPr>
        <p:spPr>
          <a:xfrm>
            <a:off x="9820080" y="2994840"/>
            <a:ext cx="39780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6" name="TextBox 39"/>
          <p:cNvSpPr/>
          <p:nvPr/>
        </p:nvSpPr>
        <p:spPr>
          <a:xfrm>
            <a:off x="10671120" y="2962800"/>
            <a:ext cx="9507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</a:rPr>
              <a:t>26 · 27,7%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37" name="TextBox 40"/>
          <p:cNvSpPr/>
          <p:nvPr/>
        </p:nvSpPr>
        <p:spPr>
          <a:xfrm>
            <a:off x="8302680" y="3399840"/>
            <a:ext cx="1544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Office 2021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38" name="Rectangle 41"/>
          <p:cNvSpPr/>
          <p:nvPr/>
        </p:nvSpPr>
        <p:spPr>
          <a:xfrm>
            <a:off x="9820080" y="343188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9" name="Rectangle 42"/>
          <p:cNvSpPr/>
          <p:nvPr/>
        </p:nvSpPr>
        <p:spPr>
          <a:xfrm>
            <a:off x="9820080" y="3431880"/>
            <a:ext cx="2905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40" name="TextBox 43"/>
          <p:cNvSpPr/>
          <p:nvPr/>
        </p:nvSpPr>
        <p:spPr>
          <a:xfrm>
            <a:off x="10671120" y="3399840"/>
            <a:ext cx="9507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</a:rPr>
              <a:t>19 · 20,2%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41" name="TextBox 44"/>
          <p:cNvSpPr/>
          <p:nvPr/>
        </p:nvSpPr>
        <p:spPr>
          <a:xfrm>
            <a:off x="8302680" y="3836880"/>
            <a:ext cx="1544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Nenhum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42" name="Rectangle 45"/>
          <p:cNvSpPr/>
          <p:nvPr/>
        </p:nvSpPr>
        <p:spPr>
          <a:xfrm>
            <a:off x="9820080" y="386892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43" name="Rectangle 46"/>
          <p:cNvSpPr/>
          <p:nvPr/>
        </p:nvSpPr>
        <p:spPr>
          <a:xfrm>
            <a:off x="9820080" y="3868920"/>
            <a:ext cx="2599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44" name="TextBox 47"/>
          <p:cNvSpPr/>
          <p:nvPr/>
        </p:nvSpPr>
        <p:spPr>
          <a:xfrm>
            <a:off x="10671120" y="3836880"/>
            <a:ext cx="9507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</a:rPr>
              <a:t>17 · 18,1%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45" name="TextBox 48"/>
          <p:cNvSpPr/>
          <p:nvPr/>
        </p:nvSpPr>
        <p:spPr>
          <a:xfrm>
            <a:off x="8302680" y="4273920"/>
            <a:ext cx="1544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Bloco de Notas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46" name="Rectangle 49"/>
          <p:cNvSpPr/>
          <p:nvPr/>
        </p:nvSpPr>
        <p:spPr>
          <a:xfrm>
            <a:off x="9820080" y="430596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47" name="Rectangle 50"/>
          <p:cNvSpPr/>
          <p:nvPr/>
        </p:nvSpPr>
        <p:spPr>
          <a:xfrm>
            <a:off x="9820080" y="4305960"/>
            <a:ext cx="24444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48" name="TextBox 51"/>
          <p:cNvSpPr/>
          <p:nvPr/>
        </p:nvSpPr>
        <p:spPr>
          <a:xfrm>
            <a:off x="10671120" y="4273920"/>
            <a:ext cx="9507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</a:rPr>
              <a:t>16 · 17,0%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49" name="TextBox 52"/>
          <p:cNvSpPr/>
          <p:nvPr/>
        </p:nvSpPr>
        <p:spPr>
          <a:xfrm>
            <a:off x="8302680" y="4710960"/>
            <a:ext cx="1544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Notion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50" name="Rectangle 53"/>
          <p:cNvSpPr/>
          <p:nvPr/>
        </p:nvSpPr>
        <p:spPr>
          <a:xfrm>
            <a:off x="9820080" y="474300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51" name="Rectangle 54"/>
          <p:cNvSpPr/>
          <p:nvPr/>
        </p:nvSpPr>
        <p:spPr>
          <a:xfrm>
            <a:off x="9820080" y="4743000"/>
            <a:ext cx="6084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52" name="TextBox 55"/>
          <p:cNvSpPr/>
          <p:nvPr/>
        </p:nvSpPr>
        <p:spPr>
          <a:xfrm>
            <a:off x="10671120" y="4710960"/>
            <a:ext cx="9507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</a:rPr>
              <a:t>4 · 4,3%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53" name="TextBox 56"/>
          <p:cNvSpPr/>
          <p:nvPr/>
        </p:nvSpPr>
        <p:spPr>
          <a:xfrm>
            <a:off x="8312040" y="5276160"/>
            <a:ext cx="3245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menções não exclusivas • % de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54" name="Rounded Rectangle 57"/>
          <p:cNvSpPr/>
          <p:nvPr/>
        </p:nvSpPr>
        <p:spPr>
          <a:xfrm>
            <a:off x="502920" y="587052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55" name="TextBox 58"/>
          <p:cNvSpPr/>
          <p:nvPr/>
        </p:nvSpPr>
        <p:spPr>
          <a:xfrm>
            <a:off x="658440" y="596196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52 menções a Office 365 → integração corporativa • perfil diverso → prioridade de usabilidade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57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04 / ADOÇÃO E CONTEXTO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Uma solução dedicada precisa se adaptar à rotina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43 concordam com a necessidade; 33 dizem “talvez” → 80,9% de apoio ou abertura, sem inferir compra.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60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Fonte: pesquisa SPOT (2026), figuras 4–8 e 13. Base 94; alternativas abreviadas; ver transcrição no guia.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61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05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62" name="Rounded Rectangle 7"/>
          <p:cNvSpPr/>
          <p:nvPr/>
        </p:nvSpPr>
        <p:spPr>
          <a:xfrm>
            <a:off x="502920" y="1920240"/>
            <a:ext cx="3538440" cy="190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63" name="TextBox 8"/>
          <p:cNvSpPr/>
          <p:nvPr/>
        </p:nvSpPr>
        <p:spPr>
          <a:xfrm>
            <a:off x="649080" y="2030040"/>
            <a:ext cx="32641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</a:rPr>
              <a:t>Software de projetos na empresa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64" name="TextBox 9"/>
          <p:cNvSpPr/>
          <p:nvPr/>
        </p:nvSpPr>
        <p:spPr>
          <a:xfrm>
            <a:off x="640080" y="266940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Não possui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65" name="Rectangle 10"/>
          <p:cNvSpPr/>
          <p:nvPr/>
        </p:nvSpPr>
        <p:spPr>
          <a:xfrm>
            <a:off x="2166120" y="270144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66" name="Rectangle 11"/>
          <p:cNvSpPr/>
          <p:nvPr/>
        </p:nvSpPr>
        <p:spPr>
          <a:xfrm>
            <a:off x="2166120" y="2701440"/>
            <a:ext cx="8053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67" name="TextBox 12"/>
          <p:cNvSpPr/>
          <p:nvPr/>
        </p:nvSpPr>
        <p:spPr>
          <a:xfrm>
            <a:off x="3026520" y="266940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33 · 35,1%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68" name="TextBox 13"/>
          <p:cNvSpPr/>
          <p:nvPr/>
        </p:nvSpPr>
        <p:spPr>
          <a:xfrm>
            <a:off x="640080" y="293472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Possui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69" name="Rectangle 14"/>
          <p:cNvSpPr/>
          <p:nvPr/>
        </p:nvSpPr>
        <p:spPr>
          <a:xfrm>
            <a:off x="2166120" y="296676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70" name="Rectangle 15"/>
          <p:cNvSpPr/>
          <p:nvPr/>
        </p:nvSpPr>
        <p:spPr>
          <a:xfrm>
            <a:off x="2166120" y="2966760"/>
            <a:ext cx="78084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71" name="TextBox 16"/>
          <p:cNvSpPr/>
          <p:nvPr/>
        </p:nvSpPr>
        <p:spPr>
          <a:xfrm>
            <a:off x="3026520" y="293472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32 · 34,0%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72" name="TextBox 17"/>
          <p:cNvSpPr/>
          <p:nvPr/>
        </p:nvSpPr>
        <p:spPr>
          <a:xfrm>
            <a:off x="640080" y="320040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Sem foco em projetos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73" name="Rectangle 18"/>
          <p:cNvSpPr/>
          <p:nvPr/>
        </p:nvSpPr>
        <p:spPr>
          <a:xfrm>
            <a:off x="2166120" y="323208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74" name="Rectangle 19"/>
          <p:cNvSpPr/>
          <p:nvPr/>
        </p:nvSpPr>
        <p:spPr>
          <a:xfrm>
            <a:off x="2166120" y="3232080"/>
            <a:ext cx="65880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75" name="TextBox 20"/>
          <p:cNvSpPr/>
          <p:nvPr/>
        </p:nvSpPr>
        <p:spPr>
          <a:xfrm>
            <a:off x="3026520" y="320040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27 · 28,7%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76" name="TextBox 21"/>
          <p:cNvSpPr/>
          <p:nvPr/>
        </p:nvSpPr>
        <p:spPr>
          <a:xfrm>
            <a:off x="649080" y="3593520"/>
            <a:ext cx="32641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soma: 92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77" name="Rounded Rectangle 22"/>
          <p:cNvSpPr/>
          <p:nvPr/>
        </p:nvSpPr>
        <p:spPr>
          <a:xfrm>
            <a:off x="4316040" y="1920240"/>
            <a:ext cx="3538440" cy="190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78" name="TextBox 23"/>
          <p:cNvSpPr/>
          <p:nvPr/>
        </p:nvSpPr>
        <p:spPr>
          <a:xfrm>
            <a:off x="4443840" y="2030040"/>
            <a:ext cx="32824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12c42"/>
                </a:solidFill>
                <a:latin typeface="DejaVu Sans"/>
              </a:rPr>
              <a:t>Software dedicado — necessidade</a:t>
            </a:r>
            <a:endParaRPr b="0" lang="pt-BR" sz="1300" spc="-1" strike="noStrike">
              <a:latin typeface="Arial"/>
            </a:endParaRPr>
          </a:p>
        </p:txBody>
      </p:sp>
      <p:graphicFrame>
        <p:nvGraphicFramePr>
          <p:cNvPr id="179" name="Chart 24"/>
          <p:cNvGraphicFramePr/>
          <p:nvPr/>
        </p:nvGraphicFramePr>
        <p:xfrm>
          <a:off x="4361760" y="2386440"/>
          <a:ext cx="1307160" cy="1225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0" name="Rectangle 25"/>
          <p:cNvSpPr/>
          <p:nvPr/>
        </p:nvSpPr>
        <p:spPr>
          <a:xfrm>
            <a:off x="5724000" y="2455200"/>
            <a:ext cx="91080" cy="91080"/>
          </a:xfrm>
          <a:prstGeom prst="rect">
            <a:avLst/>
          </a:prstGeom>
          <a:solidFill>
            <a:srgbClr val="008b7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81" name="TextBox 26"/>
          <p:cNvSpPr/>
          <p:nvPr/>
        </p:nvSpPr>
        <p:spPr>
          <a:xfrm>
            <a:off x="5870520" y="2432160"/>
            <a:ext cx="18831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</a:rPr>
              <a:t>Concordam: 45,7% (43)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2" name="Rectangle 27"/>
          <p:cNvSpPr/>
          <p:nvPr/>
        </p:nvSpPr>
        <p:spPr>
          <a:xfrm>
            <a:off x="5724000" y="2720520"/>
            <a:ext cx="91080" cy="91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83" name="TextBox 28"/>
          <p:cNvSpPr/>
          <p:nvPr/>
        </p:nvSpPr>
        <p:spPr>
          <a:xfrm>
            <a:off x="5870520" y="2697480"/>
            <a:ext cx="18831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83447"/>
                </a:solidFill>
                <a:latin typeface="DejaVu Sans"/>
              </a:rPr>
              <a:t>Talvez: 35,1% (33)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4" name="Rectangle 29"/>
          <p:cNvSpPr/>
          <p:nvPr/>
        </p:nvSpPr>
        <p:spPr>
          <a:xfrm>
            <a:off x="5724000" y="2985480"/>
            <a:ext cx="91080" cy="91080"/>
          </a:xfrm>
          <a:prstGeom prst="rect">
            <a:avLst/>
          </a:prstGeom>
          <a:solidFill>
            <a:srgbClr val="af671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85" name="TextBox 30"/>
          <p:cNvSpPr/>
          <p:nvPr/>
        </p:nvSpPr>
        <p:spPr>
          <a:xfrm>
            <a:off x="5870520" y="2962800"/>
            <a:ext cx="18831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83447"/>
                </a:solidFill>
                <a:latin typeface="DejaVu Sans"/>
              </a:rPr>
              <a:t>Não: 14,9% (14)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6" name="Rectangle 31"/>
          <p:cNvSpPr/>
          <p:nvPr/>
        </p:nvSpPr>
        <p:spPr>
          <a:xfrm>
            <a:off x="5724000" y="3250800"/>
            <a:ext cx="91080" cy="91080"/>
          </a:xfrm>
          <a:prstGeom prst="rect">
            <a:avLst/>
          </a:prstGeom>
          <a:solidFill>
            <a:srgbClr val="a5b5b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87" name="TextBox 32"/>
          <p:cNvSpPr/>
          <p:nvPr/>
        </p:nvSpPr>
        <p:spPr>
          <a:xfrm>
            <a:off x="5870520" y="3227760"/>
            <a:ext cx="18831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83447"/>
                </a:solidFill>
                <a:latin typeface="DejaVu Sans"/>
              </a:rPr>
              <a:t>Diferença documental: 4,3% (4)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8" name="TextBox 33"/>
          <p:cNvSpPr/>
          <p:nvPr/>
        </p:nvSpPr>
        <p:spPr>
          <a:xfrm>
            <a:off x="4443840" y="3611880"/>
            <a:ext cx="328248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750" spc="-1" strike="noStrike">
                <a:solidFill>
                  <a:srgbClr val="526878"/>
                </a:solidFill>
                <a:latin typeface="DejaVu Sans"/>
              </a:rPr>
              <a:t>Base 94; diferença de 4 não discriminada na fonte.</a:t>
            </a:r>
            <a:endParaRPr b="0" lang="pt-BR" sz="750" spc="-1" strike="noStrike">
              <a:latin typeface="Arial"/>
            </a:endParaRPr>
          </a:p>
        </p:txBody>
      </p:sp>
      <p:sp>
        <p:nvSpPr>
          <p:cNvPr id="189" name="Rounded Rectangle 34"/>
          <p:cNvSpPr/>
          <p:nvPr/>
        </p:nvSpPr>
        <p:spPr>
          <a:xfrm>
            <a:off x="8129160" y="1920240"/>
            <a:ext cx="3538440" cy="190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90" name="TextBox 35"/>
          <p:cNvSpPr/>
          <p:nvPr/>
        </p:nvSpPr>
        <p:spPr>
          <a:xfrm>
            <a:off x="8275320" y="2030040"/>
            <a:ext cx="3264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</a:rPr>
              <a:t>Satisfação com a solução atual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91" name="TextBox 36"/>
          <p:cNvSpPr/>
          <p:nvPr/>
        </p:nvSpPr>
        <p:spPr>
          <a:xfrm>
            <a:off x="8266320" y="2669400"/>
            <a:ext cx="15530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</a:rPr>
              <a:t>Pode melhorar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92" name="Rectangle 37"/>
          <p:cNvSpPr/>
          <p:nvPr/>
        </p:nvSpPr>
        <p:spPr>
          <a:xfrm>
            <a:off x="9792360" y="270144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93" name="Rectangle 38"/>
          <p:cNvSpPr/>
          <p:nvPr/>
        </p:nvSpPr>
        <p:spPr>
          <a:xfrm>
            <a:off x="9792360" y="2701440"/>
            <a:ext cx="8053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94" name="TextBox 39"/>
          <p:cNvSpPr/>
          <p:nvPr/>
        </p:nvSpPr>
        <p:spPr>
          <a:xfrm>
            <a:off x="10652760" y="266940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30 · 31,9%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95" name="TextBox 40"/>
          <p:cNvSpPr/>
          <p:nvPr/>
        </p:nvSpPr>
        <p:spPr>
          <a:xfrm>
            <a:off x="8266320" y="2868480"/>
            <a:ext cx="15530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</a:rPr>
              <a:t>Não temos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96" name="Rectangle 41"/>
          <p:cNvSpPr/>
          <p:nvPr/>
        </p:nvSpPr>
        <p:spPr>
          <a:xfrm>
            <a:off x="9792360" y="290052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97" name="Rectangle 42"/>
          <p:cNvSpPr/>
          <p:nvPr/>
        </p:nvSpPr>
        <p:spPr>
          <a:xfrm>
            <a:off x="9792360" y="2900520"/>
            <a:ext cx="7783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98" name="TextBox 43"/>
          <p:cNvSpPr/>
          <p:nvPr/>
        </p:nvSpPr>
        <p:spPr>
          <a:xfrm>
            <a:off x="10652760" y="286848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29 · 30,9%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99" name="TextBox 44"/>
          <p:cNvSpPr/>
          <p:nvPr/>
        </p:nvSpPr>
        <p:spPr>
          <a:xfrm>
            <a:off x="8266320" y="3067560"/>
            <a:ext cx="15530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</a:rPr>
              <a:t>Atende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00" name="Rectangle 45"/>
          <p:cNvSpPr/>
          <p:nvPr/>
        </p:nvSpPr>
        <p:spPr>
          <a:xfrm>
            <a:off x="9792360" y="309960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01" name="Rectangle 46"/>
          <p:cNvSpPr/>
          <p:nvPr/>
        </p:nvSpPr>
        <p:spPr>
          <a:xfrm>
            <a:off x="9792360" y="3099600"/>
            <a:ext cx="61740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02" name="TextBox 47"/>
          <p:cNvSpPr/>
          <p:nvPr/>
        </p:nvSpPr>
        <p:spPr>
          <a:xfrm>
            <a:off x="10652760" y="306756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23 · 24,5%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03" name="TextBox 48"/>
          <p:cNvSpPr/>
          <p:nvPr/>
        </p:nvSpPr>
        <p:spPr>
          <a:xfrm>
            <a:off x="8266320" y="3266640"/>
            <a:ext cx="15530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</a:rPr>
              <a:t>Não é usado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04" name="Rectangle 49"/>
          <p:cNvSpPr/>
          <p:nvPr/>
        </p:nvSpPr>
        <p:spPr>
          <a:xfrm>
            <a:off x="9792360" y="329868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05" name="Rectangle 50"/>
          <p:cNvSpPr/>
          <p:nvPr/>
        </p:nvSpPr>
        <p:spPr>
          <a:xfrm>
            <a:off x="9792360" y="3298680"/>
            <a:ext cx="18756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06" name="TextBox 51"/>
          <p:cNvSpPr/>
          <p:nvPr/>
        </p:nvSpPr>
        <p:spPr>
          <a:xfrm>
            <a:off x="10652760" y="326664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7 · 7,4%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07" name="TextBox 52"/>
          <p:cNvSpPr/>
          <p:nvPr/>
        </p:nvSpPr>
        <p:spPr>
          <a:xfrm>
            <a:off x="8275320" y="3593520"/>
            <a:ext cx="32641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soma: 89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08" name="Rounded Rectangle 53"/>
          <p:cNvSpPr/>
          <p:nvPr/>
        </p:nvSpPr>
        <p:spPr>
          <a:xfrm>
            <a:off x="502920" y="4005000"/>
            <a:ext cx="3538440" cy="190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09" name="TextBox 54"/>
          <p:cNvSpPr/>
          <p:nvPr/>
        </p:nvSpPr>
        <p:spPr>
          <a:xfrm>
            <a:off x="649080" y="4114800"/>
            <a:ext cx="3264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</a:rPr>
              <a:t>Interface atual é intuitiva?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10" name="TextBox 55"/>
          <p:cNvSpPr/>
          <p:nvPr/>
        </p:nvSpPr>
        <p:spPr>
          <a:xfrm>
            <a:off x="640080" y="453744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Sem software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11" name="Rectangle 56"/>
          <p:cNvSpPr/>
          <p:nvPr/>
        </p:nvSpPr>
        <p:spPr>
          <a:xfrm>
            <a:off x="2166120" y="456948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12" name="Rectangle 57"/>
          <p:cNvSpPr/>
          <p:nvPr/>
        </p:nvSpPr>
        <p:spPr>
          <a:xfrm>
            <a:off x="2166120" y="4569480"/>
            <a:ext cx="8053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13" name="TextBox 58"/>
          <p:cNvSpPr/>
          <p:nvPr/>
        </p:nvSpPr>
        <p:spPr>
          <a:xfrm>
            <a:off x="3026520" y="453744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29 · 30,9%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14" name="TextBox 59"/>
          <p:cNvSpPr/>
          <p:nvPr/>
        </p:nvSpPr>
        <p:spPr>
          <a:xfrm>
            <a:off x="640080" y="474012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15" name="Rectangle 60"/>
          <p:cNvSpPr/>
          <p:nvPr/>
        </p:nvSpPr>
        <p:spPr>
          <a:xfrm>
            <a:off x="2166120" y="477216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16" name="Rectangle 61"/>
          <p:cNvSpPr/>
          <p:nvPr/>
        </p:nvSpPr>
        <p:spPr>
          <a:xfrm>
            <a:off x="2166120" y="4772160"/>
            <a:ext cx="77760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17" name="TextBox 62"/>
          <p:cNvSpPr/>
          <p:nvPr/>
        </p:nvSpPr>
        <p:spPr>
          <a:xfrm>
            <a:off x="3026520" y="474012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28 · 29,8%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18" name="TextBox 63"/>
          <p:cNvSpPr/>
          <p:nvPr/>
        </p:nvSpPr>
        <p:spPr>
          <a:xfrm>
            <a:off x="640080" y="494280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Mais ou menos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19" name="Rectangle 64"/>
          <p:cNvSpPr/>
          <p:nvPr/>
        </p:nvSpPr>
        <p:spPr>
          <a:xfrm>
            <a:off x="2166120" y="497448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20" name="Rectangle 65"/>
          <p:cNvSpPr/>
          <p:nvPr/>
        </p:nvSpPr>
        <p:spPr>
          <a:xfrm>
            <a:off x="2166120" y="4974480"/>
            <a:ext cx="69408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21" name="TextBox 66"/>
          <p:cNvSpPr/>
          <p:nvPr/>
        </p:nvSpPr>
        <p:spPr>
          <a:xfrm>
            <a:off x="3026520" y="494280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25 · 26,6%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22" name="TextBox 67"/>
          <p:cNvSpPr/>
          <p:nvPr/>
        </p:nvSpPr>
        <p:spPr>
          <a:xfrm>
            <a:off x="640080" y="514512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23" name="Rectangle 68"/>
          <p:cNvSpPr/>
          <p:nvPr/>
        </p:nvSpPr>
        <p:spPr>
          <a:xfrm>
            <a:off x="2166120" y="517716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24" name="Rectangle 69"/>
          <p:cNvSpPr/>
          <p:nvPr/>
        </p:nvSpPr>
        <p:spPr>
          <a:xfrm>
            <a:off x="2166120" y="5177160"/>
            <a:ext cx="11088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25" name="TextBox 70"/>
          <p:cNvSpPr/>
          <p:nvPr/>
        </p:nvSpPr>
        <p:spPr>
          <a:xfrm>
            <a:off x="3026520" y="514512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4 · 4,3%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26" name="TextBox 71"/>
          <p:cNvSpPr/>
          <p:nvPr/>
        </p:nvSpPr>
        <p:spPr>
          <a:xfrm>
            <a:off x="640080" y="534780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27" name="Rectangle 72"/>
          <p:cNvSpPr/>
          <p:nvPr/>
        </p:nvSpPr>
        <p:spPr>
          <a:xfrm>
            <a:off x="2166120" y="537984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28" name="Rectangle 73"/>
          <p:cNvSpPr/>
          <p:nvPr/>
        </p:nvSpPr>
        <p:spPr>
          <a:xfrm>
            <a:off x="2166120" y="5379840"/>
            <a:ext cx="11088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29" name="TextBox 74"/>
          <p:cNvSpPr/>
          <p:nvPr/>
        </p:nvSpPr>
        <p:spPr>
          <a:xfrm>
            <a:off x="3026520" y="534780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4 · 4,3%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30" name="TextBox 75"/>
          <p:cNvSpPr/>
          <p:nvPr/>
        </p:nvSpPr>
        <p:spPr>
          <a:xfrm>
            <a:off x="649080" y="5678280"/>
            <a:ext cx="32641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soma: 90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31" name="Rounded Rectangle 76"/>
          <p:cNvSpPr/>
          <p:nvPr/>
        </p:nvSpPr>
        <p:spPr>
          <a:xfrm>
            <a:off x="4316040" y="4005000"/>
            <a:ext cx="3538440" cy="190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32" name="TextBox 77"/>
          <p:cNvSpPr/>
          <p:nvPr/>
        </p:nvSpPr>
        <p:spPr>
          <a:xfrm>
            <a:off x="4462200" y="4114800"/>
            <a:ext cx="3264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</a:rPr>
              <a:t>Fluxo de projetos externos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33" name="TextBox 78"/>
          <p:cNvSpPr/>
          <p:nvPr/>
        </p:nvSpPr>
        <p:spPr>
          <a:xfrm>
            <a:off x="4453200" y="453744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34" name="Rectangle 79"/>
          <p:cNvSpPr/>
          <p:nvPr/>
        </p:nvSpPr>
        <p:spPr>
          <a:xfrm>
            <a:off x="5979240" y="456948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35" name="Rectangle 80"/>
          <p:cNvSpPr/>
          <p:nvPr/>
        </p:nvSpPr>
        <p:spPr>
          <a:xfrm>
            <a:off x="5979240" y="4569480"/>
            <a:ext cx="8053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36" name="TextBox 81"/>
          <p:cNvSpPr/>
          <p:nvPr/>
        </p:nvSpPr>
        <p:spPr>
          <a:xfrm>
            <a:off x="6839640" y="453744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42 · 44,7%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37" name="TextBox 82"/>
          <p:cNvSpPr/>
          <p:nvPr/>
        </p:nvSpPr>
        <p:spPr>
          <a:xfrm>
            <a:off x="4453200" y="479052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38" name="Rectangle 83"/>
          <p:cNvSpPr/>
          <p:nvPr/>
        </p:nvSpPr>
        <p:spPr>
          <a:xfrm>
            <a:off x="5979240" y="482256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39" name="Rectangle 84"/>
          <p:cNvSpPr/>
          <p:nvPr/>
        </p:nvSpPr>
        <p:spPr>
          <a:xfrm>
            <a:off x="5979240" y="4822560"/>
            <a:ext cx="40248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40" name="TextBox 85"/>
          <p:cNvSpPr/>
          <p:nvPr/>
        </p:nvSpPr>
        <p:spPr>
          <a:xfrm>
            <a:off x="6839640" y="479052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21 · 22,3%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1" name="TextBox 86"/>
          <p:cNvSpPr/>
          <p:nvPr/>
        </p:nvSpPr>
        <p:spPr>
          <a:xfrm>
            <a:off x="4453200" y="504396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Quase nunca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42" name="Rectangle 87"/>
          <p:cNvSpPr/>
          <p:nvPr/>
        </p:nvSpPr>
        <p:spPr>
          <a:xfrm>
            <a:off x="5979240" y="507600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43" name="Rectangle 88"/>
          <p:cNvSpPr/>
          <p:nvPr/>
        </p:nvSpPr>
        <p:spPr>
          <a:xfrm>
            <a:off x="5979240" y="5076000"/>
            <a:ext cx="34488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44" name="TextBox 89"/>
          <p:cNvSpPr/>
          <p:nvPr/>
        </p:nvSpPr>
        <p:spPr>
          <a:xfrm>
            <a:off x="6839640" y="504396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18 · 19,1%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5" name="TextBox 90"/>
          <p:cNvSpPr/>
          <p:nvPr/>
        </p:nvSpPr>
        <p:spPr>
          <a:xfrm>
            <a:off x="4453200" y="529704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46" name="Rectangle 91"/>
          <p:cNvSpPr/>
          <p:nvPr/>
        </p:nvSpPr>
        <p:spPr>
          <a:xfrm>
            <a:off x="5979240" y="532908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47" name="Rectangle 92"/>
          <p:cNvSpPr/>
          <p:nvPr/>
        </p:nvSpPr>
        <p:spPr>
          <a:xfrm>
            <a:off x="5979240" y="5329080"/>
            <a:ext cx="17244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48" name="TextBox 93"/>
          <p:cNvSpPr/>
          <p:nvPr/>
        </p:nvSpPr>
        <p:spPr>
          <a:xfrm>
            <a:off x="6839640" y="529704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9 · 9,6%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9" name="TextBox 94"/>
          <p:cNvSpPr/>
          <p:nvPr/>
        </p:nvSpPr>
        <p:spPr>
          <a:xfrm>
            <a:off x="4462200" y="5678280"/>
            <a:ext cx="32641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soma: 90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50" name="Rounded Rectangle 95"/>
          <p:cNvSpPr/>
          <p:nvPr/>
        </p:nvSpPr>
        <p:spPr>
          <a:xfrm>
            <a:off x="8129160" y="4005000"/>
            <a:ext cx="3538440" cy="190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51" name="TextBox 96"/>
          <p:cNvSpPr/>
          <p:nvPr/>
        </p:nvSpPr>
        <p:spPr>
          <a:xfrm>
            <a:off x="8275320" y="4114800"/>
            <a:ext cx="3264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</a:rPr>
              <a:t>Fluxo de projetos internos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52" name="TextBox 97"/>
          <p:cNvSpPr/>
          <p:nvPr/>
        </p:nvSpPr>
        <p:spPr>
          <a:xfrm>
            <a:off x="8266320" y="453744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53" name="Rectangle 98"/>
          <p:cNvSpPr/>
          <p:nvPr/>
        </p:nvSpPr>
        <p:spPr>
          <a:xfrm>
            <a:off x="9792360" y="456948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54" name="Rectangle 99"/>
          <p:cNvSpPr/>
          <p:nvPr/>
        </p:nvSpPr>
        <p:spPr>
          <a:xfrm>
            <a:off x="9792360" y="4569480"/>
            <a:ext cx="8053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55" name="TextBox 100"/>
          <p:cNvSpPr/>
          <p:nvPr/>
        </p:nvSpPr>
        <p:spPr>
          <a:xfrm>
            <a:off x="10652760" y="453744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57 · 60,6%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56" name="TextBox 101"/>
          <p:cNvSpPr/>
          <p:nvPr/>
        </p:nvSpPr>
        <p:spPr>
          <a:xfrm>
            <a:off x="8266320" y="479052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57" name="Rectangle 102"/>
          <p:cNvSpPr/>
          <p:nvPr/>
        </p:nvSpPr>
        <p:spPr>
          <a:xfrm>
            <a:off x="9792360" y="482256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58" name="Rectangle 103"/>
          <p:cNvSpPr/>
          <p:nvPr/>
        </p:nvSpPr>
        <p:spPr>
          <a:xfrm>
            <a:off x="9792360" y="4822560"/>
            <a:ext cx="2257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59" name="TextBox 104"/>
          <p:cNvSpPr/>
          <p:nvPr/>
        </p:nvSpPr>
        <p:spPr>
          <a:xfrm>
            <a:off x="10652760" y="479052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16 · 17,0%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60" name="TextBox 105"/>
          <p:cNvSpPr/>
          <p:nvPr/>
        </p:nvSpPr>
        <p:spPr>
          <a:xfrm>
            <a:off x="8266320" y="504396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61" name="Rectangle 106"/>
          <p:cNvSpPr/>
          <p:nvPr/>
        </p:nvSpPr>
        <p:spPr>
          <a:xfrm>
            <a:off x="9792360" y="507600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62" name="Rectangle 107"/>
          <p:cNvSpPr/>
          <p:nvPr/>
        </p:nvSpPr>
        <p:spPr>
          <a:xfrm>
            <a:off x="9792360" y="5076000"/>
            <a:ext cx="1267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63" name="TextBox 108"/>
          <p:cNvSpPr/>
          <p:nvPr/>
        </p:nvSpPr>
        <p:spPr>
          <a:xfrm>
            <a:off x="10652760" y="504396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9 · 9,6%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64" name="TextBox 109"/>
          <p:cNvSpPr/>
          <p:nvPr/>
        </p:nvSpPr>
        <p:spPr>
          <a:xfrm>
            <a:off x="8266320" y="529704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Quase nunca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65" name="Rectangle 110"/>
          <p:cNvSpPr/>
          <p:nvPr/>
        </p:nvSpPr>
        <p:spPr>
          <a:xfrm>
            <a:off x="9792360" y="532908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66" name="Rectangle 111"/>
          <p:cNvSpPr/>
          <p:nvPr/>
        </p:nvSpPr>
        <p:spPr>
          <a:xfrm>
            <a:off x="9792360" y="5329080"/>
            <a:ext cx="9864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67" name="TextBox 112"/>
          <p:cNvSpPr/>
          <p:nvPr/>
        </p:nvSpPr>
        <p:spPr>
          <a:xfrm>
            <a:off x="10652760" y="529704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7 · 7,4%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68" name="TextBox 113"/>
          <p:cNvSpPr/>
          <p:nvPr/>
        </p:nvSpPr>
        <p:spPr>
          <a:xfrm>
            <a:off x="8275320" y="5678280"/>
            <a:ext cx="32641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soma: 89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69" name="TextBox 114"/>
          <p:cNvSpPr/>
          <p:nvPr/>
        </p:nvSpPr>
        <p:spPr>
          <a:xfrm>
            <a:off x="548640" y="6099120"/>
            <a:ext cx="11063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7e98"/>
                </a:solidFill>
                <a:latin typeface="DejaVu Sans"/>
              </a:rPr>
              <a:t>Resposta: organização dedicada, flexibilidade de uso e base de modelagem para contextos internos/externos.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71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05 / DORES → REQUISITOS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72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Organização e financeiro orientam o núcleo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273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Concordância direta = “Sim” + “Absolutamente” • percentuais sobre 94 participantes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74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Fonte: pesquisa SPOT (2026), figuras 9–12. Totais exibidos variam; diferenças constam no guia.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75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06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76" name="TextBox 7"/>
          <p:cNvSpPr/>
          <p:nvPr/>
        </p:nvSpPr>
        <p:spPr>
          <a:xfrm>
            <a:off x="548640" y="2999232"/>
            <a:ext cx="3749039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</a:rPr>
              <a:t>Dificuldade de organização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277" name="Rectangle 8"/>
          <p:cNvSpPr/>
          <p:nvPr/>
        </p:nvSpPr>
        <p:spPr>
          <a:xfrm>
            <a:off x="4389120" y="2084831"/>
            <a:ext cx="2925720" cy="2008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78" name="TextBox 10"/>
          <p:cNvSpPr/>
          <p:nvPr/>
        </p:nvSpPr>
        <p:spPr>
          <a:xfrm>
            <a:off x="7443216" y="2971800"/>
            <a:ext cx="1353312" cy="356616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007e98"/>
                </a:solidFill>
                <a:latin typeface="DejaVu Sans"/>
              </a:rPr>
              <a:t>63,8%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279" name="TextBox 11"/>
          <p:cNvSpPr/>
          <p:nvPr/>
        </p:nvSpPr>
        <p:spPr>
          <a:xfrm>
            <a:off x="7525512" y="2414016"/>
            <a:ext cx="914400" cy="20116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83/94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280" name="TextBox 12"/>
          <p:cNvSpPr/>
          <p:nvPr/>
        </p:nvSpPr>
        <p:spPr>
          <a:xfrm>
            <a:off x="8823960" y="3054096"/>
            <a:ext cx="278892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</a:rPr>
              <a:t>Projetos + tarefas + filtros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81" name="TextBox 13"/>
          <p:cNvSpPr/>
          <p:nvPr/>
        </p:nvSpPr>
        <p:spPr>
          <a:xfrm>
            <a:off x="548640" y="2029968"/>
            <a:ext cx="3749039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</a:rPr>
              <a:t>Organização ajuda no faturamento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282" name="Rectangle 14"/>
          <p:cNvSpPr/>
          <p:nvPr/>
        </p:nvSpPr>
        <p:spPr>
          <a:xfrm>
            <a:off x="4389120" y="3054096"/>
            <a:ext cx="2925720" cy="2008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83" name="Rectangle 15"/>
          <p:cNvSpPr/>
          <p:nvPr/>
        </p:nvSpPr>
        <p:spPr>
          <a:xfrm>
            <a:off x="4389120" y="2084831"/>
            <a:ext cx="2583360" cy="200880"/>
          </a:xfrm>
          <a:prstGeom prst="rect">
            <a:avLst/>
          </a:prstGeom>
          <a:solidFill>
            <a:srgbClr val="008b7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84" name="TextBox 16"/>
          <p:cNvSpPr/>
          <p:nvPr/>
        </p:nvSpPr>
        <p:spPr>
          <a:xfrm>
            <a:off x="7443216" y="2002536"/>
            <a:ext cx="1353312" cy="356616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008b79"/>
                </a:solidFill>
                <a:latin typeface="DejaVu Sans"/>
              </a:rPr>
              <a:t>88,3%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285" name="TextBox 17"/>
          <p:cNvSpPr/>
          <p:nvPr/>
        </p:nvSpPr>
        <p:spPr>
          <a:xfrm>
            <a:off x="7525512" y="3383279"/>
            <a:ext cx="914400" cy="20116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60/94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286" name="TextBox 18"/>
          <p:cNvSpPr/>
          <p:nvPr/>
        </p:nvSpPr>
        <p:spPr>
          <a:xfrm>
            <a:off x="8823960" y="2084832"/>
            <a:ext cx="278892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</a:rPr>
              <a:t>Horas + custos + resultado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87" name="TextBox 19"/>
          <p:cNvSpPr/>
          <p:nvPr/>
        </p:nvSpPr>
        <p:spPr>
          <a:xfrm>
            <a:off x="548640" y="3858768"/>
            <a:ext cx="3749039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</a:rPr>
              <a:t>Dificuldade de alinhamento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288" name="Rectangle 20"/>
          <p:cNvSpPr/>
          <p:nvPr/>
        </p:nvSpPr>
        <p:spPr>
          <a:xfrm>
            <a:off x="4389120" y="3913632"/>
            <a:ext cx="2925720" cy="2008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89" name="Rectangle 21"/>
          <p:cNvSpPr/>
          <p:nvPr/>
        </p:nvSpPr>
        <p:spPr>
          <a:xfrm>
            <a:off x="4389120" y="3913632"/>
            <a:ext cx="1213560" cy="200880"/>
          </a:xfrm>
          <a:prstGeom prst="rect">
            <a:avLst/>
          </a:prstGeom>
          <a:solidFill>
            <a:srgbClr val="6b58a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90" name="TextBox 22"/>
          <p:cNvSpPr/>
          <p:nvPr/>
        </p:nvSpPr>
        <p:spPr>
          <a:xfrm>
            <a:off x="7443216" y="3831335"/>
            <a:ext cx="1353312" cy="356616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6b58a8"/>
                </a:solidFill>
                <a:latin typeface="DejaVu Sans"/>
              </a:rPr>
              <a:t>41,5%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291" name="TextBox 23"/>
          <p:cNvSpPr/>
          <p:nvPr/>
        </p:nvSpPr>
        <p:spPr>
          <a:xfrm>
            <a:off x="7525512" y="4242816"/>
            <a:ext cx="914400" cy="20116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39/94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292" name="TextBox 24"/>
          <p:cNvSpPr/>
          <p:nvPr/>
        </p:nvSpPr>
        <p:spPr>
          <a:xfrm>
            <a:off x="8823960" y="3913631"/>
            <a:ext cx="278892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</a:rPr>
              <a:t>Equipes + responsáveis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93" name="TextBox 25"/>
          <p:cNvSpPr/>
          <p:nvPr/>
        </p:nvSpPr>
        <p:spPr>
          <a:xfrm>
            <a:off x="548640" y="4718304"/>
            <a:ext cx="3749039" cy="5669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</a:rPr>
              <a:t>Dificuldade de custos adicionais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294" name="Rectangle 26"/>
          <p:cNvSpPr/>
          <p:nvPr/>
        </p:nvSpPr>
        <p:spPr>
          <a:xfrm>
            <a:off x="4389120" y="4773168"/>
            <a:ext cx="2925720" cy="2008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95" name="Rectangle 27"/>
          <p:cNvSpPr/>
          <p:nvPr/>
        </p:nvSpPr>
        <p:spPr>
          <a:xfrm>
            <a:off x="4389120" y="4773168"/>
            <a:ext cx="933480" cy="200880"/>
          </a:xfrm>
          <a:prstGeom prst="rect">
            <a:avLst/>
          </a:prstGeom>
          <a:solidFill>
            <a:srgbClr val="af671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96" name="TextBox 28"/>
          <p:cNvSpPr/>
          <p:nvPr/>
        </p:nvSpPr>
        <p:spPr>
          <a:xfrm>
            <a:off x="7443216" y="4690872"/>
            <a:ext cx="1353312" cy="356616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af6714"/>
                </a:solidFill>
                <a:latin typeface="DejaVu Sans"/>
              </a:rPr>
              <a:t>31,9%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297" name="TextBox 29"/>
          <p:cNvSpPr/>
          <p:nvPr/>
        </p:nvSpPr>
        <p:spPr>
          <a:xfrm>
            <a:off x="7525512" y="5102352"/>
            <a:ext cx="914400" cy="20116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30/94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298" name="TextBox 30"/>
          <p:cNvSpPr/>
          <p:nvPr/>
        </p:nvSpPr>
        <p:spPr>
          <a:xfrm>
            <a:off x="8823960" y="4773168"/>
            <a:ext cx="278892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</a:rPr>
              <a:t>Despesas + aprovação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99" name="Rounded Rectangle 31"/>
          <p:cNvSpPr/>
          <p:nvPr/>
        </p:nvSpPr>
        <p:spPr>
          <a:xfrm>
            <a:off x="502920" y="587052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00" name="TextBox 32"/>
          <p:cNvSpPr/>
          <p:nvPr/>
        </p:nvSpPr>
        <p:spPr>
          <a:xfrm>
            <a:off x="658440" y="596196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Percepções justificam requisitos; não comprovam ganho de faturamento causado pelo Spot.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01" name="Rectangle 9"/>
          <p:cNvSpPr/>
          <p:nvPr/>
        </p:nvSpPr>
        <p:spPr>
          <a:xfrm>
            <a:off x="4389120" y="3054096"/>
            <a:ext cx="1867320" cy="2008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03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06 / PESQUISA DE SISTEMAS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04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Referências do mercado. Recorte da Computécnica.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05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Diferencial defendido: adequação das regras e autonomia de evolução, sem alegar exclusividade.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06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Fontes: monografia, estudo de sistemas; páginas oficiais consultadas em 26/10/2026 (URLs no guia e notas).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07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07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08" name="Rectangle 7"/>
          <p:cNvSpPr/>
          <p:nvPr/>
        </p:nvSpPr>
        <p:spPr>
          <a:xfrm>
            <a:off x="502920" y="1911240"/>
            <a:ext cx="1828440" cy="392760"/>
          </a:xfrm>
          <a:prstGeom prst="rect">
            <a:avLst/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09" name="TextBox 8"/>
          <p:cNvSpPr/>
          <p:nvPr/>
        </p:nvSpPr>
        <p:spPr>
          <a:xfrm>
            <a:off x="594360" y="1993320"/>
            <a:ext cx="16455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Referência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10" name="Rectangle 9"/>
          <p:cNvSpPr/>
          <p:nvPr/>
        </p:nvSpPr>
        <p:spPr>
          <a:xfrm>
            <a:off x="2468880" y="1911240"/>
            <a:ext cx="3840120" cy="392760"/>
          </a:xfrm>
          <a:prstGeom prst="rect">
            <a:avLst/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11" name="TextBox 10"/>
          <p:cNvSpPr/>
          <p:nvPr/>
        </p:nvSpPr>
        <p:spPr>
          <a:xfrm>
            <a:off x="2560320" y="1993320"/>
            <a:ext cx="36572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Força observada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12" name="Rectangle 11"/>
          <p:cNvSpPr/>
          <p:nvPr/>
        </p:nvSpPr>
        <p:spPr>
          <a:xfrm>
            <a:off x="6602040" y="1911240"/>
            <a:ext cx="5074560" cy="392760"/>
          </a:xfrm>
          <a:prstGeom prst="rect">
            <a:avLst/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13" name="TextBox 12"/>
          <p:cNvSpPr/>
          <p:nvPr/>
        </p:nvSpPr>
        <p:spPr>
          <a:xfrm>
            <a:off x="6693480" y="1993320"/>
            <a:ext cx="48916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Recorte do Spot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14" name="Rectangle 13"/>
          <p:cNvSpPr/>
          <p:nvPr/>
        </p:nvSpPr>
        <p:spPr>
          <a:xfrm>
            <a:off x="502920" y="2395800"/>
            <a:ext cx="11173680" cy="35640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15" name="TextBox 14"/>
          <p:cNvSpPr/>
          <p:nvPr/>
        </p:nvSpPr>
        <p:spPr>
          <a:xfrm>
            <a:off x="621720" y="2459880"/>
            <a:ext cx="17370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</a:rPr>
              <a:t>Monday.com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16" name="TextBox 15"/>
          <p:cNvSpPr/>
          <p:nvPr/>
        </p:nvSpPr>
        <p:spPr>
          <a:xfrm>
            <a:off x="2560320" y="2459880"/>
            <a:ext cx="3885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Gestão visual e automações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17" name="TextBox 16"/>
          <p:cNvSpPr/>
          <p:nvPr/>
        </p:nvSpPr>
        <p:spPr>
          <a:xfrm>
            <a:off x="6693480" y="2459880"/>
            <a:ext cx="48002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Regras financeiras para o cliente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18" name="Rectangle 17"/>
          <p:cNvSpPr/>
          <p:nvPr/>
        </p:nvSpPr>
        <p:spPr>
          <a:xfrm>
            <a:off x="502920" y="2788920"/>
            <a:ext cx="11173680" cy="35640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19" name="TextBox 18"/>
          <p:cNvSpPr/>
          <p:nvPr/>
        </p:nvSpPr>
        <p:spPr>
          <a:xfrm>
            <a:off x="621720" y="2853000"/>
            <a:ext cx="17370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</a:rPr>
              <a:t>Asana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20" name="TextBox 19"/>
          <p:cNvSpPr/>
          <p:nvPr/>
        </p:nvSpPr>
        <p:spPr>
          <a:xfrm>
            <a:off x="2560320" y="2853000"/>
            <a:ext cx="3885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Coordenação de tarefas e projetos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21" name="TextBox 20"/>
          <p:cNvSpPr/>
          <p:nvPr/>
        </p:nvSpPr>
        <p:spPr>
          <a:xfrm>
            <a:off x="6693480" y="2853000"/>
            <a:ext cx="48002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Contrato → horas → resultado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22" name="Rectangle 21"/>
          <p:cNvSpPr/>
          <p:nvPr/>
        </p:nvSpPr>
        <p:spPr>
          <a:xfrm>
            <a:off x="502920" y="3182040"/>
            <a:ext cx="11173680" cy="35640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23" name="TextBox 22"/>
          <p:cNvSpPr/>
          <p:nvPr/>
        </p:nvSpPr>
        <p:spPr>
          <a:xfrm>
            <a:off x="621720" y="3246120"/>
            <a:ext cx="17370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</a:rPr>
              <a:t>Jira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24" name="TextBox 23"/>
          <p:cNvSpPr/>
          <p:nvPr/>
        </p:nvSpPr>
        <p:spPr>
          <a:xfrm>
            <a:off x="2560320" y="3246120"/>
            <a:ext cx="3885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Planejamento e acompanhamento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25" name="TextBox 24"/>
          <p:cNvSpPr/>
          <p:nvPr/>
        </p:nvSpPr>
        <p:spPr>
          <a:xfrm>
            <a:off x="6693480" y="3246120"/>
            <a:ext cx="48002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Operação de serviços e custos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26" name="Rectangle 25"/>
          <p:cNvSpPr/>
          <p:nvPr/>
        </p:nvSpPr>
        <p:spPr>
          <a:xfrm>
            <a:off x="502920" y="3575160"/>
            <a:ext cx="11173680" cy="35640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27" name="TextBox 26"/>
          <p:cNvSpPr/>
          <p:nvPr/>
        </p:nvSpPr>
        <p:spPr>
          <a:xfrm>
            <a:off x="621720" y="3639240"/>
            <a:ext cx="17370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</a:rPr>
              <a:t>Trello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28" name="TextBox 27"/>
          <p:cNvSpPr/>
          <p:nvPr/>
        </p:nvSpPr>
        <p:spPr>
          <a:xfrm>
            <a:off x="2560320" y="3639240"/>
            <a:ext cx="3885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Organização visual em quadros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29" name="TextBox 28"/>
          <p:cNvSpPr/>
          <p:nvPr/>
        </p:nvSpPr>
        <p:spPr>
          <a:xfrm>
            <a:off x="6693480" y="3639240"/>
            <a:ext cx="48002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Tarifas, despesas e governança no domínio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30" name="Rectangle 29"/>
          <p:cNvSpPr/>
          <p:nvPr/>
        </p:nvSpPr>
        <p:spPr>
          <a:xfrm>
            <a:off x="502920" y="3968640"/>
            <a:ext cx="11173680" cy="35640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31" name="TextBox 30"/>
          <p:cNvSpPr/>
          <p:nvPr/>
        </p:nvSpPr>
        <p:spPr>
          <a:xfrm>
            <a:off x="621720" y="4032360"/>
            <a:ext cx="17370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</a:rPr>
              <a:t>ClickUp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32" name="TextBox 31"/>
          <p:cNvSpPr/>
          <p:nvPr/>
        </p:nvSpPr>
        <p:spPr>
          <a:xfrm>
            <a:off x="2560320" y="4032360"/>
            <a:ext cx="3885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Centralização, tempo e dashboards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33" name="TextBox 32"/>
          <p:cNvSpPr/>
          <p:nvPr/>
        </p:nvSpPr>
        <p:spPr>
          <a:xfrm>
            <a:off x="6693480" y="4032360"/>
            <a:ext cx="48002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Modelo específico em código próprio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34" name="Rectangle 33"/>
          <p:cNvSpPr/>
          <p:nvPr/>
        </p:nvSpPr>
        <p:spPr>
          <a:xfrm>
            <a:off x="502920" y="4361760"/>
            <a:ext cx="11173680" cy="35640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35" name="TextBox 34"/>
          <p:cNvSpPr/>
          <p:nvPr/>
        </p:nvSpPr>
        <p:spPr>
          <a:xfrm>
            <a:off x="621720" y="4425840"/>
            <a:ext cx="17370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</a:rPr>
              <a:t>Notion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36" name="TextBox 35"/>
          <p:cNvSpPr/>
          <p:nvPr/>
        </p:nvSpPr>
        <p:spPr>
          <a:xfrm>
            <a:off x="2560320" y="4425840"/>
            <a:ext cx="3885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Documentos e bases configuráveis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37" name="TextBox 36"/>
          <p:cNvSpPr/>
          <p:nvPr/>
        </p:nvSpPr>
        <p:spPr>
          <a:xfrm>
            <a:off x="6693480" y="4425840"/>
            <a:ext cx="48002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Regras transacionais explícitas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38" name="Rounded Rectangle 38"/>
          <p:cNvSpPr/>
          <p:nvPr/>
        </p:nvSpPr>
        <p:spPr>
          <a:xfrm>
            <a:off x="502920" y="587052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39" name="TextBox 39"/>
          <p:cNvSpPr/>
          <p:nvPr/>
        </p:nvSpPr>
        <p:spPr>
          <a:xfrm>
            <a:off x="658440" y="596196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Código próprio permite adaptação e hospedagem própria; não elimina custo de operação ou manutenção.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41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07 / SUGESTÕES ABERTAS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42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Do pedido à entrega — com escopo explícito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43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57 comentários declarados • tabela publicada: 49 frequências • temas não são depoimentos literais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44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Fonte: pesquisa SPOT (2026), tabela 1; código atual. Frequências não equivalem a uma distribuição completa.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45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08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46" name="Rounded Rectangle 7"/>
          <p:cNvSpPr/>
          <p:nvPr/>
        </p:nvSpPr>
        <p:spPr>
          <a:xfrm>
            <a:off x="502920" y="1984320"/>
            <a:ext cx="11173680" cy="411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47" name="TextBox 8"/>
          <p:cNvSpPr/>
          <p:nvPr/>
        </p:nvSpPr>
        <p:spPr>
          <a:xfrm>
            <a:off x="640080" y="2057400"/>
            <a:ext cx="21942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</a:rPr>
              <a:t>Interface simples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48" name="TextBox 9"/>
          <p:cNvSpPr/>
          <p:nvPr/>
        </p:nvSpPr>
        <p:spPr>
          <a:xfrm>
            <a:off x="2834640" y="2057400"/>
            <a:ext cx="456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</a:rPr>
              <a:t>12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49" name="TextBox 10"/>
          <p:cNvSpPr/>
          <p:nvPr/>
        </p:nvSpPr>
        <p:spPr>
          <a:xfrm>
            <a:off x="3456360" y="2057400"/>
            <a:ext cx="47545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Tutorial, temas e navegação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0" name="TextBox 11"/>
          <p:cNvSpPr/>
          <p:nvPr/>
        </p:nvSpPr>
        <p:spPr>
          <a:xfrm>
            <a:off x="8641080" y="2057400"/>
            <a:ext cx="28342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51" name="Rounded Rectangle 12"/>
          <p:cNvSpPr/>
          <p:nvPr/>
        </p:nvSpPr>
        <p:spPr>
          <a:xfrm>
            <a:off x="502920" y="2523600"/>
            <a:ext cx="11173680" cy="411120"/>
          </a:xfrm>
          <a:prstGeom prst="roundRect">
            <a:avLst>
              <a:gd name="adj" fmla="val 8000"/>
            </a:avLst>
          </a:prstGeom>
          <a:solidFill>
            <a:srgbClr val="eaf0f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52" name="TextBox 13"/>
          <p:cNvSpPr/>
          <p:nvPr/>
        </p:nvSpPr>
        <p:spPr>
          <a:xfrm>
            <a:off x="640080" y="2597040"/>
            <a:ext cx="21942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</a:rPr>
              <a:t>Financeiro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3" name="TextBox 14"/>
          <p:cNvSpPr/>
          <p:nvPr/>
        </p:nvSpPr>
        <p:spPr>
          <a:xfrm>
            <a:off x="2834640" y="2597040"/>
            <a:ext cx="456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</a:rPr>
              <a:t>6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54" name="TextBox 15"/>
          <p:cNvSpPr/>
          <p:nvPr/>
        </p:nvSpPr>
        <p:spPr>
          <a:xfrm>
            <a:off x="3456360" y="2597040"/>
            <a:ext cx="47545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Horas, tarifas, despesas e resultado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5" name="TextBox 16"/>
          <p:cNvSpPr/>
          <p:nvPr/>
        </p:nvSpPr>
        <p:spPr>
          <a:xfrm>
            <a:off x="8641080" y="2597040"/>
            <a:ext cx="28342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56" name="Rounded Rectangle 17"/>
          <p:cNvSpPr/>
          <p:nvPr/>
        </p:nvSpPr>
        <p:spPr>
          <a:xfrm>
            <a:off x="502920" y="3063240"/>
            <a:ext cx="11173680" cy="411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57" name="TextBox 18"/>
          <p:cNvSpPr/>
          <p:nvPr/>
        </p:nvSpPr>
        <p:spPr>
          <a:xfrm>
            <a:off x="640080" y="3136320"/>
            <a:ext cx="21942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</a:rPr>
              <a:t>Integrações/e-mail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8" name="TextBox 19"/>
          <p:cNvSpPr/>
          <p:nvPr/>
        </p:nvSpPr>
        <p:spPr>
          <a:xfrm>
            <a:off x="2834640" y="3136320"/>
            <a:ext cx="456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</a:rPr>
              <a:t>6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59" name="TextBox 20"/>
          <p:cNvSpPr/>
          <p:nvPr/>
        </p:nvSpPr>
        <p:spPr>
          <a:xfrm>
            <a:off x="3456360" y="3136320"/>
            <a:ext cx="47545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OAuth, agenda e e-mails de atividade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0" name="TextBox 21"/>
          <p:cNvSpPr/>
          <p:nvPr/>
        </p:nvSpPr>
        <p:spPr>
          <a:xfrm>
            <a:off x="8641080" y="3136320"/>
            <a:ext cx="28342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</a:rPr>
              <a:t>Implementado / configurável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61" name="Rounded Rectangle 22"/>
          <p:cNvSpPr/>
          <p:nvPr/>
        </p:nvSpPr>
        <p:spPr>
          <a:xfrm>
            <a:off x="502920" y="3602880"/>
            <a:ext cx="11173680" cy="411120"/>
          </a:xfrm>
          <a:prstGeom prst="roundRect">
            <a:avLst>
              <a:gd name="adj" fmla="val 8000"/>
            </a:avLst>
          </a:prstGeom>
          <a:solidFill>
            <a:srgbClr val="eaf0f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62" name="TextBox 23"/>
          <p:cNvSpPr/>
          <p:nvPr/>
        </p:nvSpPr>
        <p:spPr>
          <a:xfrm>
            <a:off x="640080" y="3675960"/>
            <a:ext cx="21942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</a:rPr>
              <a:t>Dashboards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3" name="TextBox 24"/>
          <p:cNvSpPr/>
          <p:nvPr/>
        </p:nvSpPr>
        <p:spPr>
          <a:xfrm>
            <a:off x="2834640" y="3675960"/>
            <a:ext cx="456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</a:rPr>
              <a:t>5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64" name="TextBox 25"/>
          <p:cNvSpPr/>
          <p:nvPr/>
        </p:nvSpPr>
        <p:spPr>
          <a:xfrm>
            <a:off x="3456360" y="3675960"/>
            <a:ext cx="47545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Portfólio, CSV e atualização automática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5" name="TextBox 26"/>
          <p:cNvSpPr/>
          <p:nvPr/>
        </p:nvSpPr>
        <p:spPr>
          <a:xfrm>
            <a:off x="8641080" y="3675960"/>
            <a:ext cx="28342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66" name="Rounded Rectangle 27"/>
          <p:cNvSpPr/>
          <p:nvPr/>
        </p:nvSpPr>
        <p:spPr>
          <a:xfrm>
            <a:off x="502920" y="4142160"/>
            <a:ext cx="11173680" cy="411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67" name="TextBox 28"/>
          <p:cNvSpPr/>
          <p:nvPr/>
        </p:nvSpPr>
        <p:spPr>
          <a:xfrm>
            <a:off x="640080" y="4215240"/>
            <a:ext cx="21942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</a:rPr>
              <a:t>Tarefas/agenda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8" name="TextBox 29"/>
          <p:cNvSpPr/>
          <p:nvPr/>
        </p:nvSpPr>
        <p:spPr>
          <a:xfrm>
            <a:off x="2834640" y="4215240"/>
            <a:ext cx="456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</a:rPr>
              <a:t>5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69" name="TextBox 30"/>
          <p:cNvSpPr/>
          <p:nvPr/>
        </p:nvSpPr>
        <p:spPr>
          <a:xfrm>
            <a:off x="3456360" y="4215240"/>
            <a:ext cx="47545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Visões, agenda e lembretes automáticos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0" name="TextBox 31"/>
          <p:cNvSpPr/>
          <p:nvPr/>
        </p:nvSpPr>
        <p:spPr>
          <a:xfrm>
            <a:off x="8641080" y="4215240"/>
            <a:ext cx="28342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71" name="Rounded Rectangle 37"/>
          <p:cNvSpPr/>
          <p:nvPr/>
        </p:nvSpPr>
        <p:spPr>
          <a:xfrm>
            <a:off x="502920" y="587052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72" name="TextBox 38"/>
          <p:cNvSpPr/>
          <p:nvPr/>
        </p:nvSpPr>
        <p:spPr>
          <a:xfrm>
            <a:off x="658440" y="596196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Recorte funcional da pesquisa • painel atualiza a cada 30 s • e-mail externo exige SMTP e ativação.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74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08 / ARQUITETURA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75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Um monólito organizado por responsabilidades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76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Interface e backend no mesmo repositório; processos de apoio com papéis separados.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7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Fonte: código local do Spot • corte técnico 26/10/2026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78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09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79" name="Rounded Rectangle 7"/>
          <p:cNvSpPr/>
          <p:nvPr/>
        </p:nvSpPr>
        <p:spPr>
          <a:xfrm>
            <a:off x="548640" y="2148840"/>
            <a:ext cx="2331360" cy="12340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80" name="TextBox 10"/>
          <p:cNvSpPr/>
          <p:nvPr/>
        </p:nvSpPr>
        <p:spPr>
          <a:xfrm>
            <a:off x="2953440" y="2468880"/>
            <a:ext cx="4752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000" spc="-1" strike="noStrike">
                <a:solidFill>
                  <a:srgbClr val="007e98"/>
                </a:solidFill>
                <a:latin typeface="DejaVu Sans"/>
              </a:rPr>
              <a:t>→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381" name="Rounded Rectangle 11"/>
          <p:cNvSpPr/>
          <p:nvPr/>
        </p:nvSpPr>
        <p:spPr>
          <a:xfrm>
            <a:off x="3474720" y="2148840"/>
            <a:ext cx="2331360" cy="12340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82" name="TextBox 12"/>
          <p:cNvSpPr/>
          <p:nvPr/>
        </p:nvSpPr>
        <p:spPr>
          <a:xfrm>
            <a:off x="3602736" y="2340864"/>
            <a:ext cx="2075688" cy="329184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DejaVu Sans"/>
              </a:rPr>
              <a:t>API Laravel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83" name="TextBox 13"/>
          <p:cNvSpPr/>
          <p:nvPr/>
        </p:nvSpPr>
        <p:spPr>
          <a:xfrm>
            <a:off x="3602736" y="2953512"/>
            <a:ext cx="2075688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ee4ed"/>
                </a:solidFill>
                <a:latin typeface="DejaVu Sans"/>
              </a:rPr>
              <a:t>Sessão, acesso e validação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84" name="TextBox 14"/>
          <p:cNvSpPr/>
          <p:nvPr/>
        </p:nvSpPr>
        <p:spPr>
          <a:xfrm>
            <a:off x="5879520" y="2468880"/>
            <a:ext cx="4752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000" spc="-1" strike="noStrike">
                <a:solidFill>
                  <a:srgbClr val="007e98"/>
                </a:solidFill>
                <a:latin typeface="DejaVu Sans"/>
              </a:rPr>
              <a:t>→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385" name="Rounded Rectangle 15"/>
          <p:cNvSpPr/>
          <p:nvPr/>
        </p:nvSpPr>
        <p:spPr>
          <a:xfrm>
            <a:off x="6400800" y="2148840"/>
            <a:ext cx="2331360" cy="12340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86" name="TextBox 16"/>
          <p:cNvSpPr/>
          <p:nvPr/>
        </p:nvSpPr>
        <p:spPr>
          <a:xfrm>
            <a:off x="6528816" y="2340864"/>
            <a:ext cx="2075688" cy="521207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DejaVu Sans"/>
              </a:rPr>
              <a:t>Domínio + Eloquent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87" name="TextBox 17"/>
          <p:cNvSpPr/>
          <p:nvPr/>
        </p:nvSpPr>
        <p:spPr>
          <a:xfrm>
            <a:off x="6528816" y="2953512"/>
            <a:ext cx="2075688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ee4ed"/>
                </a:solidFill>
                <a:latin typeface="DejaVu Sans"/>
              </a:rPr>
              <a:t>Regras e transações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88" name="TextBox 18"/>
          <p:cNvSpPr/>
          <p:nvPr/>
        </p:nvSpPr>
        <p:spPr>
          <a:xfrm>
            <a:off x="8805600" y="2468880"/>
            <a:ext cx="4752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000" spc="-1" strike="noStrike">
                <a:solidFill>
                  <a:srgbClr val="007e98"/>
                </a:solidFill>
                <a:latin typeface="DejaVu Sans"/>
              </a:rPr>
              <a:t>→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389" name="Rounded Rectangle 19"/>
          <p:cNvSpPr/>
          <p:nvPr/>
        </p:nvSpPr>
        <p:spPr>
          <a:xfrm>
            <a:off x="9326880" y="2148840"/>
            <a:ext cx="2331360" cy="12340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90" name="TextBox 20"/>
          <p:cNvSpPr/>
          <p:nvPr/>
        </p:nvSpPr>
        <p:spPr>
          <a:xfrm>
            <a:off x="9454896" y="2340864"/>
            <a:ext cx="2075688" cy="329184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DejaVu Sans"/>
              </a:rPr>
              <a:t>PostgreSQL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91" name="TextBox 21"/>
          <p:cNvSpPr/>
          <p:nvPr/>
        </p:nvSpPr>
        <p:spPr>
          <a:xfrm>
            <a:off x="9454896" y="2953512"/>
            <a:ext cx="2075688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ee4ed"/>
                </a:solidFill>
                <a:latin typeface="DejaVu Sans"/>
              </a:rPr>
              <a:t>Dados e relacionamentos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92" name="Rounded Rectangle 22"/>
          <p:cNvSpPr/>
          <p:nvPr/>
        </p:nvSpPr>
        <p:spPr>
          <a:xfrm>
            <a:off x="548640" y="3904560"/>
            <a:ext cx="3492720" cy="151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93" name="Rectangle 23"/>
          <p:cNvSpPr/>
          <p:nvPr/>
        </p:nvSpPr>
        <p:spPr>
          <a:xfrm>
            <a:off x="548640" y="3904560"/>
            <a:ext cx="50040" cy="15174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94" name="TextBox 24"/>
          <p:cNvSpPr/>
          <p:nvPr/>
        </p:nvSpPr>
        <p:spPr>
          <a:xfrm>
            <a:off x="713160" y="4041720"/>
            <a:ext cx="31726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Python + Pandas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95" name="TextBox 25"/>
          <p:cNvSpPr/>
          <p:nvPr/>
        </p:nvSpPr>
        <p:spPr>
          <a:xfrm>
            <a:off x="713160" y="4517280"/>
            <a:ext cx="317268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JSON → agregação → JSON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Sem conexão direta ao banco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396" name="Rounded Rectangle 26"/>
          <p:cNvSpPr/>
          <p:nvPr/>
        </p:nvSpPr>
        <p:spPr>
          <a:xfrm>
            <a:off x="4361760" y="3904560"/>
            <a:ext cx="3492720" cy="151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97" name="Rectangle 27"/>
          <p:cNvSpPr/>
          <p:nvPr/>
        </p:nvSpPr>
        <p:spPr>
          <a:xfrm>
            <a:off x="4361760" y="3904560"/>
            <a:ext cx="50040" cy="15174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398" name="TextBox 28"/>
          <p:cNvSpPr/>
          <p:nvPr/>
        </p:nvSpPr>
        <p:spPr>
          <a:xfrm>
            <a:off x="4526280" y="4041720"/>
            <a:ext cx="31726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Worker de e-mail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99" name="TextBox 29"/>
          <p:cNvSpPr/>
          <p:nvPr/>
        </p:nvSpPr>
        <p:spPr>
          <a:xfrm>
            <a:off x="4526280" y="4517280"/>
            <a:ext cx="317268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Fila → validação do link → SMTP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Retentativas em segundo plano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00" name="Rounded Rectangle 30"/>
          <p:cNvSpPr/>
          <p:nvPr/>
        </p:nvSpPr>
        <p:spPr>
          <a:xfrm>
            <a:off x="8174880" y="3904560"/>
            <a:ext cx="3492720" cy="151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01" name="Rectangle 31"/>
          <p:cNvSpPr/>
          <p:nvPr/>
        </p:nvSpPr>
        <p:spPr>
          <a:xfrm>
            <a:off x="8174880" y="3904560"/>
            <a:ext cx="50040" cy="15174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02" name="TextBox 32"/>
          <p:cNvSpPr/>
          <p:nvPr/>
        </p:nvSpPr>
        <p:spPr>
          <a:xfrm>
            <a:off x="8339400" y="4041720"/>
            <a:ext cx="31726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Scheduler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03" name="TextBox 33"/>
          <p:cNvSpPr/>
          <p:nvPr/>
        </p:nvSpPr>
        <p:spPr>
          <a:xfrm>
            <a:off x="8339400" y="4517280"/>
            <a:ext cx="317268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Retenção de auditoria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Limpeza periódica de mensagens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04" name="Rounded Rectangle 34"/>
          <p:cNvSpPr/>
          <p:nvPr/>
        </p:nvSpPr>
        <p:spPr>
          <a:xfrm>
            <a:off x="502920" y="587052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05" name="TextBox 35"/>
          <p:cNvSpPr/>
          <p:nvPr/>
        </p:nvSpPr>
        <p:spPr>
          <a:xfrm>
            <a:off x="658440" y="596196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Separar processos não torna a aplicação microserviços; a escolha reduz complexidade de implantação.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06" name="TextBox 8"/>
          <p:cNvSpPr/>
          <p:nvPr/>
        </p:nvSpPr>
        <p:spPr>
          <a:xfrm>
            <a:off x="676656" y="2340864"/>
            <a:ext cx="2075688" cy="329184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600" spc="-1" strike="noStrike">
                <a:solidFill>
                  <a:srgbClr val="ffffff"/>
                </a:solidFill>
                <a:latin typeface="DejaVu Sans"/>
              </a:rPr>
              <a:t>React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07" name="TextBox 9"/>
          <p:cNvSpPr/>
          <p:nvPr/>
        </p:nvSpPr>
        <p:spPr>
          <a:xfrm>
            <a:off x="676656" y="2953512"/>
            <a:ext cx="2075688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ee4ed"/>
                </a:solidFill>
                <a:latin typeface="DejaVu Sans"/>
              </a:rPr>
              <a:t>Telas e formulários</a:t>
            </a:r>
            <a:endParaRPr b="0" lang="pt-B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09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09 / GOVERNANÇA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10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Acesso, rastreabilidade e integração no fluxo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411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Recursos existentes têm regras, dependências e limites definidos.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12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Fonte: código local do Spot • corte técnico 26/10/2026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413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10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14" name="Rounded Rectangle 7"/>
          <p:cNvSpPr/>
          <p:nvPr/>
        </p:nvSpPr>
        <p:spPr>
          <a:xfrm>
            <a:off x="502920" y="2011680"/>
            <a:ext cx="3538440" cy="352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15" name="Rectangle 8"/>
          <p:cNvSpPr/>
          <p:nvPr/>
        </p:nvSpPr>
        <p:spPr>
          <a:xfrm>
            <a:off x="502920" y="2011680"/>
            <a:ext cx="50040" cy="3520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16" name="TextBox 9"/>
          <p:cNvSpPr/>
          <p:nvPr/>
        </p:nvSpPr>
        <p:spPr>
          <a:xfrm>
            <a:off x="667440" y="2148840"/>
            <a:ext cx="3218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Governança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17" name="TextBox 10"/>
          <p:cNvSpPr/>
          <p:nvPr/>
        </p:nvSpPr>
        <p:spPr>
          <a:xfrm>
            <a:off x="667440" y="2624400"/>
            <a:ext cx="3218400" cy="11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Perfis e permissões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Campos protegidos na API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Finalização com justificativa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Histórico e retenção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18" name="Rounded Rectangle 11"/>
          <p:cNvSpPr/>
          <p:nvPr/>
        </p:nvSpPr>
        <p:spPr>
          <a:xfrm>
            <a:off x="4316040" y="2011680"/>
            <a:ext cx="3538440" cy="352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19" name="Rectangle 12"/>
          <p:cNvSpPr/>
          <p:nvPr/>
        </p:nvSpPr>
        <p:spPr>
          <a:xfrm>
            <a:off x="4316040" y="2011680"/>
            <a:ext cx="50040" cy="3520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20" name="TextBox 13"/>
          <p:cNvSpPr/>
          <p:nvPr/>
        </p:nvSpPr>
        <p:spPr>
          <a:xfrm>
            <a:off x="4480560" y="2148840"/>
            <a:ext cx="3218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Integração efetiva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21" name="TextBox 14"/>
          <p:cNvSpPr/>
          <p:nvPr/>
        </p:nvSpPr>
        <p:spPr>
          <a:xfrm>
            <a:off x="4480560" y="2624400"/>
            <a:ext cx="3218400" cy="13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Google / Microsoft OAuth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Calendários e Teams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Diretório Microsoft Graph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Requer credenciais/consentimento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22" name="Rounded Rectangle 15"/>
          <p:cNvSpPr/>
          <p:nvPr/>
        </p:nvSpPr>
        <p:spPr>
          <a:xfrm>
            <a:off x="8129160" y="2011680"/>
            <a:ext cx="3538440" cy="352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23" name="Rectangle 16"/>
          <p:cNvSpPr/>
          <p:nvPr/>
        </p:nvSpPr>
        <p:spPr>
          <a:xfrm>
            <a:off x="8129160" y="2011680"/>
            <a:ext cx="50040" cy="3520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24" name="TextBox 17"/>
          <p:cNvSpPr/>
          <p:nvPr/>
        </p:nvSpPr>
        <p:spPr>
          <a:xfrm>
            <a:off x="8293680" y="2148840"/>
            <a:ext cx="3218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Convites e rotina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25" name="TextBox 18"/>
          <p:cNvSpPr/>
          <p:nvPr/>
        </p:nvSpPr>
        <p:spPr>
          <a:xfrm>
            <a:off x="8293680" y="2624400"/>
            <a:ext cx="3218400" cy="11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Link de uso único e validade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Tokens protegidos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E-mails em fila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Worker e agendador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26" name="Rounded Rectangle 19"/>
          <p:cNvSpPr/>
          <p:nvPr/>
        </p:nvSpPr>
        <p:spPr>
          <a:xfrm>
            <a:off x="502920" y="587052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27" name="TextBox 20"/>
          <p:cNvSpPr/>
          <p:nvPr/>
        </p:nvSpPr>
        <p:spPr>
          <a:xfrm>
            <a:off x="658440" y="596196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24 atalhos de aplicativos não são 24 integrações de dados. Reabrir projeto não reativa a equipe automaticamente.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29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10 / CÓDIGO EM FUNCIONAMENTO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30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Uma tarefa: do clique à persistência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431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Exemplo real de caminho no código; regras não ficam apenas na interface.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32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Fonte: código local do Spot • corte técnico 26/10/2026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433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11 / 11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34" name="Rounded Rectangle 7"/>
          <p:cNvSpPr/>
          <p:nvPr/>
        </p:nvSpPr>
        <p:spPr>
          <a:xfrm>
            <a:off x="548640" y="1938600"/>
            <a:ext cx="438480" cy="438480"/>
          </a:xfrm>
          <a:prstGeom prst="roundRect">
            <a:avLst>
              <a:gd name="adj" fmla="val 8000"/>
            </a:avLst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35" name="TextBox 8"/>
          <p:cNvSpPr/>
          <p:nvPr/>
        </p:nvSpPr>
        <p:spPr>
          <a:xfrm>
            <a:off x="585360" y="2002680"/>
            <a:ext cx="365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</a:rPr>
              <a:t>1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36" name="TextBox 9"/>
          <p:cNvSpPr/>
          <p:nvPr/>
        </p:nvSpPr>
        <p:spPr>
          <a:xfrm>
            <a:off x="1207080" y="1956960"/>
            <a:ext cx="4937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900" spc="-1" strike="noStrike">
                <a:solidFill>
                  <a:srgbClr val="112c42"/>
                </a:solidFill>
                <a:latin typeface="DejaVu Sans"/>
              </a:rPr>
              <a:t>TasksPage.jsx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37" name="TextBox 10"/>
          <p:cNvSpPr/>
          <p:nvPr/>
        </p:nvSpPr>
        <p:spPr>
          <a:xfrm>
            <a:off x="6400800" y="1974960"/>
            <a:ext cx="5166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Horas + minutos → duration_minutes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38" name="Rounded Rectangle 11"/>
          <p:cNvSpPr/>
          <p:nvPr/>
        </p:nvSpPr>
        <p:spPr>
          <a:xfrm>
            <a:off x="548640" y="2651760"/>
            <a:ext cx="438480" cy="438480"/>
          </a:xfrm>
          <a:prstGeom prst="roundRect">
            <a:avLst>
              <a:gd name="adj" fmla="val 8000"/>
            </a:avLst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39" name="TextBox 12"/>
          <p:cNvSpPr/>
          <p:nvPr/>
        </p:nvSpPr>
        <p:spPr>
          <a:xfrm>
            <a:off x="585360" y="2715840"/>
            <a:ext cx="365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</a:rPr>
              <a:t>2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0" name="TextBox 13"/>
          <p:cNvSpPr/>
          <p:nvPr/>
        </p:nvSpPr>
        <p:spPr>
          <a:xfrm>
            <a:off x="1207080" y="2670120"/>
            <a:ext cx="4937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900" spc="-1" strike="noStrike">
                <a:solidFill>
                  <a:srgbClr val="112c42"/>
                </a:solidFill>
                <a:latin typeface="DejaVu Sans"/>
              </a:rPr>
              <a:t>api.js → /api/v1/tasks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41" name="TextBox 14"/>
          <p:cNvSpPr/>
          <p:nvPr/>
        </p:nvSpPr>
        <p:spPr>
          <a:xfrm>
            <a:off x="6400800" y="2688480"/>
            <a:ext cx="5166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Sessão + cookie/validação CSRF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42" name="Rounded Rectangle 15"/>
          <p:cNvSpPr/>
          <p:nvPr/>
        </p:nvSpPr>
        <p:spPr>
          <a:xfrm>
            <a:off x="548640" y="3364920"/>
            <a:ext cx="438480" cy="438480"/>
          </a:xfrm>
          <a:prstGeom prst="roundRect">
            <a:avLst>
              <a:gd name="adj" fmla="val 8000"/>
            </a:avLst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43" name="TextBox 16"/>
          <p:cNvSpPr/>
          <p:nvPr/>
        </p:nvSpPr>
        <p:spPr>
          <a:xfrm>
            <a:off x="585360" y="3429000"/>
            <a:ext cx="365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</a:rPr>
              <a:t>3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4" name="TextBox 17"/>
          <p:cNvSpPr/>
          <p:nvPr/>
        </p:nvSpPr>
        <p:spPr>
          <a:xfrm>
            <a:off x="1207080" y="3383280"/>
            <a:ext cx="4937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900" spc="-1" strike="noStrike">
                <a:solidFill>
                  <a:srgbClr val="112c42"/>
                </a:solidFill>
                <a:latin typeface="DejaVu Sans"/>
              </a:rPr>
              <a:t>TaskV1Controller.store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45" name="TextBox 18"/>
          <p:cNvSpPr/>
          <p:nvPr/>
        </p:nvSpPr>
        <p:spPr>
          <a:xfrm>
            <a:off x="6400800" y="3401640"/>
            <a:ext cx="5166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Validação, projeto e pessoas autorizadas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46" name="Rounded Rectangle 19"/>
          <p:cNvSpPr/>
          <p:nvPr/>
        </p:nvSpPr>
        <p:spPr>
          <a:xfrm>
            <a:off x="548640" y="4078080"/>
            <a:ext cx="438480" cy="438480"/>
          </a:xfrm>
          <a:prstGeom prst="roundRect">
            <a:avLst>
              <a:gd name="adj" fmla="val 8000"/>
            </a:avLst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47" name="TextBox 20"/>
          <p:cNvSpPr/>
          <p:nvPr/>
        </p:nvSpPr>
        <p:spPr>
          <a:xfrm>
            <a:off x="585360" y="4142160"/>
            <a:ext cx="365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</a:rPr>
              <a:t>4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8" name="TextBox 21"/>
          <p:cNvSpPr/>
          <p:nvPr/>
        </p:nvSpPr>
        <p:spPr>
          <a:xfrm>
            <a:off x="1207080" y="4096440"/>
            <a:ext cx="4937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900" spc="-1" strike="noStrike">
                <a:solidFill>
                  <a:srgbClr val="112c42"/>
                </a:solidFill>
                <a:latin typeface="DejaVu Sans"/>
              </a:rPr>
              <a:t>TaskCosting + Eloquent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49" name="TextBox 22"/>
          <p:cNvSpPr/>
          <p:nvPr/>
        </p:nvSpPr>
        <p:spPr>
          <a:xfrm>
            <a:off x="6400800" y="4114800"/>
            <a:ext cx="5166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Tarifa vigente, tarefa e participantes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50" name="Rounded Rectangle 23"/>
          <p:cNvSpPr/>
          <p:nvPr/>
        </p:nvSpPr>
        <p:spPr>
          <a:xfrm>
            <a:off x="548640" y="4791600"/>
            <a:ext cx="438480" cy="438480"/>
          </a:xfrm>
          <a:prstGeom prst="roundRect">
            <a:avLst>
              <a:gd name="adj" fmla="val 8000"/>
            </a:avLst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51" name="TextBox 24"/>
          <p:cNvSpPr/>
          <p:nvPr/>
        </p:nvSpPr>
        <p:spPr>
          <a:xfrm>
            <a:off x="585360" y="4855320"/>
            <a:ext cx="365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</a:rPr>
              <a:t>5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52" name="TextBox 25"/>
          <p:cNvSpPr/>
          <p:nvPr/>
        </p:nvSpPr>
        <p:spPr>
          <a:xfrm>
            <a:off x="1207080" y="4809600"/>
            <a:ext cx="4937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900" spc="-1" strike="noStrike">
                <a:solidFill>
                  <a:srgbClr val="112c42"/>
                </a:solidFill>
                <a:latin typeface="DejaVu Sans"/>
              </a:rPr>
              <a:t>AuditRecorder → JSON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53" name="TextBox 26"/>
          <p:cNvSpPr/>
          <p:nvPr/>
        </p:nvSpPr>
        <p:spPr>
          <a:xfrm>
            <a:off x="6400800" y="4827960"/>
            <a:ext cx="5166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Histórico na transação e retorno à tela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54" name="Rounded Rectangle 27"/>
          <p:cNvSpPr/>
          <p:nvPr/>
        </p:nvSpPr>
        <p:spPr>
          <a:xfrm>
            <a:off x="502920" y="587052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455" name="TextBox 28"/>
          <p:cNvSpPr/>
          <p:nvPr/>
        </p:nvSpPr>
        <p:spPr>
          <a:xfrm>
            <a:off x="658440" y="596196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ProjectFinancialSummary usa snapshots e evita contar a tarefa novamente quando há work_log vinculado.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Equipe SPOT</dc:creator>
  <dc:description>generated using python-pptx</dc:description>
  <dc:language>en-US</dc:language>
  <cp:lastModifiedBy>Equipe SPOT</cp:lastModifiedBy>
  <dcterms:modified xsi:type="dcterms:W3CDTF">2026-10-28T12:00:00Z</dcterms:modified>
  <cp:revision>3</cp:revision>
  <dc:subject>11 slides; revisão visual de 28/10/2026; fonte: recuperação com alterações do usuário</dc:subject>
  <dc:title>SPOT — Defesa de TCC — versão corrigida e revisada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