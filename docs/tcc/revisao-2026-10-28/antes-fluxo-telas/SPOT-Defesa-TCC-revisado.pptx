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Participantes (%)</c:v>
                </c:pt>
              </c:strCache>
            </c:strRef>
          </c:tx>
          <c:spPr>
            <a:solidFill>
              <a:srgbClr val="007e98"/>
            </a:solidFill>
            <a:ln w="31680">
              <a:solidFill>
                <a:srgbClr val="007e98"/>
              </a:solidFill>
              <a:round/>
            </a:ln>
          </c:spPr>
          <c:marker>
            <c:symbol val="circle"/>
            <c:size val="7"/>
            <c:spPr>
              <a:solidFill>
                <a:srgbClr val="007e98"/>
              </a:solidFill>
            </c:spPr>
          </c:marker>
          <c:dPt>
            <c:idx val="0"/>
            <c:marker>
              <c:symbol val="circle"/>
              <c:size val="7"/>
              <c:spPr>
                <a:solidFill>
                  <a:srgbClr val="007e98"/>
                </a:solidFill>
              </c:spPr>
            </c:marker>
          </c:dPt>
          <c:dPt>
            <c:idx val="1"/>
            <c:marker>
              <c:symbol val="circle"/>
              <c:size val="7"/>
              <c:spPr>
                <a:solidFill>
                  <a:srgbClr val="007e98"/>
                </a:solidFill>
              </c:spPr>
            </c:marker>
          </c:dPt>
          <c:dPt>
            <c:idx val="2"/>
            <c:marker>
              <c:symbol val="circle"/>
              <c:size val="7"/>
              <c:spPr>
                <a:solidFill>
                  <a:srgbClr val="007e98"/>
                </a:solidFill>
              </c:spPr>
            </c:marker>
          </c:dPt>
          <c:dPt>
            <c:idx val="3"/>
            <c:marker>
              <c:symbol val="circle"/>
              <c:size val="7"/>
              <c:spPr>
                <a:solidFill>
                  <a:srgbClr val="007e98"/>
                </a:solidFill>
              </c:spPr>
            </c:marker>
          </c:dPt>
          <c:dPt>
            <c:idx val="4"/>
            <c:marker>
              <c:symbol val="circle"/>
              <c:size val="7"/>
              <c:spPr>
                <a:solidFill>
                  <a:srgbClr val="007e98"/>
                </a:solidFill>
              </c:spPr>
            </c:marke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tx>
                <c:rich>
                  <a:bodyPr/>
                  <a:p>
                    <a:r>
                      <a:rPr b="1" sz="1000" spc="-1" strike="noStrike">
                        <a:solidFill>
                          <a:srgbClr val="183447"/>
                        </a:solidFill>
                        <a:latin typeface="DejaVu Sans"/>
                        <a:ea typeface="DejaVu Sans"/>
                      </a:rPr>
                      <a:t>29,8%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tx>
                <c:rich>
                  <a:bodyPr/>
                  <a:p>
                    <a:r>
                      <a:rPr b="1" sz="1000" spc="-1" strike="noStrike">
                        <a:solidFill>
                          <a:srgbClr val="183447"/>
                        </a:solidFill>
                        <a:latin typeface="DejaVu Sans"/>
                        <a:ea typeface="DejaVu Sans"/>
                      </a:rPr>
                      <a:t>23,4%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tx>
                <c:rich>
                  <a:bodyPr/>
                  <a:p>
                    <a:r>
                      <a:rPr b="1" sz="1000" spc="-1" strike="noStrike">
                        <a:solidFill>
                          <a:srgbClr val="183447"/>
                        </a:solidFill>
                        <a:latin typeface="DejaVu Sans"/>
                        <a:ea typeface="DejaVu Sans"/>
                      </a:rPr>
                      <a:t>20,2%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tx>
                <c:rich>
                  <a:bodyPr/>
                  <a:p>
                    <a:r>
                      <a:rPr b="1" sz="1000" spc="-1" strike="noStrike">
                        <a:solidFill>
                          <a:srgbClr val="183447"/>
                        </a:solidFill>
                        <a:latin typeface="DejaVu Sans"/>
                        <a:ea typeface="DejaVu Sans"/>
                      </a:rPr>
                      <a:t>16,0%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4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tx>
                <c:rich>
                  <a:bodyPr/>
                  <a:p>
                    <a:r>
                      <a:rPr b="1" sz="1000" spc="-1" strike="noStrike">
                        <a:solidFill>
                          <a:srgbClr val="183447"/>
                        </a:solidFill>
                        <a:latin typeface="DejaVu Sans"/>
                        <a:ea typeface="DejaVu Sans"/>
                      </a:rPr>
                      <a:t>10,6%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800" spc="-1" strike="noStrike">
                    <a:solidFill>
                      <a:srgbClr val="000000"/>
                    </a:solidFill>
                    <a:latin typeface="Calibri"/>
                    <a:ea typeface="DejaVu San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15–25</c:v>
                </c:pt>
                <c:pt idx="1">
                  <c:v>25–35</c:v>
                </c:pt>
                <c:pt idx="2">
                  <c:v>35–45</c:v>
                </c:pt>
                <c:pt idx="3">
                  <c:v>45–55</c:v>
                </c:pt>
                <c:pt idx="4">
                  <c:v>&gt;55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0.297872340425532</c:v>
                </c:pt>
                <c:pt idx="1">
                  <c:v>0.234042553191489</c:v>
                </c:pt>
                <c:pt idx="2">
                  <c:v>0.202127659574468</c:v>
                </c:pt>
                <c:pt idx="3">
                  <c:v>0.159574468085106</c:v>
                </c:pt>
                <c:pt idx="4">
                  <c:v>0.106382978723404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47926839"/>
        <c:axId val="13682696"/>
      </c:lineChart>
      <c:catAx>
        <c:axId val="47926839"/>
        <c:scaling>
          <c:orientation val="minMax"/>
        </c:scaling>
        <c:delete val="0"/>
        <c:axPos val="b"/>
        <c:numFmt formatCode="[$-416]dd/mm/yyyy" sourceLinked="0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900" spc="-1" strike="noStrike">
                <a:solidFill>
                  <a:srgbClr val="000000"/>
                </a:solidFill>
                <a:latin typeface="DejaVu Sans"/>
                <a:ea typeface="DejaVu Sans"/>
              </a:defRPr>
            </a:pPr>
          </a:p>
        </c:txPr>
        <c:crossAx val="13682696"/>
        <c:crosses val="autoZero"/>
        <c:auto val="1"/>
        <c:lblAlgn val="ctr"/>
        <c:lblOffset val="100"/>
        <c:noMultiLvlLbl val="0"/>
      </c:catAx>
      <c:valAx>
        <c:axId val="13682696"/>
        <c:scaling>
          <c:orientation val="minMax"/>
          <c:max val="0.4"/>
          <c:min val="0"/>
        </c:scaling>
        <c:delete val="0"/>
        <c:axPos val="l"/>
        <c:majorGridlines>
          <c:spPr>
            <a:ln w="9360">
              <a:solidFill>
                <a:srgbClr val="dce5ea"/>
              </a:solidFill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900" spc="-1" strike="noStrike">
                <a:solidFill>
                  <a:srgbClr val="000000"/>
                </a:solidFill>
                <a:latin typeface="DejaVu Sans"/>
                <a:ea typeface="DejaVu Sans"/>
              </a:defRPr>
            </a:pPr>
          </a:p>
        </c:txPr>
        <c:crossAx val="47926839"/>
        <c:crosses val="autoZero"/>
        <c:crossBetween val="between"/>
        <c:majorUnit val="0.1"/>
      </c:valAx>
      <c:spPr>
        <a:noFill/>
        <a:ln w="0">
          <a:noFill/>
        </a:ln>
      </c:spPr>
    </c:plotArea>
    <c:plotVisOnly val="1"/>
    <c:dispBlanksAs val="gap"/>
  </c:chart>
  <c:spPr>
    <a:noFill/>
    <a:ln w="9360">
      <a:solidFill>
        <a:srgbClr val="d9d9d9"/>
      </a:solidFill>
      <a:round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Participantes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008b79"/>
              </a:solidFill>
              <a:ln w="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007e98"/>
              </a:solidFill>
              <a:ln w="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af6714"/>
              </a:solidFill>
              <a:ln w="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a5b5bf"/>
              </a:solidFill>
              <a:ln w="0">
                <a:solidFill>
                  <a:srgbClr val="ffffff"/>
                </a:solidFill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3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  <a:ea typeface="DejaVu Sans"/>
                  </a:defRPr>
                </a:pPr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eparator> </c:separator>
            <c:showLeaderLines val="1"/>
          </c:dLbls>
          <c:cat>
            <c:strRef>
              <c:f>categories</c:f>
              <c:strCache>
                <c:ptCount val="4"/>
                <c:pt idx="0">
                  <c:v>Concordam</c:v>
                </c:pt>
                <c:pt idx="1">
                  <c:v>Talvez</c:v>
                </c:pt>
                <c:pt idx="2">
                  <c:v>Não</c:v>
                </c:pt>
                <c:pt idx="3">
                  <c:v>Diferença documental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43</c:v>
                </c:pt>
                <c:pt idx="1">
                  <c:v>33</c:v>
                </c:pt>
                <c:pt idx="2">
                  <c:v>14</c:v>
                </c:pt>
                <c:pt idx="3">
                  <c:v>4</c:v>
                </c:pt>
              </c:numCache>
            </c:numRef>
          </c:val>
        </c:ser>
        <c:firstSliceAng val="0"/>
      </c:pieChart>
      <c:spPr>
        <a:noFill/>
        <a:ln w="0">
          <a:noFill/>
        </a:ln>
      </c:spPr>
    </c:plotArea>
    <c:plotVisOnly val="1"/>
    <c:dispBlanksAs val="gap"/>
  </c:chart>
  <c:spPr>
    <a:noFill/>
    <a:ln w="9360">
      <a:solidFill>
        <a:srgbClr val="d9d9d9"/>
      </a:solidFill>
      <a:round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Clique para mover o slide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t-BR" sz="2000" spc="-1" strike="noStrike">
                <a:latin typeface="Arial"/>
              </a:rPr>
              <a:t>Clique para editar o formato de notas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t-BR" sz="1400" spc="-1" strike="noStrike">
                <a:latin typeface="Times New Roman"/>
              </a:rPr>
              <a:t>&lt;cabeçalho&gt;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pt-BR" sz="1400" spc="-1" strike="noStrike">
                <a:latin typeface="Times New Roman"/>
              </a:rPr>
              <a:t>&lt;data/hora&gt;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pt-BR" sz="1400" spc="-1" strike="noStrike">
                <a:latin typeface="Times New Roman"/>
              </a:defRPr>
            </a:lvl1pPr>
          </a:lstStyle>
          <a:p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D63E3407-F051-4053-85F2-60759B9332EF}" type="slidenum">
              <a:rPr b="0" lang="pt-BR" sz="1400" spc="-1" strike="noStrike">
                <a:latin typeface="Times New Roman"/>
              </a:rPr>
              <a:t>&lt;número&gt;</a:t>
            </a:fld>
            <a:endParaRPr b="0" lang="pt-B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SLIDE 1 — TEMPO: 20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Acumulado: 00:00 a 00:20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Somos a equipe do Spot, Sistemas de Projetos, Organização e Tarefas. O projeto nasceu de uma necessidade da Computécnica: organizar a execução dos projetos com mais clareza e ligar esse trabalho ao seu resultado financeiro. Vamos mostrar como a pesquisa orientou as decisões e como elas aparecem no sistema.”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07CA223-641C-40B2-BD12-DFC157721533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1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SLIDE 2 — TEMPO: 40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Acumulado: 00:20 a 01:00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O trabalho conecta três coisas: uma necessidade real, pesquisa para priorizar requisitos e implementação verificável. O Spot organiza a execução e a relaciona ao resultado financeiro, com governança e autonomia de evolução. Nossa contribuição é uma solução adaptada à Computécnica e uma base técnica que pode amadurecer com uso e validação. Esses são os três pilares que orientam a proposta a seguir.”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1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93D5E0E-D868-490A-A877-45458578CFC5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SLIDE 3 — TEMPO: 50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Acumulado: 01:00 a 01:50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O ponto de partida foi um sistema com visual antigo, dificuldades de integração e controle insuficiente de responsabilidades e custos. Usamos duas bases: a pesquisa de campo, para identificar dores e expectativas, e o estudo de sistemas, para conhecer soluções existentes. O formulário reuniu 94 respostas entre março e agosto de 2026. A amostra é de conveniência: orienta nosso projeto, mas não representa estatisticamente todas as empresas. Também confrontamos essas evidências com o memorial e as necessidades específicas do cliente.”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1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FC38726-D352-4B38-ADA2-F4BD42566BCC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2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SLIDE 4 — TEMPO: 60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Acumulado: 01:50 a 02:50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Leitura do gráfico de linhas: cada ponto representa uma faixa etária, com percentual calculado sobre 94. A ligação mostra o perfil das faixas ordenadas; não representa evolução temporal nem acompanhamento das mesmas pessoas.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Dos 94 participantes, 88 estavam empregados. A amostra reúne diferentes idades e 65 pessoas que não atuam diretamente em gestão de projetos. Isso nos ajudou a pensar no uso cotidiano, além de especialistas. O Office 365 teve 52 menções e 17 pessoas disseram não utilizar software. As ferramentas podem aparecer juntas, por isso essas contagens não somam 94. No Spot, essa presença do Microsoft se traduz em login, agenda e integração de diretório; a diversidade de usuários levou à prioridade de interface simples e tutorial.”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2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B189FD3-CFA4-44CE-B5E3-47AA32299BB1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2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SLIDE 5 — TEMPO: 65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Acumulado: 02:50 a 03:55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Leitura do gráfico de setores: concordância = 43/94 (45,7%); talvez = 33/94 (35,1%); não = 14/94 (14,9%); diferença documental = 4/94 (4,3%). A última fatia é apenas a diferença entre a base declarada e as categorias publicadas, não uma resposta observada. As legendas também mostram as contagens.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Sobre software de projetos, 33 não têm e 27 usam uma solução cujo foco não é esse. Ao perguntar sobre uma ferramenta dedicada, 43 concordam diretamente e 33 respondem talvez. Assim, 80,9% demonstram concordância ou abertura, mas não intenção comprovada de compra. O estudo também identifica fluxos internos e externos e opiniões intermediárias sobre a interface atual. Isso levou a centralizar projetos e criar diferentes visões de trabalho. O suporte a contextos internos e externos tem base no modelo, mas não afirmamos dois fluxos completos e separados.”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6298BE9-C130-42EE-9B85-F0DEA57B8FBC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2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SLIDE 6 — TEMPO: 70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Acumulado: 03:55 a 05:05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Os dois números centrais são 63,8% com dificuldade de organização e 88,3% que percebem relação entre organização e faturamento. Também encontramos 41,5% com dificuldade de alinhamento e 31,9% com dificuldade de registrar custos adicionais. O Spot responde com tarefas e responsáveis, equipes, despesas revisadas e resultado financeiro. Esses números são percepções da amostra, não provas de que o Spot aumentou faturamento. Usamos 94 como base e sinalizamos que algumas figuras não discriminam todos os participantes.”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2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6660CEB-2091-443E-BCCA-1943BEB6CF29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3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SLIDE 7 — TEMPO: 65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Acumulado: 05:05 a 06:10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Estudamos Monday, Asana, Jira, Trello, ClickUp e Notion. Eles já oferecem recursos fortes de organização, colaboração e automação. O diferencial que defendemos não é exclusividade de quadros ou dashboards: é entregar um fluxo específico da Computécnica, com tarifas por vigência, despesas aprovadas e regras de encerramento em código próprio. Recursos semelhantes existem em outras ferramentas; defendemos a adequação ao cliente, não exclusividade. Código próprio dá autonomia de evolução, mas continua exigindo hospedagem e manutenção.”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 Páginas oficiais: monday.com/w/use-cases/ai-project-management-software; asana.com/features; atlassian.com/software/jira/features; trello.com/tour; clickup.com/features; notion.com/product/projects; taskrush.com.br/gerenciamento-de-projetos/; artia.com/produto/ia-do-artia/; jestor.com/pt/ai/; aws.amazon.com/what-is-cloud-computing/ (consulta 26/10/2026).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3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C4824DE-9DDB-4787-AE26-2FDC3E974167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3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SLIDE 8 — TEMPO: 65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Acumulado: 06:10 a 07:15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A análise aberta destacou interface simples, financeiro, integrações, indicadores e tarefas com agenda. Mostramos a ligação de cada tema com a entrega: tutorial e navegação; horas, tarifas e despesas; calendários; portfólio; quadro, lista e calendário de tarefas. Os alertas agora são gerados por prazo e evento, com caixa de entrada, fila de e-mail, resumos e horário de silêncio. O portfólio atualiza automaticamente. Serviços externos continuam exigindo credenciais, consentimento e SMTP; isso é condição de operação, não ausência do código. A tabela da pesquisa soma 49 frequências e o texto cita 57 comentários: registramos essa diferença e não a preenchemos com respostas inventadas.”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3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B81E98A-0597-4DD6-8C0B-518623101B86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SLIDE 10 — TEMPO: 60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Acumulado: 08:15 a 09:15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O usuário interage com o React, que envia uma requisição para a API Laravel. O backend identifica a sessão, verifica permissões e valida os campos. As regras de negócio usam o Eloquent para consultar e persistir dados no PostgreSQL, com transações nas operações que precisam ser atômicas. A resposta volta em JSON e a interface atualiza sua apresentação. Para o portfólio, o Laravel seleciona os dados e executa o Python com Pandas, que recebe e devolve JSON, sem consultar o banco. Convites e ativações entram na fila: o worker verifica se o registro ainda é utilizável antes de enviar pelo transporte configurado e repete tentativas em caso de falha. O scheduler agenda lembretes e processamento de notificações, retenção de auditoria e limpeza de mensagens. Essa separação de processos não transforma o sistema em microsserviços. O próximo slide detalha uma tarefa nesse fluxo.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3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25E38DC-D6F7-49BF-ACE5-096774B153E2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3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SLIDE 9 — TEMPO: 60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Acumulado: 07:15 a 08:15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O diferencial do Spot está na combinação de recursos adaptada à Computécnica. A execução das tarefas alimenta a visão financeira; regras de acesso e encerramento dão controle à operação; a auditoria e a tarifa capturada permitem rastrear o que ocorreu. O portfólio reúne indicadores para decisão. As integrações dependem da configuração das credenciais e os envios por e-mail exigem transporte e worker ativos. Código próprio permite adequação e hospedagem escolhida pelo cliente, mas não elimina custos de manutenção. Não alegamos exclusividade de funções que também existem nos concorrentes.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4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7314725-F5D7-4A4E-AA2D-3BBC6DC73E08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SLIDE 11 — TEMPO: 75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Acumulado: 09:15 a 10:30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Ao salvar, TasksPage transforma horas e minutos em um número inteiro. O cliente de API prepara CSRF e envia a requisição. TaskV1Controller verifica o projeto e as pessoas. Dentro da transação, cria a tarefa, vincula participantes, captura tarifa e registra auditoria. O JSON atualiza a tela. Quando o relatório é aberto, o cálculo usa essa fotografia e evita somar novamente tarefas que já tenham apontamento associado. Esse caminho mostra que a funcionalidade existe além do desenho da tela.”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Para concluir: o Spot conecta os requisitos levantados com regras verificáveis de organização, governança e resultado gerencial. Obrigado.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4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E983E9E-A79D-4AB8-A876-725FED520A49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A469AE0-35A0-4B8D-AB21-6BE9F2B3085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DDF9F62-00AA-409F-854E-31A315EB353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78AB391-1574-4510-AF59-9195F490D9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A5DA142-350A-4F73-B65E-80CF8ADADD5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CBD942E-2FF8-4808-8840-51CDBEE8C8C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837DF98-C516-4B17-871A-4DC6FF979C9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29BB99F-3788-4612-B0A3-56510295E9D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CBF3B8D-345B-466D-9AF6-3A7808CA81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81A3817-8596-4473-8DD5-340B16CC9FE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F8392BC-5AA2-4C80-879D-6ECEE38EA8D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FDBBD28-2A86-4EEA-8906-AE1E2E9485B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063C981-663B-406A-A81B-C4148B6FCE1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0A88ABC-9FE5-4F25-9098-B173A1DADB5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DCBBD50-9246-45D7-8264-70A8D422A7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6C7E624-5FA9-4A99-9810-DD083E22C2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6699AE1-48AE-4796-A77D-474EAD84C1E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44CE882-6E4D-4838-84BC-0EC9C8D2528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25A8AAB-0DA2-4117-A849-90587C80AB5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3FBE52B-7907-49DD-9B6C-B53970A089F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005A6B7-D98E-42BC-A1FC-A3A41AF0D5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7ACE84D-E69E-412E-9F7A-0F7136680C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A0633A3-AB15-48A3-94A2-FC9156E80CA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7BB494B-B8B6-4AD2-AFC3-B2C652668C5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D3CFE34-44A7-4CF1-8AFD-EDDC2648F7F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pc="-1" strike="noStrike">
                <a:latin typeface="Arial"/>
              </a:rPr>
              <a:t>Clique </a:t>
            </a:r>
            <a:r>
              <a:rPr b="0" lang="pt-BR" sz="1800" spc="-1" strike="noStrike">
                <a:latin typeface="Arial"/>
              </a:rPr>
              <a:t>para </a:t>
            </a:r>
            <a:r>
              <a:rPr b="0" lang="pt-BR" sz="1800" spc="-1" strike="noStrike">
                <a:latin typeface="Arial"/>
              </a:rPr>
              <a:t>editar </a:t>
            </a:r>
            <a:r>
              <a:rPr b="0" lang="pt-BR" sz="1800" spc="-1" strike="noStrike">
                <a:latin typeface="Arial"/>
              </a:rPr>
              <a:t>o </a:t>
            </a:r>
            <a:r>
              <a:rPr b="0" lang="pt-BR" sz="1800" spc="-1" strike="noStrike">
                <a:latin typeface="Arial"/>
              </a:rPr>
              <a:t>forma</a:t>
            </a:r>
            <a:r>
              <a:rPr b="0" lang="pt-BR" sz="1800" spc="-1" strike="noStrike">
                <a:latin typeface="Arial"/>
              </a:rPr>
              <a:t>to do </a:t>
            </a:r>
            <a:r>
              <a:rPr b="0" lang="pt-BR" sz="1800" spc="-1" strike="noStrike">
                <a:latin typeface="Arial"/>
              </a:rPr>
              <a:t>texto </a:t>
            </a:r>
            <a:r>
              <a:rPr b="0" lang="pt-BR" sz="1800" spc="-1" strike="noStrike">
                <a:latin typeface="Arial"/>
              </a:rPr>
              <a:t>do </a:t>
            </a:r>
            <a:r>
              <a:rPr b="0" lang="pt-BR" sz="1800" spc="-1" strike="noStrike">
                <a:latin typeface="Arial"/>
              </a:rPr>
              <a:t>título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pt-BR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3FDE516-5580-4C10-92C4-E527D1CC8F73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pt-BR" sz="1400" spc="-1" strike="noStrike">
                <a:latin typeface="Times New Roman"/>
              </a:defRPr>
            </a:lvl1pPr>
          </a:lstStyle>
          <a:p>
            <a:r>
              <a:rPr b="0" lang="pt-BR" sz="1400" spc="-1" strike="noStrike">
                <a:latin typeface="Times New Roman"/>
              </a:rPr>
              <a:t>&lt;data/hora&gt;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pt-BR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8293061-E7BB-4C99-812A-B9F44AAC6E06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pt-BR" sz="1400" spc="-1" strike="noStrike">
                <a:latin typeface="Times New Roman"/>
              </a:defRPr>
            </a:lvl1pPr>
          </a:lstStyle>
          <a:p>
            <a:r>
              <a:rPr b="0" lang="pt-BR" sz="1400" spc="-1" strike="noStrike">
                <a:latin typeface="Times New Roman"/>
              </a:rPr>
              <a:t>&lt;data/hora&gt;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Clique para editar o formato do texto do título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2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8458200" y="0"/>
            <a:ext cx="3732840" cy="68572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9" name="TextBox 2"/>
          <p:cNvSpPr/>
          <p:nvPr/>
        </p:nvSpPr>
        <p:spPr>
          <a:xfrm>
            <a:off x="640080" y="548640"/>
            <a:ext cx="73144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64d9e6"/>
                </a:solidFill>
                <a:latin typeface="DejaVu Sans"/>
                <a:ea typeface="DejaVu Sans"/>
              </a:rPr>
              <a:t>TCC • INFORMÁTICA • 2026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594360" y="1417320"/>
            <a:ext cx="7314480" cy="10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7000" spc="-1" strike="noStrike">
                <a:solidFill>
                  <a:srgbClr val="ffffff"/>
                </a:solidFill>
                <a:latin typeface="DejaVu Sans"/>
                <a:ea typeface="DejaVu Sans"/>
              </a:rPr>
              <a:t>SPOT</a:t>
            </a:r>
            <a:endParaRPr b="0" lang="pt-BR" sz="7000" spc="-1" strike="noStrike">
              <a:latin typeface="Arial"/>
            </a:endParaRPr>
          </a:p>
        </p:txBody>
      </p:sp>
      <p:sp>
        <p:nvSpPr>
          <p:cNvPr id="91" name="TextBox 4"/>
          <p:cNvSpPr/>
          <p:nvPr/>
        </p:nvSpPr>
        <p:spPr>
          <a:xfrm>
            <a:off x="658440" y="2697480"/>
            <a:ext cx="7497360" cy="11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DejaVu Sans"/>
                <a:ea typeface="DejaVu Sans"/>
              </a:rPr>
              <a:t>Da pesquisa</a:t>
            </a:r>
            <a:endParaRPr b="0" lang="pt-BR" sz="3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DejaVu Sans"/>
                <a:ea typeface="DejaVu Sans"/>
              </a:rPr>
              <a:t>à implementação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92" name="TextBox 5"/>
          <p:cNvSpPr/>
          <p:nvPr/>
        </p:nvSpPr>
        <p:spPr>
          <a:xfrm>
            <a:off x="685800" y="4507920"/>
            <a:ext cx="7040160" cy="64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900" spc="-1" strike="noStrike">
                <a:solidFill>
                  <a:srgbClr val="c6dce5"/>
                </a:solidFill>
                <a:latin typeface="DejaVu Sans"/>
                <a:ea typeface="DejaVu Sans"/>
              </a:rPr>
              <a:t>Projetos, pessoas e resultado financeiro</a:t>
            </a:r>
            <a:endParaRPr b="0" lang="pt-BR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900" spc="-1" strike="noStrike">
                <a:solidFill>
                  <a:srgbClr val="c6dce5"/>
                </a:solidFill>
                <a:latin typeface="DejaVu Sans"/>
                <a:ea typeface="DejaVu Sans"/>
              </a:rPr>
              <a:t>no contexto da Computécnica</a:t>
            </a:r>
            <a:endParaRPr b="0" lang="pt-BR" sz="1900" spc="-1" strike="noStrike">
              <a:latin typeface="Arial"/>
            </a:endParaRPr>
          </a:p>
        </p:txBody>
      </p:sp>
      <p:sp>
        <p:nvSpPr>
          <p:cNvPr id="93" name="TextBox 6"/>
          <p:cNvSpPr/>
          <p:nvPr/>
        </p:nvSpPr>
        <p:spPr>
          <a:xfrm>
            <a:off x="685800" y="5715000"/>
            <a:ext cx="731448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c6dce5"/>
                </a:solidFill>
                <a:latin typeface="DejaVu Sans"/>
                <a:ea typeface="DejaVu Sans"/>
              </a:rPr>
              <a:t>Alexander Molany Longo • Lucas Rodrigues Soares</a:t>
            </a:r>
            <a:endParaRPr b="0" lang="pt-BR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c6dce5"/>
                </a:solidFill>
                <a:latin typeface="DejaVu Sans"/>
                <a:ea typeface="DejaVu Sans"/>
              </a:rPr>
              <a:t>Pedro Galvão de Matos • Yasmin Regina de Souza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94" name="TextBox 7"/>
          <p:cNvSpPr/>
          <p:nvPr/>
        </p:nvSpPr>
        <p:spPr>
          <a:xfrm>
            <a:off x="8851320" y="1188720"/>
            <a:ext cx="2833920" cy="67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DejaVu Sans"/>
                <a:ea typeface="DejaVu Sans"/>
              </a:rPr>
              <a:t>4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95" name="TextBox 8"/>
          <p:cNvSpPr/>
          <p:nvPr/>
        </p:nvSpPr>
        <p:spPr>
          <a:xfrm>
            <a:off x="8897040" y="1938600"/>
            <a:ext cx="2742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DejaVu Sans"/>
                <a:ea typeface="DejaVu Sans"/>
              </a:rPr>
              <a:t>integrantes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96" name="TextBox 9"/>
          <p:cNvSpPr/>
          <p:nvPr/>
        </p:nvSpPr>
        <p:spPr>
          <a:xfrm>
            <a:off x="8851320" y="2788920"/>
            <a:ext cx="2833920" cy="67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DejaVu Sans"/>
                <a:ea typeface="DejaVu Sans"/>
              </a:rPr>
              <a:t>11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8897040" y="3538800"/>
            <a:ext cx="2742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DejaVu Sans"/>
                <a:ea typeface="DejaVu Sans"/>
              </a:rPr>
              <a:t>slides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98" name="TextBox 11"/>
          <p:cNvSpPr/>
          <p:nvPr/>
        </p:nvSpPr>
        <p:spPr>
          <a:xfrm>
            <a:off x="8851320" y="4389120"/>
            <a:ext cx="2833920" cy="67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DejaVu Sans"/>
                <a:ea typeface="DejaVu Sans"/>
              </a:rPr>
              <a:t>15 min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99" name="TextBox 12"/>
          <p:cNvSpPr/>
          <p:nvPr/>
        </p:nvSpPr>
        <p:spPr>
          <a:xfrm>
            <a:off x="8897040" y="5139000"/>
            <a:ext cx="2742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DejaVu Sans"/>
                <a:ea typeface="DejaVu Sans"/>
              </a:rPr>
              <a:t>tempo máximo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0" y="0"/>
            <a:ext cx="12191040" cy="7236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3" name="TextBox 2"/>
          <p:cNvSpPr/>
          <p:nvPr/>
        </p:nvSpPr>
        <p:spPr>
          <a:xfrm>
            <a:off x="502920" y="292680"/>
            <a:ext cx="10057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  <a:ea typeface="DejaVu Sans"/>
              </a:rPr>
              <a:t>01 / PROPOSTA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04" name="TextBox 3"/>
          <p:cNvSpPr/>
          <p:nvPr/>
        </p:nvSpPr>
        <p:spPr>
          <a:xfrm>
            <a:off x="502920" y="704160"/>
            <a:ext cx="1115496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  <a:ea typeface="DejaVu Sans"/>
              </a:rPr>
              <a:t>Pesquisa → requisitos → implementação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105" name="TextBox 4"/>
          <p:cNvSpPr/>
          <p:nvPr/>
        </p:nvSpPr>
        <p:spPr>
          <a:xfrm>
            <a:off x="521280" y="1362600"/>
            <a:ext cx="1106352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  <a:ea typeface="DejaVu Sans"/>
              </a:rPr>
              <a:t>Uma solução adaptada à Computécnica, com caminho técnico verificável.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106" name="TextBox 5"/>
          <p:cNvSpPr/>
          <p:nvPr/>
        </p:nvSpPr>
        <p:spPr>
          <a:xfrm>
            <a:off x="502920" y="6510600"/>
            <a:ext cx="105148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Fonte: código local do Spot • corte técnico 26/10/2026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07" name="TextBox 6"/>
          <p:cNvSpPr/>
          <p:nvPr/>
        </p:nvSpPr>
        <p:spPr>
          <a:xfrm>
            <a:off x="11018520" y="6483240"/>
            <a:ext cx="66672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02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08" name="TextBox 7"/>
          <p:cNvSpPr/>
          <p:nvPr/>
        </p:nvSpPr>
        <p:spPr>
          <a:xfrm>
            <a:off x="548640" y="2194560"/>
            <a:ext cx="3382560" cy="67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4400" spc="-1" strike="noStrike">
                <a:solidFill>
                  <a:srgbClr val="007e98"/>
                </a:solidFill>
                <a:latin typeface="DejaVu Sans"/>
                <a:ea typeface="DejaVu Sans"/>
              </a:rPr>
              <a:t>01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09" name="TextBox 8"/>
          <p:cNvSpPr/>
          <p:nvPr/>
        </p:nvSpPr>
        <p:spPr>
          <a:xfrm>
            <a:off x="548640" y="3145680"/>
            <a:ext cx="338256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300" spc="-1" strike="noStrike">
                <a:solidFill>
                  <a:srgbClr val="112c42"/>
                </a:solidFill>
                <a:latin typeface="DejaVu Sans"/>
                <a:ea typeface="DejaVu Sans"/>
              </a:rPr>
              <a:t>Organizar a execução</a:t>
            </a:r>
            <a:endParaRPr b="0" lang="pt-BR" sz="2300" spc="-1" strike="noStrike">
              <a:latin typeface="Arial"/>
            </a:endParaRPr>
          </a:p>
        </p:txBody>
      </p:sp>
      <p:sp>
        <p:nvSpPr>
          <p:cNvPr id="110" name="TextBox 9"/>
          <p:cNvSpPr/>
          <p:nvPr/>
        </p:nvSpPr>
        <p:spPr>
          <a:xfrm>
            <a:off x="548640" y="4050720"/>
            <a:ext cx="338256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700" spc="-1" strike="noStrike">
                <a:solidFill>
                  <a:srgbClr val="183447"/>
                </a:solidFill>
                <a:latin typeface="DejaVu Sans"/>
                <a:ea typeface="DejaVu Sans"/>
              </a:rPr>
              <a:t>Projetos, tarefas, responsáveis e equipes.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111" name="TextBox 10"/>
          <p:cNvSpPr/>
          <p:nvPr/>
        </p:nvSpPr>
        <p:spPr>
          <a:xfrm>
            <a:off x="4361760" y="2194560"/>
            <a:ext cx="3382560" cy="67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4400" spc="-1" strike="noStrike">
                <a:solidFill>
                  <a:srgbClr val="007e98"/>
                </a:solidFill>
                <a:latin typeface="DejaVu Sans"/>
                <a:ea typeface="DejaVu Sans"/>
              </a:rPr>
              <a:t>02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12" name="TextBox 11"/>
          <p:cNvSpPr/>
          <p:nvPr/>
        </p:nvSpPr>
        <p:spPr>
          <a:xfrm>
            <a:off x="4361760" y="3145680"/>
            <a:ext cx="338256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300" spc="-1" strike="noStrike">
                <a:solidFill>
                  <a:srgbClr val="112c42"/>
                </a:solidFill>
                <a:latin typeface="DejaVu Sans"/>
                <a:ea typeface="DejaVu Sans"/>
              </a:rPr>
              <a:t>Entender o resultado</a:t>
            </a:r>
            <a:endParaRPr b="0" lang="pt-BR" sz="2300" spc="-1" strike="noStrike">
              <a:latin typeface="Arial"/>
            </a:endParaRPr>
          </a:p>
        </p:txBody>
      </p:sp>
      <p:sp>
        <p:nvSpPr>
          <p:cNvPr id="113" name="TextBox 12"/>
          <p:cNvSpPr/>
          <p:nvPr/>
        </p:nvSpPr>
        <p:spPr>
          <a:xfrm>
            <a:off x="4361760" y="4050720"/>
            <a:ext cx="338256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700" spc="-1" strike="noStrike">
                <a:solidFill>
                  <a:srgbClr val="183447"/>
                </a:solidFill>
                <a:latin typeface="DejaVu Sans"/>
                <a:ea typeface="DejaVu Sans"/>
              </a:rPr>
              <a:t>Horas, custos, despesas e margem gerencial.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114" name="TextBox 13"/>
          <p:cNvSpPr/>
          <p:nvPr/>
        </p:nvSpPr>
        <p:spPr>
          <a:xfrm>
            <a:off x="8174880" y="2194560"/>
            <a:ext cx="3382560" cy="67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4400" spc="-1" strike="noStrike">
                <a:solidFill>
                  <a:srgbClr val="007e98"/>
                </a:solidFill>
                <a:latin typeface="DejaVu Sans"/>
                <a:ea typeface="DejaVu Sans"/>
              </a:rPr>
              <a:t>03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15" name="TextBox 14"/>
          <p:cNvSpPr/>
          <p:nvPr/>
        </p:nvSpPr>
        <p:spPr>
          <a:xfrm>
            <a:off x="8174880" y="3145680"/>
            <a:ext cx="338256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300" spc="-1" strike="noStrike">
                <a:solidFill>
                  <a:srgbClr val="112c42"/>
                </a:solidFill>
                <a:latin typeface="DejaVu Sans"/>
                <a:ea typeface="DejaVu Sans"/>
              </a:rPr>
              <a:t>Controlar a evolução</a:t>
            </a:r>
            <a:endParaRPr b="0" lang="pt-BR" sz="2300" spc="-1" strike="noStrike">
              <a:latin typeface="Arial"/>
            </a:endParaRPr>
          </a:p>
        </p:txBody>
      </p:sp>
      <p:sp>
        <p:nvSpPr>
          <p:cNvPr id="116" name="TextBox 15"/>
          <p:cNvSpPr/>
          <p:nvPr/>
        </p:nvSpPr>
        <p:spPr>
          <a:xfrm>
            <a:off x="8174880" y="4050720"/>
            <a:ext cx="338256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700" spc="-1" strike="noStrike">
                <a:solidFill>
                  <a:srgbClr val="183447"/>
                </a:solidFill>
                <a:latin typeface="DejaVu Sans"/>
                <a:ea typeface="DejaVu Sans"/>
              </a:rPr>
              <a:t>Permissões, histórico e implantação própria.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117" name="Rounded Rectangle 16"/>
          <p:cNvSpPr/>
          <p:nvPr/>
        </p:nvSpPr>
        <p:spPr>
          <a:xfrm>
            <a:off x="502920" y="5623560"/>
            <a:ext cx="11173320" cy="43812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8" name="TextBox 17"/>
          <p:cNvSpPr/>
          <p:nvPr/>
        </p:nvSpPr>
        <p:spPr>
          <a:xfrm>
            <a:off x="658440" y="5715000"/>
            <a:ext cx="10880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  <a:ea typeface="DejaVu Sans"/>
              </a:rPr>
              <a:t>Próximo passo: validar o uso real, medir resultados e evoluir com o retorno do cliente.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"/>
          <p:cNvSpPr/>
          <p:nvPr/>
        </p:nvSpPr>
        <p:spPr>
          <a:xfrm>
            <a:off x="0" y="0"/>
            <a:ext cx="12191040" cy="7236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0" name="TextBox 2"/>
          <p:cNvSpPr/>
          <p:nvPr/>
        </p:nvSpPr>
        <p:spPr>
          <a:xfrm>
            <a:off x="502920" y="292680"/>
            <a:ext cx="10057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  <a:ea typeface="DejaVu Sans"/>
              </a:rPr>
              <a:t>02 / PONTO DE PARTIDA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21" name="TextBox 3"/>
          <p:cNvSpPr/>
          <p:nvPr/>
        </p:nvSpPr>
        <p:spPr>
          <a:xfrm>
            <a:off x="502920" y="704160"/>
            <a:ext cx="1115496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  <a:ea typeface="DejaVu Sans"/>
              </a:rPr>
              <a:t>Um problema real. Duas pesquisas.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122" name="TextBox 4"/>
          <p:cNvSpPr/>
          <p:nvPr/>
        </p:nvSpPr>
        <p:spPr>
          <a:xfrm>
            <a:off x="521280" y="1362600"/>
            <a:ext cx="1106352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  <a:ea typeface="DejaVu Sans"/>
              </a:rPr>
              <a:t>Como transformar a rotina do cliente em requisitos verificáveis.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123" name="TextBox 5"/>
          <p:cNvSpPr/>
          <p:nvPr/>
        </p:nvSpPr>
        <p:spPr>
          <a:xfrm>
            <a:off x="502920" y="6510600"/>
            <a:ext cx="105148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Fontes: monografia, introdução; capítulo da pesquisa, metodologia (2026).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24" name="TextBox 6"/>
          <p:cNvSpPr/>
          <p:nvPr/>
        </p:nvSpPr>
        <p:spPr>
          <a:xfrm>
            <a:off x="11018520" y="6483240"/>
            <a:ext cx="66672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03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25" name="Rounded Rectangle 7"/>
          <p:cNvSpPr/>
          <p:nvPr/>
        </p:nvSpPr>
        <p:spPr>
          <a:xfrm>
            <a:off x="502920" y="2030040"/>
            <a:ext cx="3547080" cy="3382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6" name="Rectangle 8"/>
          <p:cNvSpPr/>
          <p:nvPr/>
        </p:nvSpPr>
        <p:spPr>
          <a:xfrm>
            <a:off x="502920" y="2030040"/>
            <a:ext cx="49680" cy="338256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7" name="TextBox 9"/>
          <p:cNvSpPr/>
          <p:nvPr/>
        </p:nvSpPr>
        <p:spPr>
          <a:xfrm>
            <a:off x="667440" y="2167200"/>
            <a:ext cx="32270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800" spc="-1" strike="noStrike">
                <a:solidFill>
                  <a:srgbClr val="007e98"/>
                </a:solidFill>
                <a:latin typeface="DejaVu Sans"/>
                <a:ea typeface="DejaVu Sans"/>
              </a:rPr>
              <a:t>Computécnica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28" name="TextBox 10"/>
          <p:cNvSpPr/>
          <p:nvPr/>
        </p:nvSpPr>
        <p:spPr>
          <a:xfrm>
            <a:off x="667440" y="2642760"/>
            <a:ext cx="3227040" cy="11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Visual antigo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Acesso pouco delimitado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Custos desconectados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Dependência da solução anterior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129" name="Rounded Rectangle 11"/>
          <p:cNvSpPr/>
          <p:nvPr/>
        </p:nvSpPr>
        <p:spPr>
          <a:xfrm>
            <a:off x="4316040" y="2030040"/>
            <a:ext cx="3547080" cy="3382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0" name="Rectangle 12"/>
          <p:cNvSpPr/>
          <p:nvPr/>
        </p:nvSpPr>
        <p:spPr>
          <a:xfrm>
            <a:off x="4316040" y="2030040"/>
            <a:ext cx="49680" cy="338256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1" name="TextBox 13"/>
          <p:cNvSpPr/>
          <p:nvPr/>
        </p:nvSpPr>
        <p:spPr>
          <a:xfrm>
            <a:off x="4480560" y="2167200"/>
            <a:ext cx="32270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800" spc="-1" strike="noStrike">
                <a:solidFill>
                  <a:srgbClr val="007e98"/>
                </a:solidFill>
                <a:latin typeface="DejaVu Sans"/>
                <a:ea typeface="DejaVu Sans"/>
              </a:rPr>
              <a:t>Pesquisa de campo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32" name="TextBox 14"/>
          <p:cNvSpPr/>
          <p:nvPr/>
        </p:nvSpPr>
        <p:spPr>
          <a:xfrm>
            <a:off x="4480560" y="2642760"/>
            <a:ext cx="3227040" cy="11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16 perguntas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18 mar → 24 ago de 2026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Survey quali-quantitativo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Amostra de conveniência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133" name="Rounded Rectangle 15"/>
          <p:cNvSpPr/>
          <p:nvPr/>
        </p:nvSpPr>
        <p:spPr>
          <a:xfrm>
            <a:off x="8129160" y="2030040"/>
            <a:ext cx="3547080" cy="3382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4" name="Rectangle 16"/>
          <p:cNvSpPr/>
          <p:nvPr/>
        </p:nvSpPr>
        <p:spPr>
          <a:xfrm>
            <a:off x="8129160" y="2030040"/>
            <a:ext cx="49680" cy="338256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5" name="TextBox 17"/>
          <p:cNvSpPr/>
          <p:nvPr/>
        </p:nvSpPr>
        <p:spPr>
          <a:xfrm>
            <a:off x="8293680" y="2167200"/>
            <a:ext cx="32270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800" spc="-1" strike="noStrike">
                <a:solidFill>
                  <a:srgbClr val="007e98"/>
                </a:solidFill>
                <a:latin typeface="DejaVu Sans"/>
                <a:ea typeface="DejaVu Sans"/>
              </a:rPr>
              <a:t>Pesquisa de sistemas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36" name="TextBox 18"/>
          <p:cNvSpPr/>
          <p:nvPr/>
        </p:nvSpPr>
        <p:spPr>
          <a:xfrm>
            <a:off x="8293680" y="2642760"/>
            <a:ext cx="3227040" cy="11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6 plataformas principais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Integrações e automação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Referências de interação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Escolhas para o cliente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137" name="Rounded Rectangle 19"/>
          <p:cNvSpPr/>
          <p:nvPr/>
        </p:nvSpPr>
        <p:spPr>
          <a:xfrm>
            <a:off x="502920" y="5870520"/>
            <a:ext cx="11173320" cy="43812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8" name="TextBox 20"/>
          <p:cNvSpPr/>
          <p:nvPr/>
        </p:nvSpPr>
        <p:spPr>
          <a:xfrm>
            <a:off x="658440" y="5961960"/>
            <a:ext cx="10880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  <a:ea typeface="DejaVu Sans"/>
              </a:rPr>
              <a:t>A amostra orienta prioridades; não representa estatisticamente todas as empresas.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"/>
          <p:cNvSpPr/>
          <p:nvPr/>
        </p:nvSpPr>
        <p:spPr>
          <a:xfrm>
            <a:off x="0" y="0"/>
            <a:ext cx="12191040" cy="7236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0" name="TextBox 2"/>
          <p:cNvSpPr/>
          <p:nvPr/>
        </p:nvSpPr>
        <p:spPr>
          <a:xfrm>
            <a:off x="502920" y="292680"/>
            <a:ext cx="10057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  <a:ea typeface="DejaVu Sans"/>
              </a:rPr>
              <a:t>03 / PESQUISA DE CAMPO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41" name="TextBox 3"/>
          <p:cNvSpPr/>
          <p:nvPr/>
        </p:nvSpPr>
        <p:spPr>
          <a:xfrm>
            <a:off x="502920" y="704160"/>
            <a:ext cx="1115496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  <a:ea typeface="DejaVu Sans"/>
              </a:rPr>
              <a:t>Quem respondeu e o que já utiliza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142" name="TextBox 4"/>
          <p:cNvSpPr/>
          <p:nvPr/>
        </p:nvSpPr>
        <p:spPr>
          <a:xfrm>
            <a:off x="521280" y="1362600"/>
            <a:ext cx="1106352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  <a:ea typeface="DejaVu Sans"/>
              </a:rPr>
              <a:t>88 de 94 estavam empregados • 65 não atuam diretamente em gestão de projetos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143" name="TextBox 5"/>
          <p:cNvSpPr/>
          <p:nvPr/>
        </p:nvSpPr>
        <p:spPr>
          <a:xfrm>
            <a:off x="502920" y="6510600"/>
            <a:ext cx="105148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Fonte: pesquisa SPOT (2026), figuras 1–3 e perfil. Contagens reconstruídas dos gráficos do DOCX.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44" name="TextBox 6"/>
          <p:cNvSpPr/>
          <p:nvPr/>
        </p:nvSpPr>
        <p:spPr>
          <a:xfrm>
            <a:off x="11018520" y="6483240"/>
            <a:ext cx="66672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04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45" name="Rounded Rectangle 7"/>
          <p:cNvSpPr/>
          <p:nvPr/>
        </p:nvSpPr>
        <p:spPr>
          <a:xfrm>
            <a:off x="502920" y="1993320"/>
            <a:ext cx="3519720" cy="351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6" name="TextBox 8"/>
          <p:cNvSpPr/>
          <p:nvPr/>
        </p:nvSpPr>
        <p:spPr>
          <a:xfrm>
            <a:off x="631080" y="2103120"/>
            <a:ext cx="326376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  <a:ea typeface="DejaVu Sans"/>
              </a:rPr>
              <a:t>Perfil etário — gráfico de linhas</a:t>
            </a:r>
            <a:endParaRPr b="0" lang="pt-BR" sz="1400" spc="-1" strike="noStrike">
              <a:latin typeface="Arial"/>
            </a:endParaRPr>
          </a:p>
        </p:txBody>
      </p:sp>
      <p:graphicFrame>
        <p:nvGraphicFramePr>
          <p:cNvPr id="147" name="Chart 9"/>
          <p:cNvGraphicFramePr/>
          <p:nvPr/>
        </p:nvGraphicFramePr>
        <p:xfrm>
          <a:off x="612720" y="2569320"/>
          <a:ext cx="3300120" cy="245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48" name="TextBox 10"/>
          <p:cNvSpPr/>
          <p:nvPr/>
        </p:nvSpPr>
        <p:spPr>
          <a:xfrm>
            <a:off x="631080" y="5184720"/>
            <a:ext cx="326376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Base: 94 • linha entre faixas etárias, não evolução no tempo.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49" name="Rounded Rectangle 11"/>
          <p:cNvSpPr/>
          <p:nvPr/>
        </p:nvSpPr>
        <p:spPr>
          <a:xfrm>
            <a:off x="4334400" y="1993320"/>
            <a:ext cx="3519720" cy="351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0" name="TextBox 12"/>
          <p:cNvSpPr/>
          <p:nvPr/>
        </p:nvSpPr>
        <p:spPr>
          <a:xfrm>
            <a:off x="4480560" y="2103120"/>
            <a:ext cx="324540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  <a:ea typeface="DejaVu Sans"/>
              </a:rPr>
              <a:t>Atuação em gestão de projetos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151" name="TextBox 13"/>
          <p:cNvSpPr/>
          <p:nvPr/>
        </p:nvSpPr>
        <p:spPr>
          <a:xfrm>
            <a:off x="4471560" y="2742840"/>
            <a:ext cx="154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526878"/>
                </a:solidFill>
                <a:latin typeface="DejaVu Sans"/>
                <a:ea typeface="DejaVu Sans"/>
              </a:rPr>
              <a:t>Não atua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52" name="Rectangle 14"/>
          <p:cNvSpPr/>
          <p:nvPr/>
        </p:nvSpPr>
        <p:spPr>
          <a:xfrm>
            <a:off x="5988960" y="2774520"/>
            <a:ext cx="79524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3" name="Rectangle 15"/>
          <p:cNvSpPr/>
          <p:nvPr/>
        </p:nvSpPr>
        <p:spPr>
          <a:xfrm>
            <a:off x="5988960" y="2774520"/>
            <a:ext cx="79524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4" name="TextBox 16"/>
          <p:cNvSpPr/>
          <p:nvPr/>
        </p:nvSpPr>
        <p:spPr>
          <a:xfrm>
            <a:off x="6839640" y="2742840"/>
            <a:ext cx="9504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183447"/>
                </a:solidFill>
                <a:latin typeface="DejaVu Sans"/>
                <a:ea typeface="DejaVu Sans"/>
              </a:rPr>
              <a:t>65 · 69,1%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55" name="TextBox 17"/>
          <p:cNvSpPr/>
          <p:nvPr/>
        </p:nvSpPr>
        <p:spPr>
          <a:xfrm>
            <a:off x="4471560" y="3344040"/>
            <a:ext cx="154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526878"/>
                </a:solidFill>
                <a:latin typeface="DejaVu Sans"/>
                <a:ea typeface="DejaVu Sans"/>
              </a:rPr>
              <a:t>Atua parcialmente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56" name="Rectangle 18"/>
          <p:cNvSpPr/>
          <p:nvPr/>
        </p:nvSpPr>
        <p:spPr>
          <a:xfrm>
            <a:off x="5988960" y="3376080"/>
            <a:ext cx="79524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7" name="Rectangle 19"/>
          <p:cNvSpPr/>
          <p:nvPr/>
        </p:nvSpPr>
        <p:spPr>
          <a:xfrm>
            <a:off x="5988960" y="3376080"/>
            <a:ext cx="24408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8" name="TextBox 20"/>
          <p:cNvSpPr/>
          <p:nvPr/>
        </p:nvSpPr>
        <p:spPr>
          <a:xfrm>
            <a:off x="6839640" y="3344040"/>
            <a:ext cx="9504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183447"/>
                </a:solidFill>
                <a:latin typeface="DejaVu Sans"/>
                <a:ea typeface="DejaVu Sans"/>
              </a:rPr>
              <a:t>20 · 21,3%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59" name="TextBox 21"/>
          <p:cNvSpPr/>
          <p:nvPr/>
        </p:nvSpPr>
        <p:spPr>
          <a:xfrm>
            <a:off x="4471560" y="3945240"/>
            <a:ext cx="154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526878"/>
                </a:solidFill>
                <a:latin typeface="DejaVu Sans"/>
                <a:ea typeface="DejaVu Sans"/>
              </a:rPr>
              <a:t>Totalmente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60" name="Rectangle 22"/>
          <p:cNvSpPr/>
          <p:nvPr/>
        </p:nvSpPr>
        <p:spPr>
          <a:xfrm>
            <a:off x="5988960" y="3977280"/>
            <a:ext cx="79524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1" name="Rectangle 23"/>
          <p:cNvSpPr/>
          <p:nvPr/>
        </p:nvSpPr>
        <p:spPr>
          <a:xfrm>
            <a:off x="5988960" y="3977280"/>
            <a:ext cx="4824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2" name="TextBox 24"/>
          <p:cNvSpPr/>
          <p:nvPr/>
        </p:nvSpPr>
        <p:spPr>
          <a:xfrm>
            <a:off x="6839640" y="3945240"/>
            <a:ext cx="9504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183447"/>
                </a:solidFill>
                <a:latin typeface="DejaVu Sans"/>
                <a:ea typeface="DejaVu Sans"/>
              </a:rPr>
              <a:t>4 · 4,3%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63" name="TextBox 25"/>
          <p:cNvSpPr/>
          <p:nvPr/>
        </p:nvSpPr>
        <p:spPr>
          <a:xfrm>
            <a:off x="4471560" y="4546800"/>
            <a:ext cx="154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526878"/>
                </a:solidFill>
                <a:latin typeface="DejaVu Sans"/>
                <a:ea typeface="DejaVu Sans"/>
              </a:rPr>
              <a:t>Sim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64" name="Rectangle 26"/>
          <p:cNvSpPr/>
          <p:nvPr/>
        </p:nvSpPr>
        <p:spPr>
          <a:xfrm>
            <a:off x="5988960" y="4578840"/>
            <a:ext cx="79524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5" name="Rectangle 27"/>
          <p:cNvSpPr/>
          <p:nvPr/>
        </p:nvSpPr>
        <p:spPr>
          <a:xfrm>
            <a:off x="5988960" y="4578840"/>
            <a:ext cx="3600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6" name="TextBox 28"/>
          <p:cNvSpPr/>
          <p:nvPr/>
        </p:nvSpPr>
        <p:spPr>
          <a:xfrm>
            <a:off x="6839640" y="4546800"/>
            <a:ext cx="9504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183447"/>
                </a:solidFill>
                <a:latin typeface="DejaVu Sans"/>
                <a:ea typeface="DejaVu Sans"/>
              </a:rPr>
              <a:t>3 · 3,2%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67" name="TextBox 29"/>
          <p:cNvSpPr/>
          <p:nvPr/>
        </p:nvSpPr>
        <p:spPr>
          <a:xfrm>
            <a:off x="4480560" y="5276160"/>
            <a:ext cx="3245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soma: 92 • % sobre base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68" name="Rounded Rectangle 30"/>
          <p:cNvSpPr/>
          <p:nvPr/>
        </p:nvSpPr>
        <p:spPr>
          <a:xfrm>
            <a:off x="8165520" y="1993320"/>
            <a:ext cx="3519720" cy="351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9" name="TextBox 31"/>
          <p:cNvSpPr/>
          <p:nvPr/>
        </p:nvSpPr>
        <p:spPr>
          <a:xfrm>
            <a:off x="8312040" y="2103120"/>
            <a:ext cx="324540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  <a:ea typeface="DejaVu Sans"/>
              </a:rPr>
              <a:t>Ferramentas utilizadas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170" name="TextBox 32"/>
          <p:cNvSpPr/>
          <p:nvPr/>
        </p:nvSpPr>
        <p:spPr>
          <a:xfrm>
            <a:off x="8302680" y="2525760"/>
            <a:ext cx="15440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  <a:ea typeface="DejaVu Sans"/>
              </a:rPr>
              <a:t>Office 365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71" name="Rectangle 33"/>
          <p:cNvSpPr/>
          <p:nvPr/>
        </p:nvSpPr>
        <p:spPr>
          <a:xfrm>
            <a:off x="9820080" y="2557800"/>
            <a:ext cx="79524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2" name="Rectangle 34"/>
          <p:cNvSpPr/>
          <p:nvPr/>
        </p:nvSpPr>
        <p:spPr>
          <a:xfrm>
            <a:off x="9820080" y="2557800"/>
            <a:ext cx="79524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3" name="TextBox 35"/>
          <p:cNvSpPr/>
          <p:nvPr/>
        </p:nvSpPr>
        <p:spPr>
          <a:xfrm>
            <a:off x="10671120" y="2525760"/>
            <a:ext cx="95040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DejaVu Sans"/>
                <a:ea typeface="DejaVu Sans"/>
              </a:rPr>
              <a:t>52 · 55,3%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74" name="TextBox 36"/>
          <p:cNvSpPr/>
          <p:nvPr/>
        </p:nvSpPr>
        <p:spPr>
          <a:xfrm>
            <a:off x="8302680" y="2962800"/>
            <a:ext cx="15440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  <a:ea typeface="DejaVu Sans"/>
              </a:rPr>
              <a:t>Software próprio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75" name="Rectangle 37"/>
          <p:cNvSpPr/>
          <p:nvPr/>
        </p:nvSpPr>
        <p:spPr>
          <a:xfrm>
            <a:off x="9820080" y="2994840"/>
            <a:ext cx="79524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6" name="Rectangle 38"/>
          <p:cNvSpPr/>
          <p:nvPr/>
        </p:nvSpPr>
        <p:spPr>
          <a:xfrm>
            <a:off x="9820080" y="2994840"/>
            <a:ext cx="39744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7" name="TextBox 39"/>
          <p:cNvSpPr/>
          <p:nvPr/>
        </p:nvSpPr>
        <p:spPr>
          <a:xfrm>
            <a:off x="10671120" y="2962800"/>
            <a:ext cx="95040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DejaVu Sans"/>
                <a:ea typeface="DejaVu Sans"/>
              </a:rPr>
              <a:t>26 · 27,7%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78" name="TextBox 40"/>
          <p:cNvSpPr/>
          <p:nvPr/>
        </p:nvSpPr>
        <p:spPr>
          <a:xfrm>
            <a:off x="8302680" y="3399840"/>
            <a:ext cx="15440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  <a:ea typeface="DejaVu Sans"/>
              </a:rPr>
              <a:t>Office 2021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79" name="Rectangle 41"/>
          <p:cNvSpPr/>
          <p:nvPr/>
        </p:nvSpPr>
        <p:spPr>
          <a:xfrm>
            <a:off x="9820080" y="3431880"/>
            <a:ext cx="79524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0" name="Rectangle 42"/>
          <p:cNvSpPr/>
          <p:nvPr/>
        </p:nvSpPr>
        <p:spPr>
          <a:xfrm>
            <a:off x="9820080" y="3431880"/>
            <a:ext cx="29016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1" name="TextBox 43"/>
          <p:cNvSpPr/>
          <p:nvPr/>
        </p:nvSpPr>
        <p:spPr>
          <a:xfrm>
            <a:off x="10671120" y="3399840"/>
            <a:ext cx="95040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DejaVu Sans"/>
                <a:ea typeface="DejaVu Sans"/>
              </a:rPr>
              <a:t>19 · 20,2%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82" name="TextBox 44"/>
          <p:cNvSpPr/>
          <p:nvPr/>
        </p:nvSpPr>
        <p:spPr>
          <a:xfrm>
            <a:off x="8302680" y="3836880"/>
            <a:ext cx="15440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  <a:ea typeface="DejaVu Sans"/>
              </a:rPr>
              <a:t>Nenhum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83" name="Rectangle 45"/>
          <p:cNvSpPr/>
          <p:nvPr/>
        </p:nvSpPr>
        <p:spPr>
          <a:xfrm>
            <a:off x="9820080" y="3868920"/>
            <a:ext cx="79524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4" name="Rectangle 46"/>
          <p:cNvSpPr/>
          <p:nvPr/>
        </p:nvSpPr>
        <p:spPr>
          <a:xfrm>
            <a:off x="9820080" y="3868920"/>
            <a:ext cx="25956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5" name="TextBox 47"/>
          <p:cNvSpPr/>
          <p:nvPr/>
        </p:nvSpPr>
        <p:spPr>
          <a:xfrm>
            <a:off x="10671120" y="3836880"/>
            <a:ext cx="95040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DejaVu Sans"/>
                <a:ea typeface="DejaVu Sans"/>
              </a:rPr>
              <a:t>17 · 18,1%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86" name="TextBox 48"/>
          <p:cNvSpPr/>
          <p:nvPr/>
        </p:nvSpPr>
        <p:spPr>
          <a:xfrm>
            <a:off x="8302680" y="4273920"/>
            <a:ext cx="15440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  <a:ea typeface="DejaVu Sans"/>
              </a:rPr>
              <a:t>Bloco de Notas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87" name="Rectangle 49"/>
          <p:cNvSpPr/>
          <p:nvPr/>
        </p:nvSpPr>
        <p:spPr>
          <a:xfrm>
            <a:off x="9820080" y="4305960"/>
            <a:ext cx="79524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8" name="Rectangle 50"/>
          <p:cNvSpPr/>
          <p:nvPr/>
        </p:nvSpPr>
        <p:spPr>
          <a:xfrm>
            <a:off x="9820080" y="4305960"/>
            <a:ext cx="24408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9" name="TextBox 51"/>
          <p:cNvSpPr/>
          <p:nvPr/>
        </p:nvSpPr>
        <p:spPr>
          <a:xfrm>
            <a:off x="10671120" y="4273920"/>
            <a:ext cx="95040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DejaVu Sans"/>
                <a:ea typeface="DejaVu Sans"/>
              </a:rPr>
              <a:t>16 · 17,0%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90" name="TextBox 52"/>
          <p:cNvSpPr/>
          <p:nvPr/>
        </p:nvSpPr>
        <p:spPr>
          <a:xfrm>
            <a:off x="8302680" y="4710960"/>
            <a:ext cx="15440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  <a:ea typeface="DejaVu Sans"/>
              </a:rPr>
              <a:t>Notion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91" name="Rectangle 53"/>
          <p:cNvSpPr/>
          <p:nvPr/>
        </p:nvSpPr>
        <p:spPr>
          <a:xfrm>
            <a:off x="9820080" y="4743000"/>
            <a:ext cx="79524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2" name="Rectangle 54"/>
          <p:cNvSpPr/>
          <p:nvPr/>
        </p:nvSpPr>
        <p:spPr>
          <a:xfrm>
            <a:off x="9820080" y="4743000"/>
            <a:ext cx="6048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3" name="TextBox 55"/>
          <p:cNvSpPr/>
          <p:nvPr/>
        </p:nvSpPr>
        <p:spPr>
          <a:xfrm>
            <a:off x="10671120" y="4710960"/>
            <a:ext cx="95040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DejaVu Sans"/>
                <a:ea typeface="DejaVu Sans"/>
              </a:rPr>
              <a:t>4 · 4,3%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94" name="TextBox 56"/>
          <p:cNvSpPr/>
          <p:nvPr/>
        </p:nvSpPr>
        <p:spPr>
          <a:xfrm>
            <a:off x="8312040" y="5276160"/>
            <a:ext cx="3245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menções não exclusivas • % de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95" name="Rounded Rectangle 57"/>
          <p:cNvSpPr/>
          <p:nvPr/>
        </p:nvSpPr>
        <p:spPr>
          <a:xfrm>
            <a:off x="502920" y="5870520"/>
            <a:ext cx="11173320" cy="43812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6" name="TextBox 58"/>
          <p:cNvSpPr/>
          <p:nvPr/>
        </p:nvSpPr>
        <p:spPr>
          <a:xfrm>
            <a:off x="658440" y="5961960"/>
            <a:ext cx="10880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  <a:ea typeface="DejaVu Sans"/>
              </a:rPr>
              <a:t>52 menções a Office 365 → integração corporativa • perfil diverso → prioridade de usabilidade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ectangle 1"/>
          <p:cNvSpPr/>
          <p:nvPr/>
        </p:nvSpPr>
        <p:spPr>
          <a:xfrm>
            <a:off x="0" y="0"/>
            <a:ext cx="12191040" cy="7236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8" name="TextBox 2"/>
          <p:cNvSpPr/>
          <p:nvPr/>
        </p:nvSpPr>
        <p:spPr>
          <a:xfrm>
            <a:off x="502920" y="292680"/>
            <a:ext cx="10057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  <a:ea typeface="DejaVu Sans"/>
              </a:rPr>
              <a:t>04 / ADOÇÃO E CONTEXTO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99" name="TextBox 3"/>
          <p:cNvSpPr/>
          <p:nvPr/>
        </p:nvSpPr>
        <p:spPr>
          <a:xfrm>
            <a:off x="502920" y="704160"/>
            <a:ext cx="1115496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  <a:ea typeface="DejaVu Sans"/>
              </a:rPr>
              <a:t>Uma solução dedicada precisa se adaptar à rotina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200" name="TextBox 4"/>
          <p:cNvSpPr/>
          <p:nvPr/>
        </p:nvSpPr>
        <p:spPr>
          <a:xfrm>
            <a:off x="521280" y="1362600"/>
            <a:ext cx="1106352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  <a:ea typeface="DejaVu Sans"/>
              </a:rPr>
              <a:t>43 concordam com a necessidade; 33 dizem “talvez” → 80,9% de apoio ou abertura, sem inferir compra.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201" name="TextBox 5"/>
          <p:cNvSpPr/>
          <p:nvPr/>
        </p:nvSpPr>
        <p:spPr>
          <a:xfrm>
            <a:off x="502920" y="6510600"/>
            <a:ext cx="105148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Fonte: pesquisa SPOT (2026), figuras 4–8 e 13. Base 94; alternativas abreviadas; ver transcrição no guia.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02" name="TextBox 6"/>
          <p:cNvSpPr/>
          <p:nvPr/>
        </p:nvSpPr>
        <p:spPr>
          <a:xfrm>
            <a:off x="11018520" y="6483240"/>
            <a:ext cx="66672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05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03" name="Rounded Rectangle 7"/>
          <p:cNvSpPr/>
          <p:nvPr/>
        </p:nvSpPr>
        <p:spPr>
          <a:xfrm>
            <a:off x="502920" y="1920240"/>
            <a:ext cx="3538080" cy="1901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4" name="TextBox 8"/>
          <p:cNvSpPr/>
          <p:nvPr/>
        </p:nvSpPr>
        <p:spPr>
          <a:xfrm>
            <a:off x="649080" y="2030040"/>
            <a:ext cx="326376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  <a:ea typeface="DejaVu Sans"/>
              </a:rPr>
              <a:t>Software de projetos na empresa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205" name="TextBox 9"/>
          <p:cNvSpPr/>
          <p:nvPr/>
        </p:nvSpPr>
        <p:spPr>
          <a:xfrm>
            <a:off x="640080" y="2669400"/>
            <a:ext cx="1552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Não possui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06" name="Rectangle 10"/>
          <p:cNvSpPr/>
          <p:nvPr/>
        </p:nvSpPr>
        <p:spPr>
          <a:xfrm>
            <a:off x="2166120" y="270144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7" name="Rectangle 11"/>
          <p:cNvSpPr/>
          <p:nvPr/>
        </p:nvSpPr>
        <p:spPr>
          <a:xfrm>
            <a:off x="2166120" y="2701440"/>
            <a:ext cx="80496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8" name="TextBox 12"/>
          <p:cNvSpPr/>
          <p:nvPr/>
        </p:nvSpPr>
        <p:spPr>
          <a:xfrm>
            <a:off x="3026520" y="266940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33 · 35,1%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09" name="TextBox 13"/>
          <p:cNvSpPr/>
          <p:nvPr/>
        </p:nvSpPr>
        <p:spPr>
          <a:xfrm>
            <a:off x="640080" y="2934720"/>
            <a:ext cx="1552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Possui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10" name="Rectangle 14"/>
          <p:cNvSpPr/>
          <p:nvPr/>
        </p:nvSpPr>
        <p:spPr>
          <a:xfrm>
            <a:off x="2166120" y="296676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1" name="Rectangle 15"/>
          <p:cNvSpPr/>
          <p:nvPr/>
        </p:nvSpPr>
        <p:spPr>
          <a:xfrm>
            <a:off x="2166120" y="2966760"/>
            <a:ext cx="78048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2" name="TextBox 16"/>
          <p:cNvSpPr/>
          <p:nvPr/>
        </p:nvSpPr>
        <p:spPr>
          <a:xfrm>
            <a:off x="3026520" y="293472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32 · 34,0%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13" name="TextBox 17"/>
          <p:cNvSpPr/>
          <p:nvPr/>
        </p:nvSpPr>
        <p:spPr>
          <a:xfrm>
            <a:off x="640080" y="3200400"/>
            <a:ext cx="1552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Sem foco em projetos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14" name="Rectangle 18"/>
          <p:cNvSpPr/>
          <p:nvPr/>
        </p:nvSpPr>
        <p:spPr>
          <a:xfrm>
            <a:off x="2166120" y="323208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5" name="Rectangle 19"/>
          <p:cNvSpPr/>
          <p:nvPr/>
        </p:nvSpPr>
        <p:spPr>
          <a:xfrm>
            <a:off x="2166120" y="3232080"/>
            <a:ext cx="65844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6" name="TextBox 20"/>
          <p:cNvSpPr/>
          <p:nvPr/>
        </p:nvSpPr>
        <p:spPr>
          <a:xfrm>
            <a:off x="3026520" y="320040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27 · 28,7%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17" name="TextBox 21"/>
          <p:cNvSpPr/>
          <p:nvPr/>
        </p:nvSpPr>
        <p:spPr>
          <a:xfrm>
            <a:off x="649080" y="3593520"/>
            <a:ext cx="326376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soma: 92 • % sobre base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18" name="Rounded Rectangle 22"/>
          <p:cNvSpPr/>
          <p:nvPr/>
        </p:nvSpPr>
        <p:spPr>
          <a:xfrm>
            <a:off x="4316040" y="1920240"/>
            <a:ext cx="3538080" cy="1901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9" name="TextBox 23"/>
          <p:cNvSpPr/>
          <p:nvPr/>
        </p:nvSpPr>
        <p:spPr>
          <a:xfrm>
            <a:off x="4443840" y="2030040"/>
            <a:ext cx="328212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112c42"/>
                </a:solidFill>
                <a:latin typeface="DejaVu Sans"/>
                <a:ea typeface="DejaVu Sans"/>
              </a:rPr>
              <a:t>Software dedicado — necessidade</a:t>
            </a:r>
            <a:endParaRPr b="0" lang="pt-BR" sz="1300" spc="-1" strike="noStrike">
              <a:latin typeface="Arial"/>
            </a:endParaRPr>
          </a:p>
        </p:txBody>
      </p:sp>
      <p:graphicFrame>
        <p:nvGraphicFramePr>
          <p:cNvPr id="220" name="Chart 24"/>
          <p:cNvGraphicFramePr/>
          <p:nvPr/>
        </p:nvGraphicFramePr>
        <p:xfrm>
          <a:off x="4361760" y="2386440"/>
          <a:ext cx="1306800" cy="122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1" name="Rectangle 25"/>
          <p:cNvSpPr/>
          <p:nvPr/>
        </p:nvSpPr>
        <p:spPr>
          <a:xfrm>
            <a:off x="5724000" y="2455200"/>
            <a:ext cx="90720" cy="90720"/>
          </a:xfrm>
          <a:prstGeom prst="rect">
            <a:avLst/>
          </a:prstGeom>
          <a:solidFill>
            <a:srgbClr val="008b79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2" name="TextBox 26"/>
          <p:cNvSpPr/>
          <p:nvPr/>
        </p:nvSpPr>
        <p:spPr>
          <a:xfrm>
            <a:off x="5870520" y="2432160"/>
            <a:ext cx="188280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DejaVu Sans"/>
                <a:ea typeface="DejaVu Sans"/>
              </a:rPr>
              <a:t>Concordam: 45,7% (43)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223" name="Rectangle 27"/>
          <p:cNvSpPr/>
          <p:nvPr/>
        </p:nvSpPr>
        <p:spPr>
          <a:xfrm>
            <a:off x="5724000" y="2720520"/>
            <a:ext cx="90720" cy="9072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4" name="TextBox 28"/>
          <p:cNvSpPr/>
          <p:nvPr/>
        </p:nvSpPr>
        <p:spPr>
          <a:xfrm>
            <a:off x="5870520" y="2697480"/>
            <a:ext cx="188280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183447"/>
                </a:solidFill>
                <a:latin typeface="DejaVu Sans"/>
                <a:ea typeface="DejaVu Sans"/>
              </a:rPr>
              <a:t>Talvez: 35,1% (33)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225" name="Rectangle 29"/>
          <p:cNvSpPr/>
          <p:nvPr/>
        </p:nvSpPr>
        <p:spPr>
          <a:xfrm>
            <a:off x="5724000" y="2985480"/>
            <a:ext cx="90720" cy="90720"/>
          </a:xfrm>
          <a:prstGeom prst="rect">
            <a:avLst/>
          </a:prstGeom>
          <a:solidFill>
            <a:srgbClr val="af671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6" name="TextBox 30"/>
          <p:cNvSpPr/>
          <p:nvPr/>
        </p:nvSpPr>
        <p:spPr>
          <a:xfrm>
            <a:off x="5870520" y="2962800"/>
            <a:ext cx="188280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183447"/>
                </a:solidFill>
                <a:latin typeface="DejaVu Sans"/>
                <a:ea typeface="DejaVu Sans"/>
              </a:rPr>
              <a:t>Não: 14,9% (14)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227" name="Rectangle 31"/>
          <p:cNvSpPr/>
          <p:nvPr/>
        </p:nvSpPr>
        <p:spPr>
          <a:xfrm>
            <a:off x="5724000" y="3250800"/>
            <a:ext cx="90720" cy="90720"/>
          </a:xfrm>
          <a:prstGeom prst="rect">
            <a:avLst/>
          </a:prstGeom>
          <a:solidFill>
            <a:srgbClr val="a5b5b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8" name="TextBox 32"/>
          <p:cNvSpPr/>
          <p:nvPr/>
        </p:nvSpPr>
        <p:spPr>
          <a:xfrm>
            <a:off x="5870520" y="3227760"/>
            <a:ext cx="188280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183447"/>
                </a:solidFill>
                <a:latin typeface="DejaVu Sans"/>
                <a:ea typeface="DejaVu Sans"/>
              </a:rPr>
              <a:t>Diferença documental: 4,3% (4)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229" name="TextBox 33"/>
          <p:cNvSpPr/>
          <p:nvPr/>
        </p:nvSpPr>
        <p:spPr>
          <a:xfrm>
            <a:off x="4443840" y="3611880"/>
            <a:ext cx="3282120" cy="11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750" spc="-1" strike="noStrike">
                <a:solidFill>
                  <a:srgbClr val="526878"/>
                </a:solidFill>
                <a:latin typeface="DejaVu Sans"/>
                <a:ea typeface="DejaVu Sans"/>
              </a:rPr>
              <a:t>Base 94; diferença de 4 não discriminada na fonte.</a:t>
            </a:r>
            <a:endParaRPr b="0" lang="pt-BR" sz="750" spc="-1" strike="noStrike">
              <a:latin typeface="Arial"/>
            </a:endParaRPr>
          </a:p>
        </p:txBody>
      </p:sp>
      <p:sp>
        <p:nvSpPr>
          <p:cNvPr id="230" name="Rounded Rectangle 34"/>
          <p:cNvSpPr/>
          <p:nvPr/>
        </p:nvSpPr>
        <p:spPr>
          <a:xfrm>
            <a:off x="8129160" y="1920240"/>
            <a:ext cx="3538080" cy="1901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1" name="TextBox 35"/>
          <p:cNvSpPr/>
          <p:nvPr/>
        </p:nvSpPr>
        <p:spPr>
          <a:xfrm>
            <a:off x="8275320" y="2030040"/>
            <a:ext cx="326376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  <a:ea typeface="DejaVu Sans"/>
              </a:rPr>
              <a:t>Satisfação com a solução atual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232" name="TextBox 36"/>
          <p:cNvSpPr/>
          <p:nvPr/>
        </p:nvSpPr>
        <p:spPr>
          <a:xfrm>
            <a:off x="8266320" y="2669400"/>
            <a:ext cx="155268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526878"/>
                </a:solidFill>
                <a:latin typeface="DejaVu Sans"/>
                <a:ea typeface="DejaVu Sans"/>
              </a:rPr>
              <a:t>Pode melhorar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233" name="Rectangle 37"/>
          <p:cNvSpPr/>
          <p:nvPr/>
        </p:nvSpPr>
        <p:spPr>
          <a:xfrm>
            <a:off x="9792360" y="270144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4" name="Rectangle 38"/>
          <p:cNvSpPr/>
          <p:nvPr/>
        </p:nvSpPr>
        <p:spPr>
          <a:xfrm>
            <a:off x="9792360" y="2701440"/>
            <a:ext cx="80496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5" name="TextBox 39"/>
          <p:cNvSpPr/>
          <p:nvPr/>
        </p:nvSpPr>
        <p:spPr>
          <a:xfrm>
            <a:off x="10652760" y="266940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30 · 31,9%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36" name="TextBox 40"/>
          <p:cNvSpPr/>
          <p:nvPr/>
        </p:nvSpPr>
        <p:spPr>
          <a:xfrm>
            <a:off x="8266320" y="2868480"/>
            <a:ext cx="155268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526878"/>
                </a:solidFill>
                <a:latin typeface="DejaVu Sans"/>
                <a:ea typeface="DejaVu Sans"/>
              </a:rPr>
              <a:t>Não temos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237" name="Rectangle 41"/>
          <p:cNvSpPr/>
          <p:nvPr/>
        </p:nvSpPr>
        <p:spPr>
          <a:xfrm>
            <a:off x="9792360" y="290052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8" name="Rectangle 42"/>
          <p:cNvSpPr/>
          <p:nvPr/>
        </p:nvSpPr>
        <p:spPr>
          <a:xfrm>
            <a:off x="9792360" y="2900520"/>
            <a:ext cx="77796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9" name="TextBox 43"/>
          <p:cNvSpPr/>
          <p:nvPr/>
        </p:nvSpPr>
        <p:spPr>
          <a:xfrm>
            <a:off x="10652760" y="286848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29 · 30,9%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40" name="TextBox 44"/>
          <p:cNvSpPr/>
          <p:nvPr/>
        </p:nvSpPr>
        <p:spPr>
          <a:xfrm>
            <a:off x="8266320" y="3067560"/>
            <a:ext cx="155268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526878"/>
                </a:solidFill>
                <a:latin typeface="DejaVu Sans"/>
                <a:ea typeface="DejaVu Sans"/>
              </a:rPr>
              <a:t>Atende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241" name="Rectangle 45"/>
          <p:cNvSpPr/>
          <p:nvPr/>
        </p:nvSpPr>
        <p:spPr>
          <a:xfrm>
            <a:off x="9792360" y="309960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2" name="Rectangle 46"/>
          <p:cNvSpPr/>
          <p:nvPr/>
        </p:nvSpPr>
        <p:spPr>
          <a:xfrm>
            <a:off x="9792360" y="3099600"/>
            <a:ext cx="61704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3" name="TextBox 47"/>
          <p:cNvSpPr/>
          <p:nvPr/>
        </p:nvSpPr>
        <p:spPr>
          <a:xfrm>
            <a:off x="10652760" y="306756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23 · 24,5%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44" name="TextBox 48"/>
          <p:cNvSpPr/>
          <p:nvPr/>
        </p:nvSpPr>
        <p:spPr>
          <a:xfrm>
            <a:off x="8266320" y="3266640"/>
            <a:ext cx="155268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526878"/>
                </a:solidFill>
                <a:latin typeface="DejaVu Sans"/>
                <a:ea typeface="DejaVu Sans"/>
              </a:rPr>
              <a:t>Não é usado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245" name="Rectangle 49"/>
          <p:cNvSpPr/>
          <p:nvPr/>
        </p:nvSpPr>
        <p:spPr>
          <a:xfrm>
            <a:off x="9792360" y="329868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6" name="Rectangle 50"/>
          <p:cNvSpPr/>
          <p:nvPr/>
        </p:nvSpPr>
        <p:spPr>
          <a:xfrm>
            <a:off x="9792360" y="3298680"/>
            <a:ext cx="18720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7" name="TextBox 51"/>
          <p:cNvSpPr/>
          <p:nvPr/>
        </p:nvSpPr>
        <p:spPr>
          <a:xfrm>
            <a:off x="10652760" y="326664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7 · 7,4%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48" name="TextBox 52"/>
          <p:cNvSpPr/>
          <p:nvPr/>
        </p:nvSpPr>
        <p:spPr>
          <a:xfrm>
            <a:off x="8275320" y="3593520"/>
            <a:ext cx="326376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soma: 89 • % sobre base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49" name="Rounded Rectangle 53"/>
          <p:cNvSpPr/>
          <p:nvPr/>
        </p:nvSpPr>
        <p:spPr>
          <a:xfrm>
            <a:off x="502920" y="4005000"/>
            <a:ext cx="3538080" cy="1901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0" name="TextBox 54"/>
          <p:cNvSpPr/>
          <p:nvPr/>
        </p:nvSpPr>
        <p:spPr>
          <a:xfrm>
            <a:off x="649080" y="4114800"/>
            <a:ext cx="326376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  <a:ea typeface="DejaVu Sans"/>
              </a:rPr>
              <a:t>Interface atual é intuitiva?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251" name="TextBox 55"/>
          <p:cNvSpPr/>
          <p:nvPr/>
        </p:nvSpPr>
        <p:spPr>
          <a:xfrm>
            <a:off x="640080" y="4537440"/>
            <a:ext cx="1552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Sem software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52" name="Rectangle 56"/>
          <p:cNvSpPr/>
          <p:nvPr/>
        </p:nvSpPr>
        <p:spPr>
          <a:xfrm>
            <a:off x="2166120" y="456948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3" name="Rectangle 57"/>
          <p:cNvSpPr/>
          <p:nvPr/>
        </p:nvSpPr>
        <p:spPr>
          <a:xfrm>
            <a:off x="2166120" y="4569480"/>
            <a:ext cx="80496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4" name="TextBox 58"/>
          <p:cNvSpPr/>
          <p:nvPr/>
        </p:nvSpPr>
        <p:spPr>
          <a:xfrm>
            <a:off x="3026520" y="453744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29 · 30,9%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55" name="TextBox 59"/>
          <p:cNvSpPr/>
          <p:nvPr/>
        </p:nvSpPr>
        <p:spPr>
          <a:xfrm>
            <a:off x="640080" y="4740120"/>
            <a:ext cx="1552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Sim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56" name="Rectangle 60"/>
          <p:cNvSpPr/>
          <p:nvPr/>
        </p:nvSpPr>
        <p:spPr>
          <a:xfrm>
            <a:off x="2166120" y="477216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7" name="Rectangle 61"/>
          <p:cNvSpPr/>
          <p:nvPr/>
        </p:nvSpPr>
        <p:spPr>
          <a:xfrm>
            <a:off x="2166120" y="4772160"/>
            <a:ext cx="77724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8" name="TextBox 62"/>
          <p:cNvSpPr/>
          <p:nvPr/>
        </p:nvSpPr>
        <p:spPr>
          <a:xfrm>
            <a:off x="3026520" y="474012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28 · 29,8%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59" name="TextBox 63"/>
          <p:cNvSpPr/>
          <p:nvPr/>
        </p:nvSpPr>
        <p:spPr>
          <a:xfrm>
            <a:off x="640080" y="4942800"/>
            <a:ext cx="1552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Mais ou menos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60" name="Rectangle 64"/>
          <p:cNvSpPr/>
          <p:nvPr/>
        </p:nvSpPr>
        <p:spPr>
          <a:xfrm>
            <a:off x="2166120" y="497448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1" name="Rectangle 65"/>
          <p:cNvSpPr/>
          <p:nvPr/>
        </p:nvSpPr>
        <p:spPr>
          <a:xfrm>
            <a:off x="2166120" y="4974480"/>
            <a:ext cx="69372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2" name="TextBox 66"/>
          <p:cNvSpPr/>
          <p:nvPr/>
        </p:nvSpPr>
        <p:spPr>
          <a:xfrm>
            <a:off x="3026520" y="494280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25 · 26,6%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63" name="TextBox 67"/>
          <p:cNvSpPr/>
          <p:nvPr/>
        </p:nvSpPr>
        <p:spPr>
          <a:xfrm>
            <a:off x="640080" y="5145120"/>
            <a:ext cx="1552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Não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64" name="Rectangle 68"/>
          <p:cNvSpPr/>
          <p:nvPr/>
        </p:nvSpPr>
        <p:spPr>
          <a:xfrm>
            <a:off x="2166120" y="517716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5" name="Rectangle 69"/>
          <p:cNvSpPr/>
          <p:nvPr/>
        </p:nvSpPr>
        <p:spPr>
          <a:xfrm>
            <a:off x="2166120" y="5177160"/>
            <a:ext cx="11052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6" name="TextBox 70"/>
          <p:cNvSpPr/>
          <p:nvPr/>
        </p:nvSpPr>
        <p:spPr>
          <a:xfrm>
            <a:off x="3026520" y="514512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4 · 4,3%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67" name="TextBox 71"/>
          <p:cNvSpPr/>
          <p:nvPr/>
        </p:nvSpPr>
        <p:spPr>
          <a:xfrm>
            <a:off x="640080" y="5347800"/>
            <a:ext cx="1552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Absolutamente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68" name="Rectangle 72"/>
          <p:cNvSpPr/>
          <p:nvPr/>
        </p:nvSpPr>
        <p:spPr>
          <a:xfrm>
            <a:off x="2166120" y="537984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9" name="Rectangle 73"/>
          <p:cNvSpPr/>
          <p:nvPr/>
        </p:nvSpPr>
        <p:spPr>
          <a:xfrm>
            <a:off x="2166120" y="5379840"/>
            <a:ext cx="11052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0" name="TextBox 74"/>
          <p:cNvSpPr/>
          <p:nvPr/>
        </p:nvSpPr>
        <p:spPr>
          <a:xfrm>
            <a:off x="3026520" y="534780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4 · 4,3%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71" name="TextBox 75"/>
          <p:cNvSpPr/>
          <p:nvPr/>
        </p:nvSpPr>
        <p:spPr>
          <a:xfrm>
            <a:off x="649080" y="5678280"/>
            <a:ext cx="326376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soma: 90 • % sobre base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72" name="Rounded Rectangle 76"/>
          <p:cNvSpPr/>
          <p:nvPr/>
        </p:nvSpPr>
        <p:spPr>
          <a:xfrm>
            <a:off x="4316040" y="4005000"/>
            <a:ext cx="3538080" cy="1901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3" name="TextBox 77"/>
          <p:cNvSpPr/>
          <p:nvPr/>
        </p:nvSpPr>
        <p:spPr>
          <a:xfrm>
            <a:off x="4462200" y="4114800"/>
            <a:ext cx="326376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  <a:ea typeface="DejaVu Sans"/>
              </a:rPr>
              <a:t>Fluxo de projetos externos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274" name="TextBox 78"/>
          <p:cNvSpPr/>
          <p:nvPr/>
        </p:nvSpPr>
        <p:spPr>
          <a:xfrm>
            <a:off x="4453200" y="4537440"/>
            <a:ext cx="1552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Sim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75" name="Rectangle 79"/>
          <p:cNvSpPr/>
          <p:nvPr/>
        </p:nvSpPr>
        <p:spPr>
          <a:xfrm>
            <a:off x="5979240" y="456948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6" name="Rectangle 80"/>
          <p:cNvSpPr/>
          <p:nvPr/>
        </p:nvSpPr>
        <p:spPr>
          <a:xfrm>
            <a:off x="5979240" y="4569480"/>
            <a:ext cx="80496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7" name="TextBox 81"/>
          <p:cNvSpPr/>
          <p:nvPr/>
        </p:nvSpPr>
        <p:spPr>
          <a:xfrm>
            <a:off x="6839640" y="453744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42 · 44,7%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78" name="TextBox 82"/>
          <p:cNvSpPr/>
          <p:nvPr/>
        </p:nvSpPr>
        <p:spPr>
          <a:xfrm>
            <a:off x="4453200" y="4790520"/>
            <a:ext cx="1552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Não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79" name="Rectangle 83"/>
          <p:cNvSpPr/>
          <p:nvPr/>
        </p:nvSpPr>
        <p:spPr>
          <a:xfrm>
            <a:off x="5979240" y="482256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0" name="Rectangle 84"/>
          <p:cNvSpPr/>
          <p:nvPr/>
        </p:nvSpPr>
        <p:spPr>
          <a:xfrm>
            <a:off x="5979240" y="4822560"/>
            <a:ext cx="40212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1" name="TextBox 85"/>
          <p:cNvSpPr/>
          <p:nvPr/>
        </p:nvSpPr>
        <p:spPr>
          <a:xfrm>
            <a:off x="6839640" y="479052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21 · 22,3%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82" name="TextBox 86"/>
          <p:cNvSpPr/>
          <p:nvPr/>
        </p:nvSpPr>
        <p:spPr>
          <a:xfrm>
            <a:off x="4453200" y="5043960"/>
            <a:ext cx="1552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Quase nunca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83" name="Rectangle 87"/>
          <p:cNvSpPr/>
          <p:nvPr/>
        </p:nvSpPr>
        <p:spPr>
          <a:xfrm>
            <a:off x="5979240" y="507600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4" name="Rectangle 88"/>
          <p:cNvSpPr/>
          <p:nvPr/>
        </p:nvSpPr>
        <p:spPr>
          <a:xfrm>
            <a:off x="5979240" y="5076000"/>
            <a:ext cx="34452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5" name="TextBox 89"/>
          <p:cNvSpPr/>
          <p:nvPr/>
        </p:nvSpPr>
        <p:spPr>
          <a:xfrm>
            <a:off x="6839640" y="504396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18 · 19,1%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86" name="TextBox 90"/>
          <p:cNvSpPr/>
          <p:nvPr/>
        </p:nvSpPr>
        <p:spPr>
          <a:xfrm>
            <a:off x="4453200" y="5297040"/>
            <a:ext cx="1552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Absolutamente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87" name="Rectangle 91"/>
          <p:cNvSpPr/>
          <p:nvPr/>
        </p:nvSpPr>
        <p:spPr>
          <a:xfrm>
            <a:off x="5979240" y="532908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8" name="Rectangle 92"/>
          <p:cNvSpPr/>
          <p:nvPr/>
        </p:nvSpPr>
        <p:spPr>
          <a:xfrm>
            <a:off x="5979240" y="5329080"/>
            <a:ext cx="17208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9" name="TextBox 93"/>
          <p:cNvSpPr/>
          <p:nvPr/>
        </p:nvSpPr>
        <p:spPr>
          <a:xfrm>
            <a:off x="6839640" y="529704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9 · 9,6%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90" name="TextBox 94"/>
          <p:cNvSpPr/>
          <p:nvPr/>
        </p:nvSpPr>
        <p:spPr>
          <a:xfrm>
            <a:off x="4462200" y="5678280"/>
            <a:ext cx="326376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soma: 90 • % sobre base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91" name="Rounded Rectangle 95"/>
          <p:cNvSpPr/>
          <p:nvPr/>
        </p:nvSpPr>
        <p:spPr>
          <a:xfrm>
            <a:off x="8129160" y="4005000"/>
            <a:ext cx="3538080" cy="1901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2" name="TextBox 96"/>
          <p:cNvSpPr/>
          <p:nvPr/>
        </p:nvSpPr>
        <p:spPr>
          <a:xfrm>
            <a:off x="8275320" y="4114800"/>
            <a:ext cx="326376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  <a:ea typeface="DejaVu Sans"/>
              </a:rPr>
              <a:t>Fluxo de projetos internos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293" name="TextBox 97"/>
          <p:cNvSpPr/>
          <p:nvPr/>
        </p:nvSpPr>
        <p:spPr>
          <a:xfrm>
            <a:off x="8266320" y="4537440"/>
            <a:ext cx="1552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Sim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94" name="Rectangle 98"/>
          <p:cNvSpPr/>
          <p:nvPr/>
        </p:nvSpPr>
        <p:spPr>
          <a:xfrm>
            <a:off x="9792360" y="456948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5" name="Rectangle 99"/>
          <p:cNvSpPr/>
          <p:nvPr/>
        </p:nvSpPr>
        <p:spPr>
          <a:xfrm>
            <a:off x="9792360" y="4569480"/>
            <a:ext cx="80496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6" name="TextBox 100"/>
          <p:cNvSpPr/>
          <p:nvPr/>
        </p:nvSpPr>
        <p:spPr>
          <a:xfrm>
            <a:off x="10652760" y="453744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57 · 60,6%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97" name="TextBox 101"/>
          <p:cNvSpPr/>
          <p:nvPr/>
        </p:nvSpPr>
        <p:spPr>
          <a:xfrm>
            <a:off x="8266320" y="4790520"/>
            <a:ext cx="1552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Absolutamente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98" name="Rectangle 102"/>
          <p:cNvSpPr/>
          <p:nvPr/>
        </p:nvSpPr>
        <p:spPr>
          <a:xfrm>
            <a:off x="9792360" y="482256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9" name="Rectangle 103"/>
          <p:cNvSpPr/>
          <p:nvPr/>
        </p:nvSpPr>
        <p:spPr>
          <a:xfrm>
            <a:off x="9792360" y="4822560"/>
            <a:ext cx="22536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0" name="TextBox 104"/>
          <p:cNvSpPr/>
          <p:nvPr/>
        </p:nvSpPr>
        <p:spPr>
          <a:xfrm>
            <a:off x="10652760" y="479052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16 · 17,0%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301" name="TextBox 105"/>
          <p:cNvSpPr/>
          <p:nvPr/>
        </p:nvSpPr>
        <p:spPr>
          <a:xfrm>
            <a:off x="8266320" y="5043960"/>
            <a:ext cx="1552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Não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02" name="Rectangle 106"/>
          <p:cNvSpPr/>
          <p:nvPr/>
        </p:nvSpPr>
        <p:spPr>
          <a:xfrm>
            <a:off x="9792360" y="507600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3" name="Rectangle 107"/>
          <p:cNvSpPr/>
          <p:nvPr/>
        </p:nvSpPr>
        <p:spPr>
          <a:xfrm>
            <a:off x="9792360" y="5076000"/>
            <a:ext cx="12636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4" name="TextBox 108"/>
          <p:cNvSpPr/>
          <p:nvPr/>
        </p:nvSpPr>
        <p:spPr>
          <a:xfrm>
            <a:off x="10652760" y="504396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9 · 9,6%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305" name="TextBox 109"/>
          <p:cNvSpPr/>
          <p:nvPr/>
        </p:nvSpPr>
        <p:spPr>
          <a:xfrm>
            <a:off x="8266320" y="5297040"/>
            <a:ext cx="1552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Quase nunca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06" name="Rectangle 110"/>
          <p:cNvSpPr/>
          <p:nvPr/>
        </p:nvSpPr>
        <p:spPr>
          <a:xfrm>
            <a:off x="9792360" y="532908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7" name="Rectangle 111"/>
          <p:cNvSpPr/>
          <p:nvPr/>
        </p:nvSpPr>
        <p:spPr>
          <a:xfrm>
            <a:off x="9792360" y="5329080"/>
            <a:ext cx="9828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8" name="TextBox 112"/>
          <p:cNvSpPr/>
          <p:nvPr/>
        </p:nvSpPr>
        <p:spPr>
          <a:xfrm>
            <a:off x="10652760" y="529704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7 · 7,4%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309" name="TextBox 113"/>
          <p:cNvSpPr/>
          <p:nvPr/>
        </p:nvSpPr>
        <p:spPr>
          <a:xfrm>
            <a:off x="8275320" y="5678280"/>
            <a:ext cx="326376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soma: 89 • % sobre base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310" name="TextBox 114"/>
          <p:cNvSpPr/>
          <p:nvPr/>
        </p:nvSpPr>
        <p:spPr>
          <a:xfrm>
            <a:off x="548640" y="6099120"/>
            <a:ext cx="11063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7e98"/>
                </a:solidFill>
                <a:latin typeface="DejaVu Sans"/>
                <a:ea typeface="DejaVu Sans"/>
              </a:rPr>
              <a:t>Resposta: organização dedicada, flexibilidade de uso e base de modelagem para contextos internos/externos.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Rectangle 1"/>
          <p:cNvSpPr/>
          <p:nvPr/>
        </p:nvSpPr>
        <p:spPr>
          <a:xfrm>
            <a:off x="0" y="0"/>
            <a:ext cx="12191040" cy="7236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2" name="TextBox 2"/>
          <p:cNvSpPr/>
          <p:nvPr/>
        </p:nvSpPr>
        <p:spPr>
          <a:xfrm>
            <a:off x="502920" y="292680"/>
            <a:ext cx="10057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  <a:ea typeface="DejaVu Sans"/>
              </a:rPr>
              <a:t>05 / DORES → REQUISITOS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13" name="TextBox 3"/>
          <p:cNvSpPr/>
          <p:nvPr/>
        </p:nvSpPr>
        <p:spPr>
          <a:xfrm>
            <a:off x="502920" y="704160"/>
            <a:ext cx="1115496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  <a:ea typeface="DejaVu Sans"/>
              </a:rPr>
              <a:t>Organização e financeiro orientam o núcleo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314" name="TextBox 4"/>
          <p:cNvSpPr/>
          <p:nvPr/>
        </p:nvSpPr>
        <p:spPr>
          <a:xfrm>
            <a:off x="521280" y="1362600"/>
            <a:ext cx="1106352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  <a:ea typeface="DejaVu Sans"/>
              </a:rPr>
              <a:t>Concordância direta = “Sim” + “Absolutamente” • percentuais sobre 94 participantes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15" name="TextBox 5"/>
          <p:cNvSpPr/>
          <p:nvPr/>
        </p:nvSpPr>
        <p:spPr>
          <a:xfrm>
            <a:off x="502920" y="6510600"/>
            <a:ext cx="105148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Fonte: pesquisa SPOT (2026), figuras 9–12. Totais exibidos variam; diferenças constam no guia.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316" name="TextBox 6"/>
          <p:cNvSpPr/>
          <p:nvPr/>
        </p:nvSpPr>
        <p:spPr>
          <a:xfrm>
            <a:off x="11018520" y="6483240"/>
            <a:ext cx="66672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06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17" name="TextBox 7"/>
          <p:cNvSpPr/>
          <p:nvPr/>
        </p:nvSpPr>
        <p:spPr>
          <a:xfrm>
            <a:off x="548640" y="2999160"/>
            <a:ext cx="374868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183447"/>
                </a:solidFill>
                <a:latin typeface="DejaVu Sans"/>
                <a:ea typeface="DejaVu Sans"/>
              </a:rPr>
              <a:t>Dificuldade de organização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318" name="Rectangle 8"/>
          <p:cNvSpPr/>
          <p:nvPr/>
        </p:nvSpPr>
        <p:spPr>
          <a:xfrm>
            <a:off x="4389120" y="2084760"/>
            <a:ext cx="2925360" cy="20052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9" name="TextBox 10"/>
          <p:cNvSpPr/>
          <p:nvPr/>
        </p:nvSpPr>
        <p:spPr>
          <a:xfrm>
            <a:off x="7443360" y="2971800"/>
            <a:ext cx="135288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200" spc="-1" strike="noStrike">
                <a:solidFill>
                  <a:srgbClr val="007e98"/>
                </a:solidFill>
                <a:latin typeface="DejaVu Sans"/>
                <a:ea typeface="DejaVu Sans"/>
              </a:rPr>
              <a:t>63,8%</a:t>
            </a:r>
            <a:endParaRPr b="0" lang="pt-BR" sz="2200" spc="-1" strike="noStrike">
              <a:latin typeface="Arial"/>
            </a:endParaRPr>
          </a:p>
        </p:txBody>
      </p:sp>
      <p:sp>
        <p:nvSpPr>
          <p:cNvPr id="320" name="TextBox 11"/>
          <p:cNvSpPr/>
          <p:nvPr/>
        </p:nvSpPr>
        <p:spPr>
          <a:xfrm>
            <a:off x="7525440" y="2414160"/>
            <a:ext cx="9140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  <a:ea typeface="DejaVu Sans"/>
              </a:rPr>
              <a:t>83/94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321" name="TextBox 12"/>
          <p:cNvSpPr/>
          <p:nvPr/>
        </p:nvSpPr>
        <p:spPr>
          <a:xfrm>
            <a:off x="8823960" y="3054240"/>
            <a:ext cx="27885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600" spc="-1" strike="noStrike">
                <a:solidFill>
                  <a:srgbClr val="183447"/>
                </a:solidFill>
                <a:latin typeface="DejaVu Sans"/>
                <a:ea typeface="DejaVu Sans"/>
              </a:rPr>
              <a:t>Projetos + tarefas + filtros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322" name="TextBox 13"/>
          <p:cNvSpPr/>
          <p:nvPr/>
        </p:nvSpPr>
        <p:spPr>
          <a:xfrm>
            <a:off x="548640" y="2030040"/>
            <a:ext cx="374868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183447"/>
                </a:solidFill>
                <a:latin typeface="DejaVu Sans"/>
                <a:ea typeface="DejaVu Sans"/>
              </a:rPr>
              <a:t>Organização ajuda no faturamento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323" name="Rectangle 14"/>
          <p:cNvSpPr/>
          <p:nvPr/>
        </p:nvSpPr>
        <p:spPr>
          <a:xfrm>
            <a:off x="4389120" y="3054240"/>
            <a:ext cx="2925360" cy="20052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4" name="Rectangle 15"/>
          <p:cNvSpPr/>
          <p:nvPr/>
        </p:nvSpPr>
        <p:spPr>
          <a:xfrm>
            <a:off x="4389120" y="2084760"/>
            <a:ext cx="2583000" cy="200520"/>
          </a:xfrm>
          <a:prstGeom prst="rect">
            <a:avLst/>
          </a:prstGeom>
          <a:solidFill>
            <a:srgbClr val="008b79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5" name="TextBox 16"/>
          <p:cNvSpPr/>
          <p:nvPr/>
        </p:nvSpPr>
        <p:spPr>
          <a:xfrm>
            <a:off x="7443360" y="2002680"/>
            <a:ext cx="135288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200" spc="-1" strike="noStrike">
                <a:solidFill>
                  <a:srgbClr val="008b79"/>
                </a:solidFill>
                <a:latin typeface="DejaVu Sans"/>
                <a:ea typeface="DejaVu Sans"/>
              </a:rPr>
              <a:t>88,3%</a:t>
            </a:r>
            <a:endParaRPr b="0" lang="pt-BR" sz="2200" spc="-1" strike="noStrike">
              <a:latin typeface="Arial"/>
            </a:endParaRPr>
          </a:p>
        </p:txBody>
      </p:sp>
      <p:sp>
        <p:nvSpPr>
          <p:cNvPr id="326" name="TextBox 17"/>
          <p:cNvSpPr/>
          <p:nvPr/>
        </p:nvSpPr>
        <p:spPr>
          <a:xfrm>
            <a:off x="7525440" y="3383280"/>
            <a:ext cx="9140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  <a:ea typeface="DejaVu Sans"/>
              </a:rPr>
              <a:t>60/94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327" name="TextBox 18"/>
          <p:cNvSpPr/>
          <p:nvPr/>
        </p:nvSpPr>
        <p:spPr>
          <a:xfrm>
            <a:off x="8823960" y="2084760"/>
            <a:ext cx="278856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600" spc="-1" strike="noStrike">
                <a:solidFill>
                  <a:srgbClr val="183447"/>
                </a:solidFill>
                <a:latin typeface="DejaVu Sans"/>
                <a:ea typeface="DejaVu Sans"/>
              </a:rPr>
              <a:t>Horas + custos + resultado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328" name="TextBox 19"/>
          <p:cNvSpPr/>
          <p:nvPr/>
        </p:nvSpPr>
        <p:spPr>
          <a:xfrm>
            <a:off x="548640" y="3858840"/>
            <a:ext cx="374868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183447"/>
                </a:solidFill>
                <a:latin typeface="DejaVu Sans"/>
                <a:ea typeface="DejaVu Sans"/>
              </a:rPr>
              <a:t>Dificuldade de alinhamento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329" name="Rectangle 20"/>
          <p:cNvSpPr/>
          <p:nvPr/>
        </p:nvSpPr>
        <p:spPr>
          <a:xfrm>
            <a:off x="4389120" y="3913560"/>
            <a:ext cx="2925360" cy="20052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0" name="Rectangle 21"/>
          <p:cNvSpPr/>
          <p:nvPr/>
        </p:nvSpPr>
        <p:spPr>
          <a:xfrm>
            <a:off x="4389120" y="3913560"/>
            <a:ext cx="1213200" cy="200520"/>
          </a:xfrm>
          <a:prstGeom prst="rect">
            <a:avLst/>
          </a:prstGeom>
          <a:solidFill>
            <a:srgbClr val="6b58a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1" name="TextBox 22"/>
          <p:cNvSpPr/>
          <p:nvPr/>
        </p:nvSpPr>
        <p:spPr>
          <a:xfrm>
            <a:off x="7443360" y="3831480"/>
            <a:ext cx="135288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200" spc="-1" strike="noStrike">
                <a:solidFill>
                  <a:srgbClr val="6b58a8"/>
                </a:solidFill>
                <a:latin typeface="DejaVu Sans"/>
                <a:ea typeface="DejaVu Sans"/>
              </a:rPr>
              <a:t>41,5%</a:t>
            </a:r>
            <a:endParaRPr b="0" lang="pt-BR" sz="2200" spc="-1" strike="noStrike">
              <a:latin typeface="Arial"/>
            </a:endParaRPr>
          </a:p>
        </p:txBody>
      </p:sp>
      <p:sp>
        <p:nvSpPr>
          <p:cNvPr id="332" name="TextBox 23"/>
          <p:cNvSpPr/>
          <p:nvPr/>
        </p:nvSpPr>
        <p:spPr>
          <a:xfrm>
            <a:off x="7525440" y="4242960"/>
            <a:ext cx="9140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  <a:ea typeface="DejaVu Sans"/>
              </a:rPr>
              <a:t>39/94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333" name="TextBox 24"/>
          <p:cNvSpPr/>
          <p:nvPr/>
        </p:nvSpPr>
        <p:spPr>
          <a:xfrm>
            <a:off x="8823960" y="3913560"/>
            <a:ext cx="27885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600" spc="-1" strike="noStrike">
                <a:solidFill>
                  <a:srgbClr val="183447"/>
                </a:solidFill>
                <a:latin typeface="DejaVu Sans"/>
                <a:ea typeface="DejaVu Sans"/>
              </a:rPr>
              <a:t>Equipes + responsáveis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334" name="TextBox 25"/>
          <p:cNvSpPr/>
          <p:nvPr/>
        </p:nvSpPr>
        <p:spPr>
          <a:xfrm>
            <a:off x="548640" y="4718160"/>
            <a:ext cx="374868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183447"/>
                </a:solidFill>
                <a:latin typeface="DejaVu Sans"/>
                <a:ea typeface="DejaVu Sans"/>
              </a:rPr>
              <a:t>Dificuldade de custos adicionais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335" name="Rectangle 26"/>
          <p:cNvSpPr/>
          <p:nvPr/>
        </p:nvSpPr>
        <p:spPr>
          <a:xfrm>
            <a:off x="4389120" y="4773240"/>
            <a:ext cx="2925360" cy="20052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6" name="Rectangle 27"/>
          <p:cNvSpPr/>
          <p:nvPr/>
        </p:nvSpPr>
        <p:spPr>
          <a:xfrm>
            <a:off x="4389120" y="4773240"/>
            <a:ext cx="933120" cy="200520"/>
          </a:xfrm>
          <a:prstGeom prst="rect">
            <a:avLst/>
          </a:prstGeom>
          <a:solidFill>
            <a:srgbClr val="af671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7" name="TextBox 28"/>
          <p:cNvSpPr/>
          <p:nvPr/>
        </p:nvSpPr>
        <p:spPr>
          <a:xfrm>
            <a:off x="7443360" y="4690800"/>
            <a:ext cx="135288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200" spc="-1" strike="noStrike">
                <a:solidFill>
                  <a:srgbClr val="af6714"/>
                </a:solidFill>
                <a:latin typeface="DejaVu Sans"/>
                <a:ea typeface="DejaVu Sans"/>
              </a:rPr>
              <a:t>31,9%</a:t>
            </a:r>
            <a:endParaRPr b="0" lang="pt-BR" sz="2200" spc="-1" strike="noStrike">
              <a:latin typeface="Arial"/>
            </a:endParaRPr>
          </a:p>
        </p:txBody>
      </p:sp>
      <p:sp>
        <p:nvSpPr>
          <p:cNvPr id="338" name="TextBox 29"/>
          <p:cNvSpPr/>
          <p:nvPr/>
        </p:nvSpPr>
        <p:spPr>
          <a:xfrm>
            <a:off x="7525440" y="5102280"/>
            <a:ext cx="9140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  <a:ea typeface="DejaVu Sans"/>
              </a:rPr>
              <a:t>30/94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339" name="TextBox 30"/>
          <p:cNvSpPr/>
          <p:nvPr/>
        </p:nvSpPr>
        <p:spPr>
          <a:xfrm>
            <a:off x="8823960" y="4773240"/>
            <a:ext cx="27885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600" spc="-1" strike="noStrike">
                <a:solidFill>
                  <a:srgbClr val="183447"/>
                </a:solidFill>
                <a:latin typeface="DejaVu Sans"/>
                <a:ea typeface="DejaVu Sans"/>
              </a:rPr>
              <a:t>Despesas + aprovação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340" name="Rounded Rectangle 31"/>
          <p:cNvSpPr/>
          <p:nvPr/>
        </p:nvSpPr>
        <p:spPr>
          <a:xfrm>
            <a:off x="502920" y="5870520"/>
            <a:ext cx="11173320" cy="43812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1" name="TextBox 32"/>
          <p:cNvSpPr/>
          <p:nvPr/>
        </p:nvSpPr>
        <p:spPr>
          <a:xfrm>
            <a:off x="658440" y="5961960"/>
            <a:ext cx="10880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  <a:ea typeface="DejaVu Sans"/>
              </a:rPr>
              <a:t>Percepções justificam requisitos; não comprovam ganho de faturamento causado pelo Spot.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42" name="Rectangle 9"/>
          <p:cNvSpPr/>
          <p:nvPr/>
        </p:nvSpPr>
        <p:spPr>
          <a:xfrm>
            <a:off x="4389120" y="3054240"/>
            <a:ext cx="1866960" cy="20052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Rectangle 1"/>
          <p:cNvSpPr/>
          <p:nvPr/>
        </p:nvSpPr>
        <p:spPr>
          <a:xfrm>
            <a:off x="0" y="0"/>
            <a:ext cx="12191040" cy="7236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4" name="TextBox 2"/>
          <p:cNvSpPr/>
          <p:nvPr/>
        </p:nvSpPr>
        <p:spPr>
          <a:xfrm>
            <a:off x="502920" y="292680"/>
            <a:ext cx="10057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  <a:ea typeface="DejaVu Sans"/>
              </a:rPr>
              <a:t>06 / PESQUISA DE SISTEMAS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45" name="TextBox 3"/>
          <p:cNvSpPr/>
          <p:nvPr/>
        </p:nvSpPr>
        <p:spPr>
          <a:xfrm>
            <a:off x="502920" y="704160"/>
            <a:ext cx="1115496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  <a:ea typeface="DejaVu Sans"/>
              </a:rPr>
              <a:t>Referências do mercado. Recorte da Computécnica.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346" name="TextBox 4"/>
          <p:cNvSpPr/>
          <p:nvPr/>
        </p:nvSpPr>
        <p:spPr>
          <a:xfrm>
            <a:off x="521280" y="1362600"/>
            <a:ext cx="1106352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  <a:ea typeface="DejaVu Sans"/>
              </a:rPr>
              <a:t>Diferencial defendido: adequação das regras e autonomia de evolução, sem alegar exclusividade.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47" name="TextBox 5"/>
          <p:cNvSpPr/>
          <p:nvPr/>
        </p:nvSpPr>
        <p:spPr>
          <a:xfrm>
            <a:off x="502920" y="6510600"/>
            <a:ext cx="105148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Fontes: monografia, estudo de sistemas; páginas oficiais consultadas em 26/10/2026 (URLs no guia e notas).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348" name="TextBox 6"/>
          <p:cNvSpPr/>
          <p:nvPr/>
        </p:nvSpPr>
        <p:spPr>
          <a:xfrm>
            <a:off x="11018520" y="6483240"/>
            <a:ext cx="66672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07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49" name="Rectangle 7"/>
          <p:cNvSpPr/>
          <p:nvPr/>
        </p:nvSpPr>
        <p:spPr>
          <a:xfrm>
            <a:off x="502920" y="1911240"/>
            <a:ext cx="1828080" cy="392400"/>
          </a:xfrm>
          <a:prstGeom prst="rect">
            <a:avLst/>
          </a:prstGeom>
          <a:solidFill>
            <a:srgbClr val="112c42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0" name="TextBox 8"/>
          <p:cNvSpPr/>
          <p:nvPr/>
        </p:nvSpPr>
        <p:spPr>
          <a:xfrm>
            <a:off x="594360" y="1993320"/>
            <a:ext cx="1645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  <a:ea typeface="DejaVu Sans"/>
              </a:rPr>
              <a:t>Referência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51" name="Rectangle 9"/>
          <p:cNvSpPr/>
          <p:nvPr/>
        </p:nvSpPr>
        <p:spPr>
          <a:xfrm>
            <a:off x="2468880" y="1911240"/>
            <a:ext cx="3839760" cy="392400"/>
          </a:xfrm>
          <a:prstGeom prst="rect">
            <a:avLst/>
          </a:prstGeom>
          <a:solidFill>
            <a:srgbClr val="112c42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2" name="TextBox 10"/>
          <p:cNvSpPr/>
          <p:nvPr/>
        </p:nvSpPr>
        <p:spPr>
          <a:xfrm>
            <a:off x="2560320" y="1993320"/>
            <a:ext cx="3656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  <a:ea typeface="DejaVu Sans"/>
              </a:rPr>
              <a:t>Força observada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53" name="Rectangle 11"/>
          <p:cNvSpPr/>
          <p:nvPr/>
        </p:nvSpPr>
        <p:spPr>
          <a:xfrm>
            <a:off x="6602040" y="1911240"/>
            <a:ext cx="5074200" cy="392400"/>
          </a:xfrm>
          <a:prstGeom prst="rect">
            <a:avLst/>
          </a:prstGeom>
          <a:solidFill>
            <a:srgbClr val="112c42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4" name="TextBox 12"/>
          <p:cNvSpPr/>
          <p:nvPr/>
        </p:nvSpPr>
        <p:spPr>
          <a:xfrm>
            <a:off x="6693480" y="1993320"/>
            <a:ext cx="4891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  <a:ea typeface="DejaVu Sans"/>
              </a:rPr>
              <a:t>Recorte do Spot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55" name="Rectangle 13"/>
          <p:cNvSpPr/>
          <p:nvPr/>
        </p:nvSpPr>
        <p:spPr>
          <a:xfrm>
            <a:off x="502920" y="2395800"/>
            <a:ext cx="11173320" cy="356040"/>
          </a:xfrm>
          <a:prstGeom prst="rect">
            <a:avLst/>
          </a:prstGeom>
          <a:solidFill>
            <a:srgbClr val="ffff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6" name="TextBox 14"/>
          <p:cNvSpPr/>
          <p:nvPr/>
        </p:nvSpPr>
        <p:spPr>
          <a:xfrm>
            <a:off x="621720" y="2459880"/>
            <a:ext cx="17366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007e98"/>
                </a:solidFill>
                <a:latin typeface="DejaVu Sans"/>
                <a:ea typeface="DejaVu Sans"/>
              </a:rPr>
              <a:t>Monday.com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57" name="TextBox 15"/>
          <p:cNvSpPr/>
          <p:nvPr/>
        </p:nvSpPr>
        <p:spPr>
          <a:xfrm>
            <a:off x="2560320" y="2459880"/>
            <a:ext cx="38854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Gestão visual e automações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58" name="TextBox 16"/>
          <p:cNvSpPr/>
          <p:nvPr/>
        </p:nvSpPr>
        <p:spPr>
          <a:xfrm>
            <a:off x="6693480" y="2459880"/>
            <a:ext cx="47998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Regras financeiras para o cliente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59" name="Rectangle 17"/>
          <p:cNvSpPr/>
          <p:nvPr/>
        </p:nvSpPr>
        <p:spPr>
          <a:xfrm>
            <a:off x="502920" y="2788920"/>
            <a:ext cx="11173320" cy="356040"/>
          </a:xfrm>
          <a:prstGeom prst="rect">
            <a:avLst/>
          </a:prstGeom>
          <a:solidFill>
            <a:srgbClr val="eaf0f3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0" name="TextBox 18"/>
          <p:cNvSpPr/>
          <p:nvPr/>
        </p:nvSpPr>
        <p:spPr>
          <a:xfrm>
            <a:off x="621720" y="2853000"/>
            <a:ext cx="17366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007e98"/>
                </a:solidFill>
                <a:latin typeface="DejaVu Sans"/>
                <a:ea typeface="DejaVu Sans"/>
              </a:rPr>
              <a:t>Asana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61" name="TextBox 19"/>
          <p:cNvSpPr/>
          <p:nvPr/>
        </p:nvSpPr>
        <p:spPr>
          <a:xfrm>
            <a:off x="2560320" y="2853000"/>
            <a:ext cx="38854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Coordenação de tarefas e projetos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62" name="TextBox 20"/>
          <p:cNvSpPr/>
          <p:nvPr/>
        </p:nvSpPr>
        <p:spPr>
          <a:xfrm>
            <a:off x="6693480" y="2853000"/>
            <a:ext cx="47998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Contrato → horas → resultado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63" name="Rectangle 21"/>
          <p:cNvSpPr/>
          <p:nvPr/>
        </p:nvSpPr>
        <p:spPr>
          <a:xfrm>
            <a:off x="502920" y="3182040"/>
            <a:ext cx="11173320" cy="356040"/>
          </a:xfrm>
          <a:prstGeom prst="rect">
            <a:avLst/>
          </a:prstGeom>
          <a:solidFill>
            <a:srgbClr val="ffff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4" name="TextBox 22"/>
          <p:cNvSpPr/>
          <p:nvPr/>
        </p:nvSpPr>
        <p:spPr>
          <a:xfrm>
            <a:off x="621720" y="3246120"/>
            <a:ext cx="17366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007e98"/>
                </a:solidFill>
                <a:latin typeface="DejaVu Sans"/>
                <a:ea typeface="DejaVu Sans"/>
              </a:rPr>
              <a:t>Jira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65" name="TextBox 23"/>
          <p:cNvSpPr/>
          <p:nvPr/>
        </p:nvSpPr>
        <p:spPr>
          <a:xfrm>
            <a:off x="2560320" y="3246120"/>
            <a:ext cx="38854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Planejamento e acompanhamento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66" name="TextBox 24"/>
          <p:cNvSpPr/>
          <p:nvPr/>
        </p:nvSpPr>
        <p:spPr>
          <a:xfrm>
            <a:off x="6693480" y="3246120"/>
            <a:ext cx="47998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Operação de serviços e custos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67" name="Rectangle 25"/>
          <p:cNvSpPr/>
          <p:nvPr/>
        </p:nvSpPr>
        <p:spPr>
          <a:xfrm>
            <a:off x="502920" y="3575160"/>
            <a:ext cx="11173320" cy="356040"/>
          </a:xfrm>
          <a:prstGeom prst="rect">
            <a:avLst/>
          </a:prstGeom>
          <a:solidFill>
            <a:srgbClr val="eaf0f3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8" name="TextBox 26"/>
          <p:cNvSpPr/>
          <p:nvPr/>
        </p:nvSpPr>
        <p:spPr>
          <a:xfrm>
            <a:off x="621720" y="3639240"/>
            <a:ext cx="17366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007e98"/>
                </a:solidFill>
                <a:latin typeface="DejaVu Sans"/>
                <a:ea typeface="DejaVu Sans"/>
              </a:rPr>
              <a:t>Trello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69" name="TextBox 27"/>
          <p:cNvSpPr/>
          <p:nvPr/>
        </p:nvSpPr>
        <p:spPr>
          <a:xfrm>
            <a:off x="2560320" y="3639240"/>
            <a:ext cx="38854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Organização visual em quadros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70" name="TextBox 28"/>
          <p:cNvSpPr/>
          <p:nvPr/>
        </p:nvSpPr>
        <p:spPr>
          <a:xfrm>
            <a:off x="6693480" y="3639240"/>
            <a:ext cx="47998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Tarifas, despesas e governança no domínio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71" name="Rectangle 29"/>
          <p:cNvSpPr/>
          <p:nvPr/>
        </p:nvSpPr>
        <p:spPr>
          <a:xfrm>
            <a:off x="502920" y="3968640"/>
            <a:ext cx="11173320" cy="356040"/>
          </a:xfrm>
          <a:prstGeom prst="rect">
            <a:avLst/>
          </a:prstGeom>
          <a:solidFill>
            <a:srgbClr val="ffff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72" name="TextBox 30"/>
          <p:cNvSpPr/>
          <p:nvPr/>
        </p:nvSpPr>
        <p:spPr>
          <a:xfrm>
            <a:off x="621720" y="4032360"/>
            <a:ext cx="17366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007e98"/>
                </a:solidFill>
                <a:latin typeface="DejaVu Sans"/>
                <a:ea typeface="DejaVu Sans"/>
              </a:rPr>
              <a:t>ClickUp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73" name="TextBox 31"/>
          <p:cNvSpPr/>
          <p:nvPr/>
        </p:nvSpPr>
        <p:spPr>
          <a:xfrm>
            <a:off x="2560320" y="4032360"/>
            <a:ext cx="38854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Centralização, tempo e dashboards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74" name="TextBox 32"/>
          <p:cNvSpPr/>
          <p:nvPr/>
        </p:nvSpPr>
        <p:spPr>
          <a:xfrm>
            <a:off x="6693480" y="4032360"/>
            <a:ext cx="47998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Modelo específico em código próprio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75" name="Rectangle 33"/>
          <p:cNvSpPr/>
          <p:nvPr/>
        </p:nvSpPr>
        <p:spPr>
          <a:xfrm>
            <a:off x="502920" y="4361760"/>
            <a:ext cx="11173320" cy="356040"/>
          </a:xfrm>
          <a:prstGeom prst="rect">
            <a:avLst/>
          </a:prstGeom>
          <a:solidFill>
            <a:srgbClr val="eaf0f3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76" name="TextBox 34"/>
          <p:cNvSpPr/>
          <p:nvPr/>
        </p:nvSpPr>
        <p:spPr>
          <a:xfrm>
            <a:off x="621720" y="4425840"/>
            <a:ext cx="17366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007e98"/>
                </a:solidFill>
                <a:latin typeface="DejaVu Sans"/>
                <a:ea typeface="DejaVu Sans"/>
              </a:rPr>
              <a:t>Notion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77" name="TextBox 35"/>
          <p:cNvSpPr/>
          <p:nvPr/>
        </p:nvSpPr>
        <p:spPr>
          <a:xfrm>
            <a:off x="2560320" y="4425840"/>
            <a:ext cx="38854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Documentos e bases configuráveis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78" name="TextBox 36"/>
          <p:cNvSpPr/>
          <p:nvPr/>
        </p:nvSpPr>
        <p:spPr>
          <a:xfrm>
            <a:off x="6693480" y="4425840"/>
            <a:ext cx="47998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Regras transacionais explícitas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79" name="Rounded Rectangle 38"/>
          <p:cNvSpPr/>
          <p:nvPr/>
        </p:nvSpPr>
        <p:spPr>
          <a:xfrm>
            <a:off x="502920" y="5870520"/>
            <a:ext cx="11173320" cy="43812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80" name="TextBox 39"/>
          <p:cNvSpPr/>
          <p:nvPr/>
        </p:nvSpPr>
        <p:spPr>
          <a:xfrm>
            <a:off x="658440" y="5961960"/>
            <a:ext cx="10880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  <a:ea typeface="DejaVu Sans"/>
              </a:rPr>
              <a:t>Código próprio permite adaptação e hospedagem própria; não elimina custo de operação ou manutenção.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Rectangle 1"/>
          <p:cNvSpPr/>
          <p:nvPr/>
        </p:nvSpPr>
        <p:spPr>
          <a:xfrm>
            <a:off x="0" y="0"/>
            <a:ext cx="12191040" cy="7236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82" name="TextBox 2"/>
          <p:cNvSpPr/>
          <p:nvPr/>
        </p:nvSpPr>
        <p:spPr>
          <a:xfrm>
            <a:off x="502920" y="292680"/>
            <a:ext cx="10057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  <a:ea typeface="DejaVu Sans"/>
              </a:rPr>
              <a:t>07 / SUGESTÕES ABERTAS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83" name="TextBox 3"/>
          <p:cNvSpPr/>
          <p:nvPr/>
        </p:nvSpPr>
        <p:spPr>
          <a:xfrm>
            <a:off x="502920" y="704160"/>
            <a:ext cx="1115496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  <a:ea typeface="DejaVu Sans"/>
              </a:rPr>
              <a:t>Do pedido à entrega — com escopo explícito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384" name="TextBox 4"/>
          <p:cNvSpPr/>
          <p:nvPr/>
        </p:nvSpPr>
        <p:spPr>
          <a:xfrm>
            <a:off x="521280" y="1362600"/>
            <a:ext cx="1106352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  <a:ea typeface="DejaVu Sans"/>
              </a:rPr>
              <a:t>57 comentários declarados • tabela publicada: 49 frequências • temas não são depoimentos literais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85" name="TextBox 5"/>
          <p:cNvSpPr/>
          <p:nvPr/>
        </p:nvSpPr>
        <p:spPr>
          <a:xfrm>
            <a:off x="502920" y="6510600"/>
            <a:ext cx="105148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Fonte: pesquisa SPOT (2026), tabela 1; código atual. Frequências não equivalem a uma distribuição completa.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386" name="TextBox 6"/>
          <p:cNvSpPr/>
          <p:nvPr/>
        </p:nvSpPr>
        <p:spPr>
          <a:xfrm>
            <a:off x="11018520" y="6483240"/>
            <a:ext cx="66672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08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87" name="Rounded Rectangle 7"/>
          <p:cNvSpPr/>
          <p:nvPr/>
        </p:nvSpPr>
        <p:spPr>
          <a:xfrm>
            <a:off x="502920" y="1984320"/>
            <a:ext cx="11173320" cy="410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88" name="TextBox 8"/>
          <p:cNvSpPr/>
          <p:nvPr/>
        </p:nvSpPr>
        <p:spPr>
          <a:xfrm>
            <a:off x="640080" y="2057400"/>
            <a:ext cx="21938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Interface simples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89" name="TextBox 9"/>
          <p:cNvSpPr/>
          <p:nvPr/>
        </p:nvSpPr>
        <p:spPr>
          <a:xfrm>
            <a:off x="2834640" y="2057400"/>
            <a:ext cx="45648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007e98"/>
                </a:solidFill>
                <a:latin typeface="DejaVu Sans"/>
                <a:ea typeface="DejaVu Sans"/>
              </a:rPr>
              <a:t>12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390" name="TextBox 10"/>
          <p:cNvSpPr/>
          <p:nvPr/>
        </p:nvSpPr>
        <p:spPr>
          <a:xfrm>
            <a:off x="3456360" y="2057400"/>
            <a:ext cx="47541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Tutorial, temas e navegação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91" name="TextBox 11"/>
          <p:cNvSpPr/>
          <p:nvPr/>
        </p:nvSpPr>
        <p:spPr>
          <a:xfrm>
            <a:off x="8641080" y="2057400"/>
            <a:ext cx="2833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8b79"/>
                </a:solidFill>
                <a:latin typeface="DejaVu Sans"/>
                <a:ea typeface="DejaVu Sans"/>
              </a:rPr>
              <a:t>Implementado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92" name="Rounded Rectangle 12"/>
          <p:cNvSpPr/>
          <p:nvPr/>
        </p:nvSpPr>
        <p:spPr>
          <a:xfrm>
            <a:off x="502920" y="2523600"/>
            <a:ext cx="11173320" cy="410760"/>
          </a:xfrm>
          <a:prstGeom prst="roundRect">
            <a:avLst>
              <a:gd name="adj" fmla="val 8000"/>
            </a:avLst>
          </a:prstGeom>
          <a:solidFill>
            <a:srgbClr val="eaf0f3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3" name="TextBox 13"/>
          <p:cNvSpPr/>
          <p:nvPr/>
        </p:nvSpPr>
        <p:spPr>
          <a:xfrm>
            <a:off x="640080" y="2597040"/>
            <a:ext cx="21938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Financeiro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94" name="TextBox 14"/>
          <p:cNvSpPr/>
          <p:nvPr/>
        </p:nvSpPr>
        <p:spPr>
          <a:xfrm>
            <a:off x="2834640" y="2597040"/>
            <a:ext cx="45648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007e98"/>
                </a:solidFill>
                <a:latin typeface="DejaVu Sans"/>
                <a:ea typeface="DejaVu Sans"/>
              </a:rPr>
              <a:t>6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395" name="TextBox 15"/>
          <p:cNvSpPr/>
          <p:nvPr/>
        </p:nvSpPr>
        <p:spPr>
          <a:xfrm>
            <a:off x="3456360" y="2597040"/>
            <a:ext cx="47541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Horas, tarifas, despesas e resultado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96" name="TextBox 16"/>
          <p:cNvSpPr/>
          <p:nvPr/>
        </p:nvSpPr>
        <p:spPr>
          <a:xfrm>
            <a:off x="8641080" y="2597040"/>
            <a:ext cx="2833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8b79"/>
                </a:solidFill>
                <a:latin typeface="DejaVu Sans"/>
                <a:ea typeface="DejaVu Sans"/>
              </a:rPr>
              <a:t>Implementado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97" name="Rounded Rectangle 17"/>
          <p:cNvSpPr/>
          <p:nvPr/>
        </p:nvSpPr>
        <p:spPr>
          <a:xfrm>
            <a:off x="502920" y="3063240"/>
            <a:ext cx="11173320" cy="410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8" name="TextBox 18"/>
          <p:cNvSpPr/>
          <p:nvPr/>
        </p:nvSpPr>
        <p:spPr>
          <a:xfrm>
            <a:off x="640080" y="3136320"/>
            <a:ext cx="21938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Integrações/e-mail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99" name="TextBox 19"/>
          <p:cNvSpPr/>
          <p:nvPr/>
        </p:nvSpPr>
        <p:spPr>
          <a:xfrm>
            <a:off x="2834640" y="3136320"/>
            <a:ext cx="45648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007e98"/>
                </a:solidFill>
                <a:latin typeface="DejaVu Sans"/>
                <a:ea typeface="DejaVu Sans"/>
              </a:rPr>
              <a:t>6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00" name="TextBox 20"/>
          <p:cNvSpPr/>
          <p:nvPr/>
        </p:nvSpPr>
        <p:spPr>
          <a:xfrm>
            <a:off x="3456360" y="3136320"/>
            <a:ext cx="47541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OAuth, agenda e e-mails de atividade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01" name="TextBox 21"/>
          <p:cNvSpPr/>
          <p:nvPr/>
        </p:nvSpPr>
        <p:spPr>
          <a:xfrm>
            <a:off x="8641080" y="3136320"/>
            <a:ext cx="2833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8b79"/>
                </a:solidFill>
                <a:latin typeface="DejaVu Sans"/>
                <a:ea typeface="DejaVu Sans"/>
              </a:rPr>
              <a:t>Implementado / configurável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402" name="Rounded Rectangle 22"/>
          <p:cNvSpPr/>
          <p:nvPr/>
        </p:nvSpPr>
        <p:spPr>
          <a:xfrm>
            <a:off x="502920" y="3602880"/>
            <a:ext cx="11173320" cy="410760"/>
          </a:xfrm>
          <a:prstGeom prst="roundRect">
            <a:avLst>
              <a:gd name="adj" fmla="val 8000"/>
            </a:avLst>
          </a:prstGeom>
          <a:solidFill>
            <a:srgbClr val="eaf0f3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03" name="TextBox 23"/>
          <p:cNvSpPr/>
          <p:nvPr/>
        </p:nvSpPr>
        <p:spPr>
          <a:xfrm>
            <a:off x="640080" y="3675960"/>
            <a:ext cx="21938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Dashboards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04" name="TextBox 24"/>
          <p:cNvSpPr/>
          <p:nvPr/>
        </p:nvSpPr>
        <p:spPr>
          <a:xfrm>
            <a:off x="2834640" y="3675960"/>
            <a:ext cx="45648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007e98"/>
                </a:solidFill>
                <a:latin typeface="DejaVu Sans"/>
                <a:ea typeface="DejaVu Sans"/>
              </a:rPr>
              <a:t>5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05" name="TextBox 25"/>
          <p:cNvSpPr/>
          <p:nvPr/>
        </p:nvSpPr>
        <p:spPr>
          <a:xfrm>
            <a:off x="3456360" y="3675960"/>
            <a:ext cx="47541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Portfólio, CSV e atualização automática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06" name="TextBox 26"/>
          <p:cNvSpPr/>
          <p:nvPr/>
        </p:nvSpPr>
        <p:spPr>
          <a:xfrm>
            <a:off x="8641080" y="3675960"/>
            <a:ext cx="2833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8b79"/>
                </a:solidFill>
                <a:latin typeface="DejaVu Sans"/>
                <a:ea typeface="DejaVu Sans"/>
              </a:rPr>
              <a:t>Implementado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407" name="Rounded Rectangle 27"/>
          <p:cNvSpPr/>
          <p:nvPr/>
        </p:nvSpPr>
        <p:spPr>
          <a:xfrm>
            <a:off x="502920" y="4142160"/>
            <a:ext cx="11173320" cy="410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08" name="TextBox 28"/>
          <p:cNvSpPr/>
          <p:nvPr/>
        </p:nvSpPr>
        <p:spPr>
          <a:xfrm>
            <a:off x="640080" y="4215240"/>
            <a:ext cx="21938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Tarefas/agenda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09" name="TextBox 29"/>
          <p:cNvSpPr/>
          <p:nvPr/>
        </p:nvSpPr>
        <p:spPr>
          <a:xfrm>
            <a:off x="2834640" y="4215240"/>
            <a:ext cx="45648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007e98"/>
                </a:solidFill>
                <a:latin typeface="DejaVu Sans"/>
                <a:ea typeface="DejaVu Sans"/>
              </a:rPr>
              <a:t>5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10" name="TextBox 30"/>
          <p:cNvSpPr/>
          <p:nvPr/>
        </p:nvSpPr>
        <p:spPr>
          <a:xfrm>
            <a:off x="3456360" y="4215240"/>
            <a:ext cx="47541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Visões, agenda e lembretes automáticos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11" name="TextBox 31"/>
          <p:cNvSpPr/>
          <p:nvPr/>
        </p:nvSpPr>
        <p:spPr>
          <a:xfrm>
            <a:off x="8641080" y="4215240"/>
            <a:ext cx="2833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8b79"/>
                </a:solidFill>
                <a:latin typeface="DejaVu Sans"/>
                <a:ea typeface="DejaVu Sans"/>
              </a:rPr>
              <a:t>Implementado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412" name="Rounded Rectangle 37"/>
          <p:cNvSpPr/>
          <p:nvPr/>
        </p:nvSpPr>
        <p:spPr>
          <a:xfrm>
            <a:off x="502920" y="5870520"/>
            <a:ext cx="11173320" cy="43812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13" name="TextBox 38"/>
          <p:cNvSpPr/>
          <p:nvPr/>
        </p:nvSpPr>
        <p:spPr>
          <a:xfrm>
            <a:off x="658440" y="5961960"/>
            <a:ext cx="10880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  <a:ea typeface="DejaVu Sans"/>
              </a:rPr>
              <a:t>Recorte funcional da pesquisa • painel atualiza a cada 30 s • e-mail externo exige SMTP e ativação.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Rectangle 1"/>
          <p:cNvSpPr/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00869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5" name="TextBox 2"/>
          <p:cNvSpPr/>
          <p:nvPr/>
        </p:nvSpPr>
        <p:spPr>
          <a:xfrm>
            <a:off x="548640" y="292680"/>
            <a:ext cx="109724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100" spc="-1" strike="noStrike">
                <a:solidFill>
                  <a:srgbClr val="00869c"/>
                </a:solidFill>
                <a:latin typeface="Aptos"/>
              </a:rPr>
              <a:t>09 / FLUXO TÉCNICO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416" name="TextBox 3"/>
          <p:cNvSpPr/>
          <p:nvPr/>
        </p:nvSpPr>
        <p:spPr>
          <a:xfrm>
            <a:off x="548640" y="731520"/>
            <a:ext cx="110638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2800" spc="-1" strike="noStrike">
                <a:solidFill>
                  <a:srgbClr val="123044"/>
                </a:solidFill>
                <a:latin typeface="Aptos"/>
              </a:rPr>
              <a:t>Da interação ao dado, ao indicador e ao aviso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417" name="TextBox 4"/>
          <p:cNvSpPr/>
          <p:nvPr/>
        </p:nvSpPr>
        <p:spPr>
          <a:xfrm>
            <a:off x="548640" y="1426320"/>
            <a:ext cx="109724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526d80"/>
                </a:solidFill>
                <a:latin typeface="Aptos"/>
              </a:rPr>
              <a:t>Núcleo integrado em Laravel; interface React e processos de apoio com responsabilidades definidas.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18" name="TextBox 5"/>
          <p:cNvSpPr/>
          <p:nvPr/>
        </p:nvSpPr>
        <p:spPr>
          <a:xfrm>
            <a:off x="548640" y="6510600"/>
            <a:ext cx="10058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800" spc="-1" strike="noStrike">
                <a:solidFill>
                  <a:srgbClr val="526d80"/>
                </a:solidFill>
                <a:latin typeface="Aptos"/>
              </a:rPr>
              <a:t>Fonte: código local do Spot • revisão 28/10/2026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419" name="TextBox 6"/>
          <p:cNvSpPr/>
          <p:nvPr/>
        </p:nvSpPr>
        <p:spPr>
          <a:xfrm>
            <a:off x="11064240" y="6483240"/>
            <a:ext cx="5940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000" spc="-1" strike="noStrike">
                <a:solidFill>
                  <a:srgbClr val="526d80"/>
                </a:solidFill>
                <a:latin typeface="Aptos"/>
              </a:rPr>
              <a:t>10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420" name="Rounded Rectangle 7"/>
          <p:cNvSpPr/>
          <p:nvPr/>
        </p:nvSpPr>
        <p:spPr>
          <a:xfrm>
            <a:off x="548640" y="2030040"/>
            <a:ext cx="2559960" cy="1234080"/>
          </a:xfrm>
          <a:prstGeom prst="roundRect">
            <a:avLst>
              <a:gd name="adj" fmla="val 16667"/>
            </a:avLst>
          </a:prstGeom>
          <a:solidFill>
            <a:srgbClr val="1230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1" name="TextBox 8"/>
          <p:cNvSpPr/>
          <p:nvPr/>
        </p:nvSpPr>
        <p:spPr>
          <a:xfrm>
            <a:off x="685800" y="2176200"/>
            <a:ext cx="228564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1  React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22" name="TextBox 9"/>
          <p:cNvSpPr/>
          <p:nvPr/>
        </p:nvSpPr>
        <p:spPr>
          <a:xfrm>
            <a:off x="685800" y="2642760"/>
            <a:ext cx="22856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300" spc="-1" strike="noStrike">
                <a:solidFill>
                  <a:srgbClr val="dce8ee"/>
                </a:solidFill>
                <a:latin typeface="Aptos"/>
              </a:rPr>
              <a:t>Telas, formulários e filtros</a:t>
            </a:r>
            <a:endParaRPr b="0" lang="pt-BR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300" spc="-1" strike="noStrike">
                <a:solidFill>
                  <a:srgbClr val="dce8ee"/>
                </a:solidFill>
                <a:latin typeface="Aptos"/>
              </a:rPr>
              <a:t>Envia a requisição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23" name="TextBox 10"/>
          <p:cNvSpPr/>
          <p:nvPr/>
        </p:nvSpPr>
        <p:spPr>
          <a:xfrm>
            <a:off x="3145680" y="2487240"/>
            <a:ext cx="23724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900" spc="-1" strike="noStrike">
                <a:solidFill>
                  <a:srgbClr val="00869c"/>
                </a:solidFill>
                <a:latin typeface="Aptos"/>
              </a:rPr>
              <a:t>→</a:t>
            </a:r>
            <a:endParaRPr b="0" lang="pt-BR" sz="1900" spc="-1" strike="noStrike">
              <a:latin typeface="Arial"/>
            </a:endParaRPr>
          </a:p>
        </p:txBody>
      </p:sp>
      <p:sp>
        <p:nvSpPr>
          <p:cNvPr id="424" name="Rounded Rectangle 11"/>
          <p:cNvSpPr/>
          <p:nvPr/>
        </p:nvSpPr>
        <p:spPr>
          <a:xfrm>
            <a:off x="3383280" y="2030040"/>
            <a:ext cx="2559960" cy="1234080"/>
          </a:xfrm>
          <a:prstGeom prst="roundRect">
            <a:avLst>
              <a:gd name="adj" fmla="val 16667"/>
            </a:avLst>
          </a:prstGeom>
          <a:solidFill>
            <a:srgbClr val="1230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5" name="TextBox 12"/>
          <p:cNvSpPr/>
          <p:nvPr/>
        </p:nvSpPr>
        <p:spPr>
          <a:xfrm>
            <a:off x="3520440" y="2176200"/>
            <a:ext cx="228564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2  API Laravel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26" name="TextBox 13"/>
          <p:cNvSpPr/>
          <p:nvPr/>
        </p:nvSpPr>
        <p:spPr>
          <a:xfrm>
            <a:off x="3520440" y="2642760"/>
            <a:ext cx="22856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300" spc="-1" strike="noStrike">
                <a:solidFill>
                  <a:srgbClr val="dce8ee"/>
                </a:solidFill>
                <a:latin typeface="Aptos"/>
              </a:rPr>
              <a:t>Sessão e permissões</a:t>
            </a:r>
            <a:endParaRPr b="0" lang="pt-BR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300" spc="-1" strike="noStrike">
                <a:solidFill>
                  <a:srgbClr val="dce8ee"/>
                </a:solidFill>
                <a:latin typeface="Aptos"/>
              </a:rPr>
              <a:t>Valida os dados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27" name="TextBox 14"/>
          <p:cNvSpPr/>
          <p:nvPr/>
        </p:nvSpPr>
        <p:spPr>
          <a:xfrm>
            <a:off x="5980320" y="2487240"/>
            <a:ext cx="23724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900" spc="-1" strike="noStrike">
                <a:solidFill>
                  <a:srgbClr val="00869c"/>
                </a:solidFill>
                <a:latin typeface="Aptos"/>
              </a:rPr>
              <a:t>→</a:t>
            </a:r>
            <a:endParaRPr b="0" lang="pt-BR" sz="1900" spc="-1" strike="noStrike">
              <a:latin typeface="Arial"/>
            </a:endParaRPr>
          </a:p>
        </p:txBody>
      </p:sp>
      <p:sp>
        <p:nvSpPr>
          <p:cNvPr id="428" name="Rounded Rectangle 15"/>
          <p:cNvSpPr/>
          <p:nvPr/>
        </p:nvSpPr>
        <p:spPr>
          <a:xfrm>
            <a:off x="6217920" y="2030040"/>
            <a:ext cx="2559960" cy="1234080"/>
          </a:xfrm>
          <a:prstGeom prst="roundRect">
            <a:avLst>
              <a:gd name="adj" fmla="val 16667"/>
            </a:avLst>
          </a:prstGeom>
          <a:solidFill>
            <a:srgbClr val="1230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9" name="TextBox 16"/>
          <p:cNvSpPr/>
          <p:nvPr/>
        </p:nvSpPr>
        <p:spPr>
          <a:xfrm>
            <a:off x="6355080" y="2176200"/>
            <a:ext cx="22856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400" spc="-1" strike="noStrike">
                <a:solidFill>
                  <a:srgbClr val="ffffff"/>
                </a:solidFill>
                <a:latin typeface="Aptos"/>
              </a:rPr>
              <a:t>3  Domínio + Eloquent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30" name="TextBox 17"/>
          <p:cNvSpPr/>
          <p:nvPr/>
        </p:nvSpPr>
        <p:spPr>
          <a:xfrm>
            <a:off x="6355080" y="2642760"/>
            <a:ext cx="22856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300" spc="-1" strike="noStrike">
                <a:solidFill>
                  <a:srgbClr val="dce8ee"/>
                </a:solidFill>
                <a:latin typeface="Aptos"/>
              </a:rPr>
              <a:t>Regras e transações</a:t>
            </a:r>
            <a:endParaRPr b="0" lang="pt-BR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300" spc="-1" strike="noStrike">
                <a:solidFill>
                  <a:srgbClr val="dce8ee"/>
                </a:solidFill>
                <a:latin typeface="Aptos"/>
              </a:rPr>
              <a:t>Tarifas, custos e auditoria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31" name="TextBox 18"/>
          <p:cNvSpPr/>
          <p:nvPr/>
        </p:nvSpPr>
        <p:spPr>
          <a:xfrm>
            <a:off x="8814960" y="2487240"/>
            <a:ext cx="23724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900" spc="-1" strike="noStrike">
                <a:solidFill>
                  <a:srgbClr val="00869c"/>
                </a:solidFill>
                <a:latin typeface="Aptos"/>
              </a:rPr>
              <a:t>→</a:t>
            </a:r>
            <a:endParaRPr b="0" lang="pt-BR" sz="1900" spc="-1" strike="noStrike">
              <a:latin typeface="Arial"/>
            </a:endParaRPr>
          </a:p>
        </p:txBody>
      </p:sp>
      <p:sp>
        <p:nvSpPr>
          <p:cNvPr id="432" name="Rounded Rectangle 19"/>
          <p:cNvSpPr/>
          <p:nvPr/>
        </p:nvSpPr>
        <p:spPr>
          <a:xfrm>
            <a:off x="9052560" y="2030040"/>
            <a:ext cx="2559960" cy="1234080"/>
          </a:xfrm>
          <a:prstGeom prst="roundRect">
            <a:avLst>
              <a:gd name="adj" fmla="val 16667"/>
            </a:avLst>
          </a:prstGeom>
          <a:solidFill>
            <a:srgbClr val="1230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3" name="TextBox 20"/>
          <p:cNvSpPr/>
          <p:nvPr/>
        </p:nvSpPr>
        <p:spPr>
          <a:xfrm>
            <a:off x="9189720" y="2176200"/>
            <a:ext cx="228564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4  PostgreSQL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34" name="TextBox 21"/>
          <p:cNvSpPr/>
          <p:nvPr/>
        </p:nvSpPr>
        <p:spPr>
          <a:xfrm>
            <a:off x="9189720" y="2642760"/>
            <a:ext cx="22856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300" spc="-1" strike="noStrike">
                <a:solidFill>
                  <a:srgbClr val="dce8ee"/>
                </a:solidFill>
                <a:latin typeface="Aptos"/>
              </a:rPr>
              <a:t>Persiste os registros</a:t>
            </a:r>
            <a:endParaRPr b="0" lang="pt-BR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300" spc="-1" strike="noStrike">
                <a:solidFill>
                  <a:srgbClr val="dce8ee"/>
                </a:solidFill>
                <a:latin typeface="Aptos"/>
              </a:rPr>
              <a:t>Relaciona os dados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35" name="Rounded Rectangle 22"/>
          <p:cNvSpPr/>
          <p:nvPr/>
        </p:nvSpPr>
        <p:spPr>
          <a:xfrm>
            <a:off x="548640" y="3438000"/>
            <a:ext cx="11082240" cy="392760"/>
          </a:xfrm>
          <a:prstGeom prst="roundRect">
            <a:avLst>
              <a:gd name="adj" fmla="val 16667"/>
            </a:avLst>
          </a:prstGeom>
          <a:solidFill>
            <a:srgbClr val="e3ed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6" name="TextBox 23"/>
          <p:cNvSpPr/>
          <p:nvPr/>
        </p:nvSpPr>
        <p:spPr>
          <a:xfrm>
            <a:off x="704160" y="3520440"/>
            <a:ext cx="1078956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300" spc="-1" strike="noStrike">
                <a:solidFill>
                  <a:srgbClr val="123044"/>
                </a:solidFill>
                <a:latin typeface="Aptos"/>
              </a:rPr>
              <a:t>Retorno: PostgreSQL → Laravel → JSON → React atualiza a tela e os indicadores.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37" name="Rounded Rectangle 24"/>
          <p:cNvSpPr/>
          <p:nvPr/>
        </p:nvSpPr>
        <p:spPr>
          <a:xfrm>
            <a:off x="548640" y="4050720"/>
            <a:ext cx="3547440" cy="1572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8" name="Rectangle 25"/>
          <p:cNvSpPr/>
          <p:nvPr/>
        </p:nvSpPr>
        <p:spPr>
          <a:xfrm>
            <a:off x="548640" y="4050720"/>
            <a:ext cx="40680" cy="1572480"/>
          </a:xfrm>
          <a:prstGeom prst="rect">
            <a:avLst/>
          </a:prstGeom>
          <a:solidFill>
            <a:srgbClr val="00869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9" name="TextBox 26"/>
          <p:cNvSpPr/>
          <p:nvPr/>
        </p:nvSpPr>
        <p:spPr>
          <a:xfrm>
            <a:off x="704160" y="4206240"/>
            <a:ext cx="321840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700" spc="-1" strike="noStrike">
                <a:solidFill>
                  <a:srgbClr val="00869c"/>
                </a:solidFill>
                <a:latin typeface="Aptos"/>
              </a:rPr>
              <a:t>Indicadores • Python + Pandas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40" name="TextBox 27"/>
          <p:cNvSpPr/>
          <p:nvPr/>
        </p:nvSpPr>
        <p:spPr>
          <a:xfrm>
            <a:off x="704160" y="4736520"/>
            <a:ext cx="3218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Laravel envia JSON → Pandas agrega → devolve JSON. O script não acessa o banco diretamente.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41" name="Rounded Rectangle 28"/>
          <p:cNvSpPr/>
          <p:nvPr/>
        </p:nvSpPr>
        <p:spPr>
          <a:xfrm>
            <a:off x="4316040" y="4050720"/>
            <a:ext cx="3547440" cy="1572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2" name="Rectangle 29"/>
          <p:cNvSpPr/>
          <p:nvPr/>
        </p:nvSpPr>
        <p:spPr>
          <a:xfrm>
            <a:off x="4316040" y="4050720"/>
            <a:ext cx="40680" cy="1572480"/>
          </a:xfrm>
          <a:prstGeom prst="rect">
            <a:avLst/>
          </a:prstGeom>
          <a:solidFill>
            <a:srgbClr val="00869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3" name="TextBox 30"/>
          <p:cNvSpPr/>
          <p:nvPr/>
        </p:nvSpPr>
        <p:spPr>
          <a:xfrm>
            <a:off x="4471560" y="4206240"/>
            <a:ext cx="32184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700" spc="-1" strike="noStrike">
                <a:solidFill>
                  <a:srgbClr val="00869c"/>
                </a:solidFill>
                <a:latin typeface="Aptos"/>
              </a:rPr>
              <a:t>E-mails • fila + worker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44" name="TextBox 31"/>
          <p:cNvSpPr/>
          <p:nvPr/>
        </p:nvSpPr>
        <p:spPr>
          <a:xfrm>
            <a:off x="4471560" y="4736520"/>
            <a:ext cx="3218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Convite/ativação → fila → validação do link → transporte SMTP configurado; retentativas.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45" name="Rounded Rectangle 32"/>
          <p:cNvSpPr/>
          <p:nvPr/>
        </p:nvSpPr>
        <p:spPr>
          <a:xfrm>
            <a:off x="8083440" y="4050720"/>
            <a:ext cx="3547440" cy="1572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6" name="Rectangle 33"/>
          <p:cNvSpPr/>
          <p:nvPr/>
        </p:nvSpPr>
        <p:spPr>
          <a:xfrm>
            <a:off x="8083440" y="4050720"/>
            <a:ext cx="40680" cy="1572480"/>
          </a:xfrm>
          <a:prstGeom prst="rect">
            <a:avLst/>
          </a:prstGeom>
          <a:solidFill>
            <a:srgbClr val="00869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7" name="TextBox 34"/>
          <p:cNvSpPr/>
          <p:nvPr/>
        </p:nvSpPr>
        <p:spPr>
          <a:xfrm>
            <a:off x="8238600" y="4206240"/>
            <a:ext cx="32184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700" spc="-1" strike="noStrike">
                <a:solidFill>
                  <a:srgbClr val="00869c"/>
                </a:solidFill>
                <a:latin typeface="Aptos"/>
              </a:rPr>
              <a:t>Rotinas • scheduler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48" name="TextBox 35"/>
          <p:cNvSpPr/>
          <p:nvPr/>
        </p:nvSpPr>
        <p:spPr>
          <a:xfrm>
            <a:off x="8238600" y="4736520"/>
            <a:ext cx="3218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Agenda lembretes e notificações; aplica retenção de auditoria e limpeza de mensagens.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49" name="Rounded Rectangle 36"/>
          <p:cNvSpPr/>
          <p:nvPr/>
        </p:nvSpPr>
        <p:spPr>
          <a:xfrm>
            <a:off x="548640" y="5906880"/>
            <a:ext cx="11082240" cy="447840"/>
          </a:xfrm>
          <a:prstGeom prst="roundRect">
            <a:avLst>
              <a:gd name="adj" fmla="val 16667"/>
            </a:avLst>
          </a:prstGeom>
          <a:solidFill>
            <a:srgbClr val="1230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0" name="TextBox 37"/>
          <p:cNvSpPr/>
          <p:nvPr/>
        </p:nvSpPr>
        <p:spPr>
          <a:xfrm>
            <a:off x="713160" y="5998320"/>
            <a:ext cx="107438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200" spc="-1" strike="noStrike">
                <a:solidFill>
                  <a:srgbClr val="ffffff"/>
                </a:solidFill>
                <a:latin typeface="Aptos"/>
              </a:rPr>
              <a:t>Monólito organizado: regras no backend, persistência central e tarefas de apoio em processos separados.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Rectangle 1"/>
          <p:cNvSpPr/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00869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2" name="TextBox 2"/>
          <p:cNvSpPr/>
          <p:nvPr/>
        </p:nvSpPr>
        <p:spPr>
          <a:xfrm>
            <a:off x="548640" y="292680"/>
            <a:ext cx="109724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100" spc="-1" strike="noStrike">
                <a:solidFill>
                  <a:srgbClr val="00869c"/>
                </a:solidFill>
                <a:latin typeface="Aptos"/>
              </a:rPr>
              <a:t>08 / DIFERENCIAIS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453" name="TextBox 3"/>
          <p:cNvSpPr/>
          <p:nvPr/>
        </p:nvSpPr>
        <p:spPr>
          <a:xfrm>
            <a:off x="548640" y="731520"/>
            <a:ext cx="110638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2800" spc="-1" strike="noStrike">
                <a:solidFill>
                  <a:srgbClr val="123044"/>
                </a:solidFill>
                <a:latin typeface="Aptos"/>
              </a:rPr>
              <a:t>Diferenciais que conectam gestão e resultado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454" name="TextBox 4"/>
          <p:cNvSpPr/>
          <p:nvPr/>
        </p:nvSpPr>
        <p:spPr>
          <a:xfrm>
            <a:off x="548640" y="1426320"/>
            <a:ext cx="109724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526d80"/>
                </a:solidFill>
                <a:latin typeface="Aptos"/>
              </a:rPr>
              <a:t>O diferencial está na combinação e na adequação à Computécnica; recursos isolados existem no mercado.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55" name="TextBox 5"/>
          <p:cNvSpPr/>
          <p:nvPr/>
        </p:nvSpPr>
        <p:spPr>
          <a:xfrm>
            <a:off x="548640" y="6510600"/>
            <a:ext cx="10058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800" spc="-1" strike="noStrike">
                <a:solidFill>
                  <a:srgbClr val="526d80"/>
                </a:solidFill>
                <a:latin typeface="Aptos"/>
              </a:rPr>
              <a:t>Fonte: código local do Spot • revisão 28/10/2026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456" name="TextBox 6"/>
          <p:cNvSpPr/>
          <p:nvPr/>
        </p:nvSpPr>
        <p:spPr>
          <a:xfrm>
            <a:off x="11064240" y="6483240"/>
            <a:ext cx="5940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000" spc="-1" strike="noStrike">
                <a:solidFill>
                  <a:srgbClr val="526d80"/>
                </a:solidFill>
                <a:latin typeface="Aptos"/>
              </a:rPr>
              <a:t>09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457" name="Rounded Rectangle 7"/>
          <p:cNvSpPr/>
          <p:nvPr/>
        </p:nvSpPr>
        <p:spPr>
          <a:xfrm>
            <a:off x="548640" y="2039040"/>
            <a:ext cx="3547440" cy="1581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8" name="Rectangle 8"/>
          <p:cNvSpPr/>
          <p:nvPr/>
        </p:nvSpPr>
        <p:spPr>
          <a:xfrm>
            <a:off x="548640" y="2039040"/>
            <a:ext cx="40680" cy="1581480"/>
          </a:xfrm>
          <a:prstGeom prst="rect">
            <a:avLst/>
          </a:prstGeom>
          <a:solidFill>
            <a:srgbClr val="00869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9" name="TextBox 9"/>
          <p:cNvSpPr/>
          <p:nvPr/>
        </p:nvSpPr>
        <p:spPr>
          <a:xfrm>
            <a:off x="713160" y="2194560"/>
            <a:ext cx="320004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800" spc="-1" strike="noStrike">
                <a:solidFill>
                  <a:srgbClr val="00869c"/>
                </a:solidFill>
                <a:latin typeface="Aptos"/>
              </a:rPr>
              <a:t>Financeiro ligado à execução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60" name="TextBox 10"/>
          <p:cNvSpPr/>
          <p:nvPr/>
        </p:nvSpPr>
        <p:spPr>
          <a:xfrm>
            <a:off x="713160" y="2770560"/>
            <a:ext cx="3200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Horas, tarifas e despesas compõem o resultado gerencial do projeto.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61" name="Rounded Rectangle 11"/>
          <p:cNvSpPr/>
          <p:nvPr/>
        </p:nvSpPr>
        <p:spPr>
          <a:xfrm>
            <a:off x="4316040" y="2039040"/>
            <a:ext cx="3547440" cy="1581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2" name="Rectangle 12"/>
          <p:cNvSpPr/>
          <p:nvPr/>
        </p:nvSpPr>
        <p:spPr>
          <a:xfrm>
            <a:off x="4316040" y="2039040"/>
            <a:ext cx="40680" cy="1581480"/>
          </a:xfrm>
          <a:prstGeom prst="rect">
            <a:avLst/>
          </a:prstGeom>
          <a:solidFill>
            <a:srgbClr val="00869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3" name="TextBox 13"/>
          <p:cNvSpPr/>
          <p:nvPr/>
        </p:nvSpPr>
        <p:spPr>
          <a:xfrm>
            <a:off x="4480560" y="2194560"/>
            <a:ext cx="3200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800" spc="-1" strike="noStrike">
                <a:solidFill>
                  <a:srgbClr val="00869c"/>
                </a:solidFill>
                <a:latin typeface="Aptos"/>
              </a:rPr>
              <a:t>Regras para a operação do cliente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64" name="TextBox 14"/>
          <p:cNvSpPr/>
          <p:nvPr/>
        </p:nvSpPr>
        <p:spPr>
          <a:xfrm>
            <a:off x="4480560" y="2770560"/>
            <a:ext cx="3200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Contratos, permissões e encerramento com justificativa no mesmo fluxo.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65" name="Rounded Rectangle 15"/>
          <p:cNvSpPr/>
          <p:nvPr/>
        </p:nvSpPr>
        <p:spPr>
          <a:xfrm>
            <a:off x="8083440" y="2039040"/>
            <a:ext cx="3547440" cy="1581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6" name="Rectangle 16"/>
          <p:cNvSpPr/>
          <p:nvPr/>
        </p:nvSpPr>
        <p:spPr>
          <a:xfrm>
            <a:off x="8083440" y="2039040"/>
            <a:ext cx="40680" cy="1581480"/>
          </a:xfrm>
          <a:prstGeom prst="rect">
            <a:avLst/>
          </a:prstGeom>
          <a:solidFill>
            <a:srgbClr val="00869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7" name="TextBox 17"/>
          <p:cNvSpPr/>
          <p:nvPr/>
        </p:nvSpPr>
        <p:spPr>
          <a:xfrm>
            <a:off x="8247960" y="2194560"/>
            <a:ext cx="320004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800" spc="-1" strike="noStrike">
                <a:solidFill>
                  <a:srgbClr val="00869c"/>
                </a:solidFill>
                <a:latin typeface="Aptos"/>
              </a:rPr>
              <a:t>Rastreabilidade das alterações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68" name="TextBox 18"/>
          <p:cNvSpPr/>
          <p:nvPr/>
        </p:nvSpPr>
        <p:spPr>
          <a:xfrm>
            <a:off x="8247960" y="2770560"/>
            <a:ext cx="320004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Histórico de ações e captura da tarifa válida na data trabalhada.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69" name="Rounded Rectangle 19"/>
          <p:cNvSpPr/>
          <p:nvPr/>
        </p:nvSpPr>
        <p:spPr>
          <a:xfrm>
            <a:off x="548640" y="3822120"/>
            <a:ext cx="3547440" cy="1581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0" name="Rectangle 20"/>
          <p:cNvSpPr/>
          <p:nvPr/>
        </p:nvSpPr>
        <p:spPr>
          <a:xfrm>
            <a:off x="548640" y="3822120"/>
            <a:ext cx="40680" cy="1581480"/>
          </a:xfrm>
          <a:prstGeom prst="rect">
            <a:avLst/>
          </a:prstGeom>
          <a:solidFill>
            <a:srgbClr val="00869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1" name="TextBox 21"/>
          <p:cNvSpPr/>
          <p:nvPr/>
        </p:nvSpPr>
        <p:spPr>
          <a:xfrm>
            <a:off x="713160" y="3977640"/>
            <a:ext cx="32000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800" spc="-1" strike="noStrike">
                <a:solidFill>
                  <a:srgbClr val="00869c"/>
                </a:solidFill>
                <a:latin typeface="Aptos"/>
              </a:rPr>
              <a:t>Portfólio para decidir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72" name="TextBox 22"/>
          <p:cNvSpPr/>
          <p:nvPr/>
        </p:nvSpPr>
        <p:spPr>
          <a:xfrm>
            <a:off x="692640" y="435888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Indicadores, filtros, agrupamentos, gráficos e exportação CSV</a:t>
            </a:r>
            <a:r>
              <a:rPr b="0" lang="pt-BR" sz="1600" spc="-1" strike="noStrike">
                <a:solidFill>
                  <a:srgbClr val="123044"/>
                </a:solidFill>
                <a:latin typeface="Aptos"/>
              </a:rPr>
              <a:t>.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473" name="Rounded Rectangle 23"/>
          <p:cNvSpPr/>
          <p:nvPr/>
        </p:nvSpPr>
        <p:spPr>
          <a:xfrm>
            <a:off x="4316040" y="3822120"/>
            <a:ext cx="3547440" cy="1581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4" name="Rectangle 24"/>
          <p:cNvSpPr/>
          <p:nvPr/>
        </p:nvSpPr>
        <p:spPr>
          <a:xfrm>
            <a:off x="4316040" y="3822120"/>
            <a:ext cx="40680" cy="1581480"/>
          </a:xfrm>
          <a:prstGeom prst="rect">
            <a:avLst/>
          </a:prstGeom>
          <a:solidFill>
            <a:srgbClr val="00869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5" name="TextBox 25"/>
          <p:cNvSpPr/>
          <p:nvPr/>
        </p:nvSpPr>
        <p:spPr>
          <a:xfrm>
            <a:off x="4480560" y="3977640"/>
            <a:ext cx="32000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800" spc="-1" strike="noStrike">
                <a:solidFill>
                  <a:srgbClr val="00869c"/>
                </a:solidFill>
                <a:latin typeface="Aptos"/>
              </a:rPr>
              <a:t>Integrações e rotina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76" name="TextBox 26"/>
          <p:cNvSpPr/>
          <p:nvPr/>
        </p:nvSpPr>
        <p:spPr>
          <a:xfrm>
            <a:off x="4480560" y="4320000"/>
            <a:ext cx="320004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Google/Microsoft OAuth, agenda, Teams, convites e lembretes.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77" name="Rounded Rectangle 27"/>
          <p:cNvSpPr/>
          <p:nvPr/>
        </p:nvSpPr>
        <p:spPr>
          <a:xfrm>
            <a:off x="8083440" y="3822120"/>
            <a:ext cx="3547440" cy="1581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8" name="Rectangle 28"/>
          <p:cNvSpPr/>
          <p:nvPr/>
        </p:nvSpPr>
        <p:spPr>
          <a:xfrm>
            <a:off x="8083440" y="3822120"/>
            <a:ext cx="40680" cy="1581480"/>
          </a:xfrm>
          <a:prstGeom prst="rect">
            <a:avLst/>
          </a:prstGeom>
          <a:solidFill>
            <a:srgbClr val="00869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9" name="TextBox 29"/>
          <p:cNvSpPr/>
          <p:nvPr/>
        </p:nvSpPr>
        <p:spPr>
          <a:xfrm>
            <a:off x="8247960" y="3977640"/>
            <a:ext cx="320004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800" spc="-1" strike="noStrike">
                <a:solidFill>
                  <a:srgbClr val="00869c"/>
                </a:solidFill>
                <a:latin typeface="Aptos"/>
              </a:rPr>
              <a:t>Controle sobre a evolução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80" name="TextBox 30"/>
          <p:cNvSpPr/>
          <p:nvPr/>
        </p:nvSpPr>
        <p:spPr>
          <a:xfrm>
            <a:off x="8247960" y="4553640"/>
            <a:ext cx="320004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Código próprio permite adaptar regras e escolher a hospedagem.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81" name="Rounded Rectangle 31"/>
          <p:cNvSpPr/>
          <p:nvPr/>
        </p:nvSpPr>
        <p:spPr>
          <a:xfrm>
            <a:off x="548640" y="5906880"/>
            <a:ext cx="11082240" cy="447840"/>
          </a:xfrm>
          <a:prstGeom prst="roundRect">
            <a:avLst>
              <a:gd name="adj" fmla="val 16667"/>
            </a:avLst>
          </a:prstGeom>
          <a:solidFill>
            <a:srgbClr val="1230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2" name="TextBox 32"/>
          <p:cNvSpPr/>
          <p:nvPr/>
        </p:nvSpPr>
        <p:spPr>
          <a:xfrm>
            <a:off x="713160" y="5998320"/>
            <a:ext cx="107438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200" spc="-1" strike="noStrike">
                <a:solidFill>
                  <a:srgbClr val="ffffff"/>
                </a:solidFill>
                <a:latin typeface="Aptos"/>
              </a:rPr>
              <a:t>Valor da proposta: organização + governança + visão financeira em um fluxo adaptável ao cliente.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Rectangle 1"/>
          <p:cNvSpPr/>
          <p:nvPr/>
        </p:nvSpPr>
        <p:spPr>
          <a:xfrm>
            <a:off x="0" y="0"/>
            <a:ext cx="12191040" cy="7236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84" name="TextBox 2"/>
          <p:cNvSpPr/>
          <p:nvPr/>
        </p:nvSpPr>
        <p:spPr>
          <a:xfrm>
            <a:off x="502920" y="292680"/>
            <a:ext cx="10057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  <a:ea typeface="DejaVu Sans"/>
              </a:rPr>
              <a:t>10 / CÓDIGO EM FUNCIONAMENTO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485" name="TextBox 3"/>
          <p:cNvSpPr/>
          <p:nvPr/>
        </p:nvSpPr>
        <p:spPr>
          <a:xfrm>
            <a:off x="502920" y="704160"/>
            <a:ext cx="1115496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  <a:ea typeface="DejaVu Sans"/>
              </a:rPr>
              <a:t>Uma tarefa: do clique à persistência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486" name="TextBox 4"/>
          <p:cNvSpPr/>
          <p:nvPr/>
        </p:nvSpPr>
        <p:spPr>
          <a:xfrm>
            <a:off x="521280" y="1362600"/>
            <a:ext cx="1106352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  <a:ea typeface="DejaVu Sans"/>
              </a:rPr>
              <a:t>Exemplo real de caminho no código; regras não ficam apenas na interface.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87" name="TextBox 5"/>
          <p:cNvSpPr/>
          <p:nvPr/>
        </p:nvSpPr>
        <p:spPr>
          <a:xfrm>
            <a:off x="502920" y="6510600"/>
            <a:ext cx="105148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Fonte: código local do Spot • corte técnico 26/10/2026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488" name="TextBox 6"/>
          <p:cNvSpPr/>
          <p:nvPr/>
        </p:nvSpPr>
        <p:spPr>
          <a:xfrm>
            <a:off x="11018520" y="6483240"/>
            <a:ext cx="66672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11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489" name="Rounded Rectangle 7"/>
          <p:cNvSpPr/>
          <p:nvPr/>
        </p:nvSpPr>
        <p:spPr>
          <a:xfrm>
            <a:off x="548640" y="1938600"/>
            <a:ext cx="438120" cy="438120"/>
          </a:xfrm>
          <a:prstGeom prst="roundRect">
            <a:avLst>
              <a:gd name="adj" fmla="val 8000"/>
            </a:avLst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90" name="TextBox 8"/>
          <p:cNvSpPr/>
          <p:nvPr/>
        </p:nvSpPr>
        <p:spPr>
          <a:xfrm>
            <a:off x="585360" y="2002680"/>
            <a:ext cx="36504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ffffff"/>
                </a:solidFill>
                <a:latin typeface="DejaVu Sans"/>
                <a:ea typeface="DejaVu Sans"/>
              </a:rPr>
              <a:t>1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91" name="TextBox 9"/>
          <p:cNvSpPr/>
          <p:nvPr/>
        </p:nvSpPr>
        <p:spPr>
          <a:xfrm>
            <a:off x="1207080" y="1956960"/>
            <a:ext cx="493704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900" spc="-1" strike="noStrike">
                <a:solidFill>
                  <a:srgbClr val="112c42"/>
                </a:solidFill>
                <a:latin typeface="DejaVu Sans"/>
                <a:ea typeface="DejaVu Sans"/>
              </a:rPr>
              <a:t>TasksPage.jsx</a:t>
            </a:r>
            <a:endParaRPr b="0" lang="pt-BR" sz="1900" spc="-1" strike="noStrike">
              <a:latin typeface="Arial"/>
            </a:endParaRPr>
          </a:p>
        </p:txBody>
      </p:sp>
      <p:sp>
        <p:nvSpPr>
          <p:cNvPr id="492" name="TextBox 10"/>
          <p:cNvSpPr/>
          <p:nvPr/>
        </p:nvSpPr>
        <p:spPr>
          <a:xfrm>
            <a:off x="6400800" y="1974960"/>
            <a:ext cx="516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Horas + minutos → duration_minutes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493" name="Rounded Rectangle 11"/>
          <p:cNvSpPr/>
          <p:nvPr/>
        </p:nvSpPr>
        <p:spPr>
          <a:xfrm>
            <a:off x="548640" y="2651760"/>
            <a:ext cx="438120" cy="438120"/>
          </a:xfrm>
          <a:prstGeom prst="roundRect">
            <a:avLst>
              <a:gd name="adj" fmla="val 8000"/>
            </a:avLst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94" name="TextBox 12"/>
          <p:cNvSpPr/>
          <p:nvPr/>
        </p:nvSpPr>
        <p:spPr>
          <a:xfrm>
            <a:off x="585360" y="2715840"/>
            <a:ext cx="36504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ffffff"/>
                </a:solidFill>
                <a:latin typeface="DejaVu Sans"/>
                <a:ea typeface="DejaVu Sans"/>
              </a:rPr>
              <a:t>2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95" name="TextBox 13"/>
          <p:cNvSpPr/>
          <p:nvPr/>
        </p:nvSpPr>
        <p:spPr>
          <a:xfrm>
            <a:off x="1207080" y="2670120"/>
            <a:ext cx="493704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900" spc="-1" strike="noStrike">
                <a:solidFill>
                  <a:srgbClr val="112c42"/>
                </a:solidFill>
                <a:latin typeface="DejaVu Sans"/>
                <a:ea typeface="DejaVu Sans"/>
              </a:rPr>
              <a:t>api.js → /api/v1/tasks</a:t>
            </a:r>
            <a:endParaRPr b="0" lang="pt-BR" sz="1900" spc="-1" strike="noStrike">
              <a:latin typeface="Arial"/>
            </a:endParaRPr>
          </a:p>
        </p:txBody>
      </p:sp>
      <p:sp>
        <p:nvSpPr>
          <p:cNvPr id="496" name="TextBox 14"/>
          <p:cNvSpPr/>
          <p:nvPr/>
        </p:nvSpPr>
        <p:spPr>
          <a:xfrm>
            <a:off x="6400800" y="2688480"/>
            <a:ext cx="516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Sessão + cookie/validação CSRF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497" name="Rounded Rectangle 15"/>
          <p:cNvSpPr/>
          <p:nvPr/>
        </p:nvSpPr>
        <p:spPr>
          <a:xfrm>
            <a:off x="548640" y="3364920"/>
            <a:ext cx="438120" cy="438120"/>
          </a:xfrm>
          <a:prstGeom prst="roundRect">
            <a:avLst>
              <a:gd name="adj" fmla="val 8000"/>
            </a:avLst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98" name="TextBox 16"/>
          <p:cNvSpPr/>
          <p:nvPr/>
        </p:nvSpPr>
        <p:spPr>
          <a:xfrm>
            <a:off x="585360" y="3429000"/>
            <a:ext cx="36504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ffffff"/>
                </a:solidFill>
                <a:latin typeface="DejaVu Sans"/>
                <a:ea typeface="DejaVu Sans"/>
              </a:rPr>
              <a:t>3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99" name="TextBox 17"/>
          <p:cNvSpPr/>
          <p:nvPr/>
        </p:nvSpPr>
        <p:spPr>
          <a:xfrm>
            <a:off x="1207080" y="3383280"/>
            <a:ext cx="493704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900" spc="-1" strike="noStrike">
                <a:solidFill>
                  <a:srgbClr val="112c42"/>
                </a:solidFill>
                <a:latin typeface="DejaVu Sans"/>
                <a:ea typeface="DejaVu Sans"/>
              </a:rPr>
              <a:t>TaskV1Controller.store</a:t>
            </a:r>
            <a:endParaRPr b="0" lang="pt-BR" sz="1900" spc="-1" strike="noStrike">
              <a:latin typeface="Arial"/>
            </a:endParaRPr>
          </a:p>
        </p:txBody>
      </p:sp>
      <p:sp>
        <p:nvSpPr>
          <p:cNvPr id="500" name="TextBox 18"/>
          <p:cNvSpPr/>
          <p:nvPr/>
        </p:nvSpPr>
        <p:spPr>
          <a:xfrm>
            <a:off x="6400800" y="3401640"/>
            <a:ext cx="516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Validação, projeto e pessoas autorizadas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501" name="Rounded Rectangle 19"/>
          <p:cNvSpPr/>
          <p:nvPr/>
        </p:nvSpPr>
        <p:spPr>
          <a:xfrm>
            <a:off x="548640" y="4078080"/>
            <a:ext cx="438120" cy="438120"/>
          </a:xfrm>
          <a:prstGeom prst="roundRect">
            <a:avLst>
              <a:gd name="adj" fmla="val 8000"/>
            </a:avLst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02" name="TextBox 20"/>
          <p:cNvSpPr/>
          <p:nvPr/>
        </p:nvSpPr>
        <p:spPr>
          <a:xfrm>
            <a:off x="585360" y="4142160"/>
            <a:ext cx="36504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ffffff"/>
                </a:solidFill>
                <a:latin typeface="DejaVu Sans"/>
                <a:ea typeface="DejaVu Sans"/>
              </a:rPr>
              <a:t>4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503" name="TextBox 21"/>
          <p:cNvSpPr/>
          <p:nvPr/>
        </p:nvSpPr>
        <p:spPr>
          <a:xfrm>
            <a:off x="1207080" y="4096440"/>
            <a:ext cx="493704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900" spc="-1" strike="noStrike">
                <a:solidFill>
                  <a:srgbClr val="112c42"/>
                </a:solidFill>
                <a:latin typeface="DejaVu Sans"/>
                <a:ea typeface="DejaVu Sans"/>
              </a:rPr>
              <a:t>TaskCosting + Eloquent</a:t>
            </a:r>
            <a:endParaRPr b="0" lang="pt-BR" sz="1900" spc="-1" strike="noStrike">
              <a:latin typeface="Arial"/>
            </a:endParaRPr>
          </a:p>
        </p:txBody>
      </p:sp>
      <p:sp>
        <p:nvSpPr>
          <p:cNvPr id="504" name="TextBox 22"/>
          <p:cNvSpPr/>
          <p:nvPr/>
        </p:nvSpPr>
        <p:spPr>
          <a:xfrm>
            <a:off x="6400800" y="4114800"/>
            <a:ext cx="516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Tarifa vigente, tarefa e participantes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505" name="Rounded Rectangle 23"/>
          <p:cNvSpPr/>
          <p:nvPr/>
        </p:nvSpPr>
        <p:spPr>
          <a:xfrm>
            <a:off x="548640" y="4791600"/>
            <a:ext cx="438120" cy="438120"/>
          </a:xfrm>
          <a:prstGeom prst="roundRect">
            <a:avLst>
              <a:gd name="adj" fmla="val 8000"/>
            </a:avLst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06" name="TextBox 24"/>
          <p:cNvSpPr/>
          <p:nvPr/>
        </p:nvSpPr>
        <p:spPr>
          <a:xfrm>
            <a:off x="585360" y="4855320"/>
            <a:ext cx="36504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ffffff"/>
                </a:solidFill>
                <a:latin typeface="DejaVu Sans"/>
                <a:ea typeface="DejaVu Sans"/>
              </a:rPr>
              <a:t>5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507" name="TextBox 25"/>
          <p:cNvSpPr/>
          <p:nvPr/>
        </p:nvSpPr>
        <p:spPr>
          <a:xfrm>
            <a:off x="1207080" y="4809600"/>
            <a:ext cx="493704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900" spc="-1" strike="noStrike">
                <a:solidFill>
                  <a:srgbClr val="112c42"/>
                </a:solidFill>
                <a:latin typeface="DejaVu Sans"/>
                <a:ea typeface="DejaVu Sans"/>
              </a:rPr>
              <a:t>AuditRecorder → JSON</a:t>
            </a:r>
            <a:endParaRPr b="0" lang="pt-BR" sz="1900" spc="-1" strike="noStrike">
              <a:latin typeface="Arial"/>
            </a:endParaRPr>
          </a:p>
        </p:txBody>
      </p:sp>
      <p:sp>
        <p:nvSpPr>
          <p:cNvPr id="508" name="TextBox 26"/>
          <p:cNvSpPr/>
          <p:nvPr/>
        </p:nvSpPr>
        <p:spPr>
          <a:xfrm>
            <a:off x="6400800" y="4827960"/>
            <a:ext cx="516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Histórico na transação e retorno à tela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509" name="Rounded Rectangle 27"/>
          <p:cNvSpPr/>
          <p:nvPr/>
        </p:nvSpPr>
        <p:spPr>
          <a:xfrm>
            <a:off x="502920" y="5870520"/>
            <a:ext cx="11173320" cy="43812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10" name="TextBox 28"/>
          <p:cNvSpPr/>
          <p:nvPr/>
        </p:nvSpPr>
        <p:spPr>
          <a:xfrm>
            <a:off x="658440" y="5961960"/>
            <a:ext cx="10880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  <a:ea typeface="DejaVu Sans"/>
              </a:rPr>
              <a:t>ProjectFinancialSummary usa snapshots e evita contar a tarefa novamente quando há work_log vinculado.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Equipe SPOT</dc:creator>
  <dc:description>generated using python-pptx</dc:description>
  <dc:language>en-US</dc:language>
  <cp:lastModifiedBy/>
  <dcterms:modified xsi:type="dcterms:W3CDTF">2026-10-28T12:59:27Z</dcterms:modified>
  <cp:revision>4</cp:revision>
  <dc:subject>11 slides; revisão visual de 28/10/2026; fonte: recuperação com alterações do usuário</dc:subject>
  <dc:title>SPOT — Defesa de TCC — versão corrigida e revisada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