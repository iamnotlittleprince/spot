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Duração prevista: 0:30.,Olá. Em quinze minutos vou apresentar o Spot como produto e como sistema: que problema ele resolve, como um projeto percorre a plataforma, quais regras sustentam o resultado financeiro, como a solução foi construída e onde ela se posiciona diante de outras ferramentas. A ideia é sair com uma visão útil tanto para quem avalia o produto quanto para quem precisa operá-lo, mantê-lo ou evoluí-lo.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Duração prevista: 1:00.,O Spot é uma plataforma de gestão de projetos orientada a operações de serviços. Ele combina quatro momentos que normalmente acabam espalhados entre planilhas e ferramentas: planejar um projeto, executar o trabalho, controlar mudanças e despesas, e entender o resultado. O diferencial de foco é ligar a atividade da equipe à visão de custo e margem. Isso não significa que ele seja um ERP completo ou uma ferramenta universal de colaboração; seu núcleo é o projeto e sua execução econômica.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Duração prevista: 1:05.,O problema que o Spot procura resolver não é simplesmente “falta de tarefas”. É a fragmentação do contexto: a proposta tem um valor, as horas são apontadas em outro lugar, as despesas chegam depois e o gestor só descobre o desvio quando consolida os dados. O Spot tenta encurtar essa distância mantendo cliente, equipe, tarifa, horas, despesas e situação do projeto no mesmo contexto. A pesquisa de mercado existente no repositório reforça temas como organização, usabilidade, integração e visibilidade financeira; os percentuais publicados nessa pesquisa devem ser apresentados sempre com seu tamanho e método de amostra, não como estatística geral do mercado.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Duração prevista: 1:10.,A jornada começa com o projeto comercial: cliente, proposta, valor contratado, datas e responsáveis. Antes da execução, configura-se a equipe, as funções, as tarifas com períodos de vigência e a composição tributária. Durante o trabalho, tarefas, horas extras e despesas alimentam a operação. Despesas podem passar por aprovação. A governança permite finalizar, reabrir ou excluir com justificativas e permissões. No fim, gestores analisam resultado do projeto e carteira. É importante notar que os dados não são só etapas de formulário: as decisões de acesso e os registros de auditoria acompanham os fluxos.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Duração prevista: 1:10.,A experiência está organizada em áreas. Projetos concentram os dados comerciais e o ciclo de vida. Tarefas e equipes conectam pessoas ao trabalho e permitem diferentes formas de visualizar a execução. O financeiro e o portfólio mostram custos e indicadores agregados. A colaboração inclui agenda, caixa de entrada, convites e documentos. A administração cuida de usuários, parâmetros, permissões e integração de diretório. O estoque mantém cadastro de produtos e histórico de movimentações. Esse módulo é importante para conhecer a abrangência do repositório, mas é um domínio distinto e não deve ser confundido com o núcleo de gestão de projetos.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Duração prevista: 1:20.,O comportamento do Spot depende de regras que vão além do que a tela mostra. Não há cadastro público: uma conta é provisionada e ativada por link de uso único. Os acessos respeitam empresa e vínculos com projeto. Em tarefas, permissões para ver, editar ou excluir trabalho de terceiros são tratadas separadamente. Tarifas têm vigência e não devem se sobrepor; o valor usado fica fotografado no registro de horas para preservar o histórico. Despesas pendentes ou rejeitadas não compõem o realizado. Um projeto finalizado torna-se somente leitura, e ações de finalização, reabertura e exclusão exigem justificativa. Essas regras precisam ser respeitadas em qualquer novo endpoint ou integração.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Duração prevista: 1:20.,O motor financeiro calcula o projeto a partir do contrato, das horas e de eventos governados. Em linhas gerais, considera receita realizada, custos de mão de obra calculados com as tarifas capturadas, impostos, comissão e despesas aprovadas. Horas extras podem ter tarifas distintas de custo e faturamento. Se uma hora não possui tarifa aplicável, ela não desaparece: aparece como pendência e o resultado é sinalizado como parcial. Há ainda uma salvaguarda contra dupla contagem de tarefas que já estejam cobertas por apontamentos vinculados. Para o profissional de finanças, isso significa que é essencial validar as regras de tarifa, impostos e comissão na configuração e entender o estado de completude do resultado antes de usá-lo em decisão.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Duração prevista: 1:00.,A interface usa React 18 e Vite, mas é servida pela aplicação Laravel; não é necessário assumir dois produtos independentes para implantá-la. O backend usa PHP 8.3 e Laravel 13, com controllers, validações, modelos e ações de domínio. O banco documentado é PostgreSQL. Python com Pandas consolida indicadores de portfólio. O fluxo web principal usa sessão Laravel Sanctum e proteção CSRF. Socialite integra provedores OAuth; JWT permanece em rotas de compatibilidade. O processamento assíncrono de e-mails usa a fila do Laravel, e o scheduler executa rotinas. Em implantação, portanto, a equipe precisa cuidar de aplicação, banco, worker, agendador, SMTP e armazenamento compartilhado de sessão se houver múltiplas instâncias.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Duração prevista: 1:10.,A segurança começa com o provisionamento controlado e continua em cada requisição. Perfis e permissões limitam operações, projetos e dados financeiros. Há controle de sessões, opção de autenticação em duas etapas e login por Google ou Microsoft para contas já autorizadas. Os convites são escopados ao projeto e os tokens não são armazenados em texto puro. Auditoria registra ações importantes, não cada clique da interface. A retenção é configurável e depende do scheduler ativo. Um ponto operacional importante: Microsoft Entra ID exige credenciais e consentimento administrativo para consultar o diretório; ter login Microsoft configurado não habilita automaticamente a importação de usuários.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Duração prevista: 1:20.,No mercado, a referência mais próxima é a categoria de gestão de trabalho e portfólio. O monday.com enfatiza flexibilidade, quadros, dashboards, carga de trabalho e soluções de portfólio; algumas capacidades avançadas dependem de planos específicos. O Teamwork.com se posiciona mais diretamente para agências e serviços a clientes, destacando horas faturáveis, orçamento, gestão de capacidade e rentabilidade. O Spot combina gestão de projeto com regras financeiras e governança ajustadas à operação interna. Esta é uma comparação funcional baseada em páginas oficiais, não uma avaliação de qualidade, preço ou escala. A oportunidade para o Spot está na aderência às regras locais e à integração entre execução e apuração; os desafios são competir com a maturidade, integrações, escalabilidade, ecossistemas e investimento contínuo dos SaaS estabelecidos.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Duração prevista: 1:15.,O valor da plataforma aparece quando cada papel encontra informação útil sem receber acesso desnecessário. O analista precisa saber o que está atribuído e registrar a atividade. O gestor precisa entender andamento, capacidade, despesas e resultado. O administrador provisiona pessoas, configura parâmetros e ajusta permissões. Já o profissional técnico precisa conhecer rotas, migrações, jobs, scheduler, credenciais externas, logs e backups. Essa separação também orienta treinamento: não é preciso ensinar toda a plataforma a todos; ensina-se o fluxo e as decisões relevantes para cada papel.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Duração prevista: 1:15.,É importante comunicar maturidade com precisão. O repositório contém fluxos implementados e testes automatizados, mas testes não comprovam sozinhos disponibilidade, segurança operacional, capacidade em escala ou adoção. E-mail depende de SMTP e worker. Diretório depende de tenant e consentimento. Em produção são necessários HTTPS, PostgreSQL operado, backups testados, monitoramento, gestão de segredos, política de atualização e processos supervisionados. Também existe JWT legado que deve ser acompanhado como compatibilidade. Portanto, a descrição correta é: núcleo funcional amplo e verificável no código, com uma etapa de validação e operação de produção que precisa ser tratada explicitamente.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Duração prevista: 1:25.,Para concluir: o Spot une o cadastro, a execução e a análise do projeto; preserva regras financeiras e de acesso; e oferece uma arquitetura web conhecida, baseada em Laravel, React e PostgreSQL. Seu posicionamento é mais específico que o de uma ferramenta genérica de tarefas, mas ainda precisa demonstrar valor e confiabilidade em uso real frente a soluções maduras. A evolução deve começar com piloto controlado, feedback dos diferentes perfis, indicadores de uso, monitoramento e rotina de backup e recuperação. Com isso, o Spot pode transformar uma necessidade operacional em uma plataforma consistente para acompanhar trabalho e resultado. Obrigado. Agora podemos aprofundar dúvidas sobre produto, arquitetura ou próximos passos.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9B5D1"/>
          </a:solidFill>
          <a:ln w="12700">
            <a:solidFill>
              <a:srgbClr val="19B5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758395"/>
                </a:solidFill>
              </a:rPr>
              <a:t>SPOT  •  VISÃO DO PRODUTO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0"/>
            <a:ext cx="4187952" cy="6858000"/>
          </a:xfrm>
          <a:prstGeom prst="rect">
            <a:avLst/>
          </a:prstGeom>
          <a:solidFill>
            <a:srgbClr val="147DAD">
              <a:alpha val="95000"/>
            </a:srgbClr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594360"/>
            <a:ext cx="2194560" cy="2194560"/>
          </a:xfrm>
          <a:prstGeom prst="ellipse">
            <a:avLst/>
          </a:prstGeom>
          <a:solidFill>
            <a:srgbClr val="19B5D1">
              <a:alpha val="82000"/>
            </a:srgbClr>
          </a:solidFill>
          <a:ln w="12700">
            <a:solidFill>
              <a:srgbClr val="19B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4297680"/>
            <a:ext cx="2103120" cy="2103120"/>
          </a:xfrm>
          <a:prstGeom prst="ellipse">
            <a:avLst/>
          </a:prstGeom>
          <a:solidFill>
            <a:srgbClr val="19B5D1">
              <a:alpha val="60000"/>
            </a:srgbClr>
          </a:solidFill>
          <a:ln w="12700">
            <a:solidFill>
              <a:srgbClr val="19B5D1">
                <a:alpha val="0"/>
              </a:srgbClr>
            </a:solidFill>
            <a:prstDash val="solid"/>
          </a:ln>
        </p:spPr>
      </p:sp>
      <p:pic>
        <p:nvPicPr>
          <p:cNvPr id="5" name="Image 0" descr="/home/alexander/Documentos/Spot/public/spo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30352"/>
            <a:ext cx="1133856" cy="7498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6656" y="1554480"/>
            <a:ext cx="3063240" cy="274320"/>
          </a:xfrm>
          <a:prstGeom prst="roundRect">
            <a:avLst>
              <a:gd name="adj" fmla="val 50000"/>
            </a:avLst>
          </a:prstGeom>
          <a:solidFill>
            <a:srgbClr val="19B5D1"/>
          </a:solidFill>
          <a:ln w="12700">
            <a:solidFill>
              <a:srgbClr val="19B5D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1609344"/>
            <a:ext cx="2916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</a:rPr>
              <a:t>PRODUTO  •  TECNOLOGIA  •  MERCADO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2084832"/>
            <a:ext cx="6217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100" b="1" dirty="0">
                <a:solidFill>
                  <a:srgbClr val="FFFFFF"/>
                </a:solidFill>
              </a:rPr>
              <a:t>Spot</a:t>
            </a:r>
            <a:endParaRPr lang="en-US" sz="5100" dirty="0"/>
          </a:p>
        </p:txBody>
      </p:sp>
      <p:sp>
        <p:nvSpPr>
          <p:cNvPr id="9" name="Text 6"/>
          <p:cNvSpPr/>
          <p:nvPr/>
        </p:nvSpPr>
        <p:spPr>
          <a:xfrm>
            <a:off x="694944" y="2980944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D8E8F2"/>
                </a:solidFill>
              </a:rPr>
              <a:t>Projetos conectados à execução e ao resultado do negócio.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694944" y="53492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B5D1"/>
                </a:solidFill>
              </a:rPr>
              <a:t>Visão completa do sistema  •  apresentação de 15 minutos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4944" y="59436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0D1"/>
                </a:solidFill>
              </a:rPr>
              <a:t>Computécnica  |  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9B5D1"/>
                </a:solidFill>
              </a:rPr>
              <a:t>EM UMA FRASE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Uma plataforma para gerir o ciclo completo do projeto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0700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O Spot aproxima trabalho diário, governança e leitura financeira em uma única aplicação.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1847088"/>
            <a:ext cx="251460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847088"/>
            <a:ext cx="64008" cy="2423160"/>
          </a:xfrm>
          <a:prstGeom prst="rect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29968"/>
            <a:ext cx="2130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47DAD"/>
                </a:solidFill>
              </a:rPr>
              <a:t>PLANEJAR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23225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Planejar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2761488"/>
            <a:ext cx="207568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0758A"/>
                </a:solidFill>
              </a:rPr>
              <a:t>Projetos, clientes, escopo, prazos e responsáveis.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3438144" y="1847088"/>
            <a:ext cx="251460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38144" y="1847088"/>
            <a:ext cx="64008" cy="2423160"/>
          </a:xfrm>
          <a:prstGeom prst="rect">
            <a:avLst/>
          </a:prstGeom>
          <a:solidFill>
            <a:srgbClr val="19B5D1"/>
          </a:solidFill>
          <a:ln w="12700">
            <a:solidFill>
              <a:srgbClr val="19B5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029968"/>
            <a:ext cx="2130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9B5D1"/>
                </a:solidFill>
              </a:rPr>
              <a:t>EXECUTAR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0" y="23225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Executar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57600" y="2761488"/>
            <a:ext cx="207568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0758A"/>
                </a:solidFill>
              </a:rPr>
              <a:t>Equipes, tarefas, horas, documentos e despesas.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254496" y="1847088"/>
            <a:ext cx="251460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4496" y="1847088"/>
            <a:ext cx="64008" cy="2423160"/>
          </a:xfrm>
          <a:prstGeom prst="rect">
            <a:avLst/>
          </a:prstGeom>
          <a:solidFill>
            <a:srgbClr val="7467D8"/>
          </a:solidFill>
          <a:ln w="12700">
            <a:solidFill>
              <a:srgbClr val="7467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2029968"/>
            <a:ext cx="2130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467D8"/>
                </a:solidFill>
              </a:rPr>
              <a:t>CONTROLAR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73952" y="23225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Controlar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73952" y="2761488"/>
            <a:ext cx="207568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0758A"/>
                </a:solidFill>
              </a:rPr>
              <a:t>Aprovações, permissões, auditoria e ciclo de vida.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9070848" y="1847088"/>
            <a:ext cx="251460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70848" y="1847088"/>
            <a:ext cx="64008" cy="2423160"/>
          </a:xfrm>
          <a:prstGeom prst="rect">
            <a:avLst/>
          </a:prstGeom>
          <a:solidFill>
            <a:srgbClr val="2E9B69"/>
          </a:solidFill>
          <a:ln w="12700">
            <a:solidFill>
              <a:srgbClr val="2E9B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90304" y="2029968"/>
            <a:ext cx="2130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9B69"/>
                </a:solidFill>
              </a:rPr>
              <a:t>DECIDIR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290304" y="23225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Decidir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290304" y="2761488"/>
            <a:ext cx="207568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0758A"/>
                </a:solidFill>
              </a:rPr>
              <a:t>Portfólio, indicadores e resultado planejado × realizado.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658368" y="4681728"/>
            <a:ext cx="10835640" cy="749808"/>
          </a:xfrm>
          <a:prstGeom prst="roundRect">
            <a:avLst>
              <a:gd name="adj" fmla="val 1463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919472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Foco do produto: projetos de serviços em que horas, custos e margem importam.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9B5D1"/>
                </a:solidFill>
              </a:rPr>
              <a:t>PROBLEMA QUE O SPOT ENDEREÇA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Quando os dados do projeto ficam espalhados, a margem vira surpresa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0700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A dor operacional é a falta de ligação entre planejamento, execução e leitura financeira.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1965960"/>
            <a:ext cx="324612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221992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276856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99616" y="22219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Planejamento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29718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0758A"/>
                </a:solidFill>
              </a:rPr>
              <a:t>Proposta, escopo e valor contratado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05656" y="2743200"/>
            <a:ext cx="347472" cy="530352"/>
          </a:xfrm>
          <a:prstGeom prst="chevron">
            <a:avLst/>
          </a:prstGeom>
          <a:solidFill>
            <a:srgbClr val="19B5D1"/>
          </a:solidFill>
          <a:ln w="12700">
            <a:solidFill>
              <a:srgbClr val="19B5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44568" y="1965960"/>
            <a:ext cx="324612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73168" y="2221992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E8A23B"/>
          </a:solidFill>
          <a:ln w="12700">
            <a:solidFill>
              <a:srgbClr val="E8A2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276856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94376" y="22219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Execução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18888" y="29718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0758A"/>
                </a:solidFill>
              </a:rPr>
              <a:t>Horas e despesas registradas em outros lugares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900416" y="2743200"/>
            <a:ext cx="347472" cy="530352"/>
          </a:xfrm>
          <a:prstGeom prst="chevron">
            <a:avLst/>
          </a:prstGeom>
          <a:solidFill>
            <a:srgbClr val="19B5D1"/>
          </a:solidFill>
          <a:ln w="12700">
            <a:solidFill>
              <a:srgbClr val="19B5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9328" y="1965960"/>
            <a:ext cx="324612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67928" y="2221992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41080" y="2276856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089136" y="22219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Fechamento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13648" y="29718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0758A"/>
                </a:solidFill>
              </a:rPr>
              <a:t>Consolidação tardia e pouca rastreabilidade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417320" y="4727448"/>
            <a:ext cx="9326880" cy="685800"/>
          </a:xfrm>
          <a:prstGeom prst="roundRect">
            <a:avLst>
              <a:gd name="adj" fmla="val 16000"/>
            </a:avLst>
          </a:prstGeom>
          <a:solidFill>
            <a:srgbClr val="E5F7FA"/>
          </a:solidFill>
          <a:ln w="12700">
            <a:solidFill>
              <a:srgbClr val="E5F7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4928616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7DAD"/>
                </a:solidFill>
              </a:rPr>
              <a:t>Resposta do Spot: uma fonte operacional com regras explícitas e histórico consultável.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9B5D1"/>
                </a:solidFill>
              </a:rPr>
              <a:t>JORNADA DO PROJETO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Do cadastro à decisão, com contexto preservado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0700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Cada etapa prepara dados para a próxima e define quem pode agir.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2852928"/>
            <a:ext cx="10195560" cy="0"/>
          </a:xfrm>
          <a:prstGeom prst="line">
            <a:avLst/>
          </a:prstGeom>
          <a:noFill/>
          <a:ln w="50800">
            <a:solidFill>
              <a:srgbClr val="19B5D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225296" y="2496312"/>
            <a:ext cx="658368" cy="658368"/>
          </a:xfrm>
          <a:prstGeom prst="ellipse">
            <a:avLst/>
          </a:prstGeom>
          <a:solidFill>
            <a:srgbClr val="147DA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3312" y="271576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" y="340156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Cadastrar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" y="3794760"/>
            <a:ext cx="1901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Cliente • proposta • contrato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93008" y="2496312"/>
            <a:ext cx="658368" cy="658368"/>
          </a:xfrm>
          <a:prstGeom prst="ellipse">
            <a:avLst/>
          </a:prstGeom>
          <a:solidFill>
            <a:srgbClr val="147DA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1024" y="271576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1800" y="340156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Configurar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98648" y="3794760"/>
            <a:ext cx="1901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Equipe • tarifas • impostos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2496312"/>
            <a:ext cx="658368" cy="658368"/>
          </a:xfrm>
          <a:prstGeom prst="ellipse">
            <a:avLst/>
          </a:prstGeom>
          <a:solidFill>
            <a:srgbClr val="147DA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88736" y="271576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39512" y="340156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Executar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66360" y="3794760"/>
            <a:ext cx="1901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Tarefas • horas • despesas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28432" y="2496312"/>
            <a:ext cx="658368" cy="658368"/>
          </a:xfrm>
          <a:prstGeom prst="ellipse">
            <a:avLst/>
          </a:prstGeom>
          <a:solidFill>
            <a:srgbClr val="147DA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56448" y="271576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07224" y="340156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Governar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34072" y="3794760"/>
            <a:ext cx="1901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Aprovar • finalizar • reabrir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296144" y="2496312"/>
            <a:ext cx="658368" cy="658368"/>
          </a:xfrm>
          <a:prstGeom prst="ellipse">
            <a:avLst/>
          </a:prstGeom>
          <a:solidFill>
            <a:srgbClr val="2E9B6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0" y="271576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74936" y="340156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Analisar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01784" y="3794760"/>
            <a:ext cx="1901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Resultado • portfólio • histórico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331720" y="5138928"/>
            <a:ext cx="7589520" cy="274320"/>
          </a:xfrm>
          <a:prstGeom prst="roundRect">
            <a:avLst>
              <a:gd name="adj" fmla="val 50000"/>
            </a:avLst>
          </a:prstGeom>
          <a:solidFill>
            <a:srgbClr val="E5F7FA"/>
          </a:solidFill>
          <a:ln w="12700">
            <a:solidFill>
              <a:srgbClr val="E5F7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04872" y="5193792"/>
            <a:ext cx="7443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7DAD"/>
                </a:solidFill>
              </a:rPr>
              <a:t>O HISTÓRICO MANTÉM O CONTEXTO DE COMO O RESULTADO FOI FORMADO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9B5D1"/>
                </a:solidFill>
              </a:rPr>
              <a:t>O QUE EXISTE NO PRODUTO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Seis áreas trabalham ao redor do projeto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0700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O menu combina operação cotidiana, administração e uma área complementar de estoque.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336499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83080"/>
            <a:ext cx="64008" cy="1627632"/>
          </a:xfrm>
          <a:prstGeom prst="rect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965960"/>
            <a:ext cx="2980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47DAD"/>
                </a:solidFill>
              </a:rPr>
              <a:t>ÁREA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05256" y="2258568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Projetos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05256" y="26974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0758A"/>
                </a:solidFill>
              </a:rPr>
              <a:t>Cadastro, busca, ciclo de vida e detalhes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4453128" y="1783080"/>
            <a:ext cx="336499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53128" y="1783080"/>
            <a:ext cx="64008" cy="1627632"/>
          </a:xfrm>
          <a:prstGeom prst="rect">
            <a:avLst/>
          </a:prstGeom>
          <a:solidFill>
            <a:srgbClr val="19B5D1"/>
          </a:solidFill>
          <a:ln w="12700">
            <a:solidFill>
              <a:srgbClr val="19B5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1965960"/>
            <a:ext cx="2980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9B5D1"/>
                </a:solidFill>
              </a:rPr>
              <a:t>ÁREA 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72584" y="2258568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Tarefas e equipes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72584" y="26974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0758A"/>
                </a:solidFill>
              </a:rPr>
              <a:t>Kanban/lista/calendário, atribuições e filtros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220456" y="1783080"/>
            <a:ext cx="336499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0456" y="1783080"/>
            <a:ext cx="64008" cy="1627632"/>
          </a:xfrm>
          <a:prstGeom prst="rect">
            <a:avLst/>
          </a:prstGeom>
          <a:solidFill>
            <a:srgbClr val="2E9B69"/>
          </a:solidFill>
          <a:ln w="12700">
            <a:solidFill>
              <a:srgbClr val="2E9B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9912" y="1965960"/>
            <a:ext cx="2980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9B69"/>
                </a:solidFill>
              </a:rPr>
              <a:t>ÁREA 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39912" y="2258568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Financeiro e portfólio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39912" y="26974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0758A"/>
                </a:solidFill>
              </a:rPr>
              <a:t>Tarifas, impostos, despesas, resultado e análises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85800" y="3721608"/>
            <a:ext cx="336499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721608"/>
            <a:ext cx="64008" cy="1627632"/>
          </a:xfrm>
          <a:prstGeom prst="rect">
            <a:avLst/>
          </a:prstGeom>
          <a:solidFill>
            <a:srgbClr val="7467D8"/>
          </a:solidFill>
          <a:ln w="12700">
            <a:solidFill>
              <a:srgbClr val="7467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3904488"/>
            <a:ext cx="2980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467D8"/>
                </a:solidFill>
              </a:rPr>
              <a:t>ÁREA 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05256" y="4197096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Colaboração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05256" y="46360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0758A"/>
                </a:solidFill>
              </a:rPr>
              <a:t>Agenda, inbox, convites e documentos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4453128" y="3721608"/>
            <a:ext cx="336499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53128" y="3721608"/>
            <a:ext cx="64008" cy="1627632"/>
          </a:xfrm>
          <a:prstGeom prst="rect">
            <a:avLst/>
          </a:prstGeom>
          <a:solidFill>
            <a:srgbClr val="E8A23B"/>
          </a:solidFill>
          <a:ln w="12700">
            <a:solidFill>
              <a:srgbClr val="E8A2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72584" y="3904488"/>
            <a:ext cx="2980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A23B"/>
                </a:solidFill>
              </a:rPr>
              <a:t>ÁREA 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72584" y="4197096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Administração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672584" y="46360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0758A"/>
                </a:solidFill>
              </a:rPr>
              <a:t>Usuários, parâmetros, permissões e diretório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8220456" y="3721608"/>
            <a:ext cx="336499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0456" y="3721608"/>
            <a:ext cx="64008" cy="1627632"/>
          </a:xfrm>
          <a:prstGeom prst="rect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39912" y="3904488"/>
            <a:ext cx="2980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5D5D"/>
                </a:solidFill>
              </a:rPr>
              <a:t>ÁREA 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39912" y="4197096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Estoque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439912" y="46360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0758A"/>
                </a:solidFill>
              </a:rPr>
              <a:t>Produtos, categorias e movimentações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9B5D1"/>
                </a:solidFill>
              </a:rPr>
              <a:t>COMO O SISTEMA SE COMPORTA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Regras de negócio protegem o ciclo e a consistência dos dados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0700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A interface oferece os fluxos; a API aplica as permissões e validações.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10716768" cy="512064"/>
          </a:xfrm>
          <a:prstGeom prst="roundRect">
            <a:avLst>
              <a:gd name="adj" fmla="val 21429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8928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7DAD"/>
                </a:solidFill>
              </a:rPr>
              <a:t>Acesso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606040" y="18745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Contas provisionadas; projetos isolados por empresa e vínculo.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13232" y="2395728"/>
            <a:ext cx="10716768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5511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B5D1"/>
                </a:solidFill>
              </a:rPr>
              <a:t>Tarefas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606040" y="253288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Acesso ao projeto; terceiros dependem de permissão específica.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3232" y="3054096"/>
            <a:ext cx="10716768" cy="512064"/>
          </a:xfrm>
          <a:prstGeom prst="roundRect">
            <a:avLst>
              <a:gd name="adj" fmla="val 21429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2095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467D8"/>
                </a:solidFill>
              </a:rPr>
              <a:t>Tarifas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606040" y="3191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Vigência sem sobreposição; tarifa histórica capturada no registro.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3232" y="3712464"/>
            <a:ext cx="10716768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38679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B69"/>
                </a:solidFill>
              </a:rPr>
              <a:t>Despesas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606040" y="384962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Somente as aprovadas entram no resultado realizado.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" y="4370832"/>
            <a:ext cx="10716768" cy="512064"/>
          </a:xfrm>
          <a:prstGeom prst="roundRect">
            <a:avLst>
              <a:gd name="adj" fmla="val 21429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4526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5D5D"/>
                </a:solidFill>
              </a:rPr>
              <a:t>Finalização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606040" y="450799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Bloqueia alterações; reabertura e exclusão exigem justificativa.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3232" y="5029200"/>
            <a:ext cx="10716768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51846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23B"/>
                </a:solidFill>
              </a:rPr>
              <a:t>Auditoria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606040" y="51663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Operações relevantes deixam registros para consulta.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9B5D1"/>
                </a:solidFill>
              </a:rPr>
              <a:t>MOTOR FINANCEIRO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O realizado é montado a partir de horas e eventos aprovados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0700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A apuração diferencia previsão, receita, custos e itens ainda incompletos.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4069080" cy="3401568"/>
          </a:xfrm>
          <a:prstGeom prst="roundRect">
            <a:avLst>
              <a:gd name="adj" fmla="val 322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1214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Resultado do projeto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24128" y="2761488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8E8F2"/>
                </a:solidFill>
              </a:rPr>
              <a:t>Receita realizada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8E8F2"/>
                </a:solidFill>
              </a:rPr>
              <a:t>− custos de mão de obra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8E8F2"/>
                </a:solidFill>
              </a:rPr>
              <a:t>− impostos e comissão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8E8F2"/>
                </a:solidFill>
              </a:rPr>
              <a:t>− despesas aprovadas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24128" y="4370832"/>
            <a:ext cx="3246120" cy="0"/>
          </a:xfrm>
          <a:prstGeom prst="line">
            <a:avLst/>
          </a:prstGeom>
          <a:noFill/>
          <a:ln w="25400">
            <a:solidFill>
              <a:srgbClr val="19B5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45994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B5D1"/>
                </a:solidFill>
              </a:rPr>
              <a:t>= lucro e margem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257800" y="1929384"/>
            <a:ext cx="365760" cy="365760"/>
          </a:xfrm>
          <a:prstGeom prst="ellipse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30952" y="2011680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06440" y="19019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Tarifas históricas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18120" y="18928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58A"/>
                </a:solidFill>
              </a:rPr>
              <a:t>Reajustes futuros não reescrevem horas antigas.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57800" y="2779776"/>
            <a:ext cx="365760" cy="365760"/>
          </a:xfrm>
          <a:prstGeom prst="ellipse">
            <a:avLst/>
          </a:prstGeom>
          <a:solidFill>
            <a:srgbClr val="7467D8"/>
          </a:solidFill>
          <a:ln w="12700">
            <a:solidFill>
              <a:srgbClr val="7467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0952" y="2862072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06440" y="27523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Hora extra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18120" y="27432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58A"/>
                </a:solidFill>
              </a:rPr>
              <a:t>Pode usar tarifas de custo e faturamento próprias.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57800" y="3630168"/>
            <a:ext cx="365760" cy="365760"/>
          </a:xfrm>
          <a:prstGeom prst="ellipse">
            <a:avLst/>
          </a:prstGeom>
          <a:solidFill>
            <a:srgbClr val="E8A23B"/>
          </a:solidFill>
          <a:ln w="12700">
            <a:solidFill>
              <a:srgbClr val="E8A2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0952" y="3712464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06440" y="360273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Sem tarifa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818120" y="35935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58A"/>
                </a:solidFill>
              </a:rPr>
              <a:t>O resultado sinaliza que está parcial.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57800" y="4480560"/>
            <a:ext cx="365760" cy="365760"/>
          </a:xfrm>
          <a:prstGeom prst="ellipse">
            <a:avLst/>
          </a:prstGeom>
          <a:solidFill>
            <a:srgbClr val="2E9B69"/>
          </a:solidFill>
          <a:ln w="12700">
            <a:solidFill>
              <a:srgbClr val="2E9B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30952" y="4562856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06440" y="44531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Sem duplicidade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818120" y="444398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58A"/>
                </a:solidFill>
              </a:rPr>
              <a:t>Tarefas vinculadas a apontamentos não contam duas vezes.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9B5D1"/>
                </a:solidFill>
              </a:rPr>
              <a:t>TECNOLOGIA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Laravel organiza o domínio; React entrega a experiência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0700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Uma aplicação web com API, persistência relacional e apoio analítico.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0120" y="1773936"/>
            <a:ext cx="10287000" cy="713232"/>
          </a:xfrm>
          <a:prstGeom prst="roundRect">
            <a:avLst>
              <a:gd name="adj" fmla="val 15385"/>
            </a:avLst>
          </a:prstGeom>
          <a:solidFill>
            <a:srgbClr val="EEF7F9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773936"/>
            <a:ext cx="91440" cy="713232"/>
          </a:xfrm>
          <a:prstGeom prst="rect">
            <a:avLst/>
          </a:prstGeom>
          <a:solidFill>
            <a:srgbClr val="19B5D1"/>
          </a:solidFill>
          <a:ln w="12700">
            <a:solidFill>
              <a:srgbClr val="19B5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19385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9B5D1"/>
                </a:solidFill>
              </a:rPr>
              <a:t>INTERFACE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172968" y="19202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React 18 + Vite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44768" y="19293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SPA responsiva • JavaScript • CSS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2752344"/>
            <a:ext cx="102870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752344"/>
            <a:ext cx="91440" cy="713232"/>
          </a:xfrm>
          <a:prstGeom prst="rect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8448" y="29169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47DAD"/>
                </a:solidFill>
              </a:rPr>
              <a:t>API / APLICAÇÃO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172968" y="28986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PHP 8.3 + Laravel 13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44768" y="290779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REST • Sanctum • validação • sessão e CSRF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0120" y="3730752"/>
            <a:ext cx="10287000" cy="713232"/>
          </a:xfrm>
          <a:prstGeom prst="roundRect">
            <a:avLst>
              <a:gd name="adj" fmla="val 15385"/>
            </a:avLst>
          </a:prstGeom>
          <a:solidFill>
            <a:srgbClr val="EEF7F9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730752"/>
            <a:ext cx="91440" cy="713232"/>
          </a:xfrm>
          <a:prstGeom prst="rect">
            <a:avLst/>
          </a:prstGeom>
          <a:solidFill>
            <a:srgbClr val="7467D8"/>
          </a:solidFill>
          <a:ln w="12700">
            <a:solidFill>
              <a:srgbClr val="7467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8448" y="38953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467D8"/>
                </a:solidFill>
              </a:rPr>
              <a:t>DOMÍNIO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172968" y="387705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Actions • Models • Controllers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44768" y="388620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Projetos • horas • financeiro • auditoria • estoque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0120" y="4709160"/>
            <a:ext cx="102870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4709160"/>
            <a:ext cx="91440" cy="713232"/>
          </a:xfrm>
          <a:prstGeom prst="rect">
            <a:avLst/>
          </a:prstGeom>
          <a:solidFill>
            <a:srgbClr val="2E9B69"/>
          </a:solidFill>
          <a:ln w="12700">
            <a:solidFill>
              <a:srgbClr val="2E9B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8448" y="48737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2E9B69"/>
                </a:solidFill>
              </a:rPr>
              <a:t>DADOS / RELATÓRIOS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172968" y="48554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PostgreSQL + Python/Pandas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44768" y="486460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Persistência relacional • consolidação analítica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359152" y="5806440"/>
            <a:ext cx="7516368" cy="274320"/>
          </a:xfrm>
          <a:prstGeom prst="roundRect">
            <a:avLst>
              <a:gd name="adj" fmla="val 50000"/>
            </a:avLst>
          </a:prstGeom>
          <a:solidFill>
            <a:srgbClr val="E5F7FA"/>
          </a:solidFill>
          <a:ln w="12700">
            <a:solidFill>
              <a:srgbClr val="E5F7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32304" y="5861304"/>
            <a:ext cx="7370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7DAD"/>
                </a:solidFill>
              </a:rPr>
              <a:t>FILA LARAVEL • E-MAILS ASSÍNCRONOS • SCHEDULER PARA ROTINAS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9B5D1"/>
                </a:solidFill>
              </a:rPr>
              <a:t>SEGURANÇA E OPERAÇÃO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Identidade, permissão e rastreabilidade são parte do produto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0700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A segurança também depende de configuração e operação corretas.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3364992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20240"/>
            <a:ext cx="64008" cy="3063240"/>
          </a:xfrm>
          <a:prstGeom prst="rect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103120"/>
            <a:ext cx="2980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47DAD"/>
                </a:solidFill>
              </a:rPr>
              <a:t>IDENTIDADE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05256" y="2395728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Quem entra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05256" y="2834640"/>
            <a:ext cx="292608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0758A"/>
                </a:solidFill>
              </a:rPr>
              <a:t>Provisionamento administrativo • ativação de uso único • Google/Microsoft • 2FA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4453128" y="1920240"/>
            <a:ext cx="3364992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53128" y="1920240"/>
            <a:ext cx="64008" cy="3063240"/>
          </a:xfrm>
          <a:prstGeom prst="rect">
            <a:avLst/>
          </a:prstGeom>
          <a:solidFill>
            <a:srgbClr val="7467D8"/>
          </a:solidFill>
          <a:ln w="12700">
            <a:solidFill>
              <a:srgbClr val="7467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2103120"/>
            <a:ext cx="2980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467D8"/>
                </a:solidFill>
              </a:rPr>
              <a:t>AUTORIZAÇÃO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72584" y="2395728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O que pode fazer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72584" y="2834640"/>
            <a:ext cx="292608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0758A"/>
                </a:solidFill>
              </a:rPr>
              <a:t>Perfis • permissões por operação • escopo de projeto • proteção de dados financeiros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220456" y="1920240"/>
            <a:ext cx="3364992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0456" y="1920240"/>
            <a:ext cx="64008" cy="3063240"/>
          </a:xfrm>
          <a:prstGeom prst="rect">
            <a:avLst/>
          </a:prstGeom>
          <a:solidFill>
            <a:srgbClr val="2E9B69"/>
          </a:solidFill>
          <a:ln w="12700">
            <a:solidFill>
              <a:srgbClr val="2E9B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9912" y="2103120"/>
            <a:ext cx="2980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9B69"/>
                </a:solidFill>
              </a:rPr>
              <a:t>RASTREABILIDADE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39912" y="2395728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O que fica registrado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39912" y="2834640"/>
            <a:ext cx="292608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0758A"/>
                </a:solidFill>
              </a:rPr>
              <a:t>Auditoria de operações • justificativas • histórico • retenção configurável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822960" y="5321808"/>
            <a:ext cx="10515600" cy="484632"/>
          </a:xfrm>
          <a:prstGeom prst="roundRect">
            <a:avLst>
              <a:gd name="adj" fmla="val 22642"/>
            </a:avLst>
          </a:prstGeom>
          <a:solidFill>
            <a:srgbClr val="FFF5E6"/>
          </a:solidFill>
          <a:ln w="12700">
            <a:solidFill>
              <a:srgbClr val="F0D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5477256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5B16"/>
                </a:solidFill>
              </a:rPr>
              <a:t>A integração com Entra ID exige credenciais e consentimento administrativo do tenant.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9B5D1"/>
                </a:solidFill>
              </a:rPr>
              <a:t>REFERÊNCIAS DE MERCADO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O Spot cruza gestão de trabalho e rentabilidade de serviços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0700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Comparação de posicionamento com base em funcionalidades divulgadas pelos próprios fornecedores.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1965960" cy="484632"/>
          </a:xfrm>
          <a:prstGeom prst="rect">
            <a:avLst/>
          </a:prstGeom>
          <a:solidFill>
            <a:srgbClr val="10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11096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DIMENSÃO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24328" y="1755648"/>
            <a:ext cx="2788920" cy="484632"/>
          </a:xfrm>
          <a:prstGeom prst="rect">
            <a:avLst/>
          </a:prstGeom>
          <a:solidFill>
            <a:srgbClr val="147DA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15768" y="1911096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SPOT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13248" y="1755648"/>
            <a:ext cx="2788920" cy="484632"/>
          </a:xfrm>
          <a:prstGeom prst="rect">
            <a:avLst/>
          </a:prstGeom>
          <a:solidFill>
            <a:srgbClr val="7467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04688" y="1911096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monday.com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02168" y="1755648"/>
            <a:ext cx="2788920" cy="484632"/>
          </a:xfrm>
          <a:prstGeom prst="rect">
            <a:avLst/>
          </a:prstGeom>
          <a:solidFill>
            <a:srgbClr val="2E9B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93608" y="1911096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Teamwork.com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" y="2240280"/>
            <a:ext cx="1965960" cy="786384"/>
          </a:xfrm>
          <a:prstGeom prst="rect">
            <a:avLst/>
          </a:prstGeom>
          <a:solidFill>
            <a:srgbClr val="EDF3F7"/>
          </a:solidFill>
          <a:ln w="8890">
            <a:solidFill>
              <a:srgbClr val="D7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350008"/>
            <a:ext cx="1746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A43"/>
                </a:solidFill>
              </a:rPr>
              <a:t>Ênfase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24328" y="2240280"/>
            <a:ext cx="2788920" cy="786384"/>
          </a:xfrm>
          <a:prstGeom prst="rect">
            <a:avLst/>
          </a:prstGeom>
          <a:solidFill>
            <a:srgbClr val="EDF3F7"/>
          </a:solidFill>
          <a:ln w="8890">
            <a:solidFill>
              <a:srgbClr val="D7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34056" y="2350008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3A"/>
                </a:solidFill>
              </a:rPr>
              <a:t>Projeto + controle financeiro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13248" y="2240280"/>
            <a:ext cx="2788920" cy="786384"/>
          </a:xfrm>
          <a:prstGeom prst="rect">
            <a:avLst/>
          </a:prstGeom>
          <a:solidFill>
            <a:srgbClr val="EDF3F7"/>
          </a:solidFill>
          <a:ln w="8890">
            <a:solidFill>
              <a:srgbClr val="D7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22976" y="2350008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3A"/>
                </a:solidFill>
              </a:rPr>
              <a:t>Plataforma configurável de trabalho e portfólio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02168" y="2240280"/>
            <a:ext cx="2788920" cy="786384"/>
          </a:xfrm>
          <a:prstGeom prst="rect">
            <a:avLst/>
          </a:prstGeom>
          <a:solidFill>
            <a:srgbClr val="EDF3F7"/>
          </a:solidFill>
          <a:ln w="8890">
            <a:solidFill>
              <a:srgbClr val="D7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11896" y="2350008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3A"/>
                </a:solidFill>
              </a:rPr>
              <a:t>Serviços a clientes e rentabilidade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" y="3026664"/>
            <a:ext cx="196596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7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36392"/>
            <a:ext cx="1746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A43"/>
                </a:solidFill>
              </a:rPr>
              <a:t>Execução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624328" y="3026664"/>
            <a:ext cx="278892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7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34056" y="3136392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3A"/>
                </a:solidFill>
              </a:rPr>
              <a:t>Tarefas, equipe, horas e despesas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13248" y="3026664"/>
            <a:ext cx="278892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7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22976" y="3136392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3A"/>
                </a:solidFill>
              </a:rPr>
              <a:t>Boards, visões, workload e dashboards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02168" y="3026664"/>
            <a:ext cx="278892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7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11896" y="3136392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3A"/>
                </a:solidFill>
              </a:rPr>
              <a:t>Horas faturáveis, workload e budgets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8368" y="3813048"/>
            <a:ext cx="1965960" cy="786384"/>
          </a:xfrm>
          <a:prstGeom prst="rect">
            <a:avLst/>
          </a:prstGeom>
          <a:solidFill>
            <a:srgbClr val="EDF3F7"/>
          </a:solidFill>
          <a:ln w="8890">
            <a:solidFill>
              <a:srgbClr val="D7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3922776"/>
            <a:ext cx="1746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A43"/>
                </a:solidFill>
              </a:rPr>
              <a:t>Finanças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624328" y="3813048"/>
            <a:ext cx="2788920" cy="786384"/>
          </a:xfrm>
          <a:prstGeom prst="rect">
            <a:avLst/>
          </a:prstGeom>
          <a:solidFill>
            <a:srgbClr val="EDF3F7"/>
          </a:solidFill>
          <a:ln w="8890">
            <a:solidFill>
              <a:srgbClr val="D7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34056" y="3922776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3A"/>
                </a:solidFill>
              </a:rPr>
              <a:t>Tarifas, impostos, comissão e resultado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13248" y="3813048"/>
            <a:ext cx="2788920" cy="786384"/>
          </a:xfrm>
          <a:prstGeom prst="rect">
            <a:avLst/>
          </a:prstGeom>
          <a:solidFill>
            <a:srgbClr val="EDF3F7"/>
          </a:solidFill>
          <a:ln w="8890">
            <a:solidFill>
              <a:srgbClr val="D7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22976" y="3922776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3A"/>
                </a:solidFill>
              </a:rPr>
              <a:t>Dashboards e dados de custo conforme solução/plano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02168" y="3813048"/>
            <a:ext cx="2788920" cy="786384"/>
          </a:xfrm>
          <a:prstGeom prst="rect">
            <a:avLst/>
          </a:prstGeom>
          <a:solidFill>
            <a:srgbClr val="EDF3F7"/>
          </a:solidFill>
          <a:ln w="8890">
            <a:solidFill>
              <a:srgbClr val="D7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11896" y="3922776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3A"/>
                </a:solidFill>
              </a:rPr>
              <a:t>Rentabilidade de projeto/cliente e tempo faturável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58368" y="4599432"/>
            <a:ext cx="196596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7E1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" y="4709160"/>
            <a:ext cx="1746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A43"/>
                </a:solidFill>
              </a:rPr>
              <a:t>Natureza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624328" y="4599432"/>
            <a:ext cx="278892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7E1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34056" y="4709160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3A"/>
                </a:solidFill>
              </a:rPr>
              <a:t>Sistema customizável interno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13248" y="4599432"/>
            <a:ext cx="278892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7E1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22976" y="4709160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3A"/>
                </a:solidFill>
              </a:rPr>
              <a:t>Produto SaaS horizontal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202168" y="4599432"/>
            <a:ext cx="278892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7E1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11896" y="4709160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3A"/>
                </a:solidFill>
              </a:rPr>
              <a:t>SaaS especializado em client work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58952" y="565099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58A"/>
                </a:solidFill>
              </a:rPr>
              <a:t>Fontes de funcionalidades: monday.com Projects / Portfolio; Teamwork.com Agencies. Consulte planos e disponibilidade atuais.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9B5D1"/>
                </a:solidFill>
              </a:rPr>
              <a:t>PARA QUEM TRABALHA NO SPOT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Um sistema compartilhado por execução, gestão e administração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0700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A mesma informação atende perguntas diferentes conforme o papel.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47088"/>
            <a:ext cx="507492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2048256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2103120"/>
            <a:ext cx="1545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ANALISTA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832" y="2487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O que preciso fazer? Onde registrar meu tempo?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29443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758A"/>
                </a:solidFill>
              </a:rPr>
              <a:t>Tarefas • agenda • projetos atribuídos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45352" y="1847088"/>
            <a:ext cx="507492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3952" y="2048256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2E9B69"/>
          </a:solidFill>
          <a:ln w="12700">
            <a:solidFill>
              <a:srgbClr val="2E9B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47104" y="2103120"/>
            <a:ext cx="1545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GESTOR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73952" y="2487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Como está o prazo, a equipe e a margem?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73952" y="29443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758A"/>
                </a:solidFill>
              </a:rPr>
              <a:t>Portfólio • equipe • despesas • resultado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" y="3767328"/>
            <a:ext cx="507492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1832" y="3968496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7467D8"/>
          </a:solidFill>
          <a:ln w="12700">
            <a:solidFill>
              <a:srgbClr val="7467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984" y="4023360"/>
            <a:ext cx="1545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ADMINISTRADOR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41832" y="4407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Quem acessa e como o sistema está configurado?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1832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758A"/>
                </a:solidFill>
              </a:rPr>
              <a:t>Usuários • parâmetros • permissões • auditoria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45352" y="3767328"/>
            <a:ext cx="507492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3968496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E8A23B"/>
          </a:solidFill>
          <a:ln w="12700">
            <a:solidFill>
              <a:srgbClr val="E8A2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47104" y="4023360"/>
            <a:ext cx="1545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PROFISSIONAL TÉCNICO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73952" y="4407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Como mantenho e opero com segurança?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73952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758A"/>
                </a:solidFill>
              </a:rPr>
              <a:t>Rotas • migrations • filas • scheduler • backups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9B5D1"/>
                </a:solidFill>
              </a:rPr>
              <a:t>MATURIDADE E LIMITES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O código mostra um núcleo amplo; produção exige disciplina operacional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20700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Separar capacidade implementada, integração configurada e escala comprovada.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1810512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2E9B69"/>
          </a:solidFill>
          <a:ln w="12700">
            <a:solidFill>
              <a:srgbClr val="2E9B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65376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 REPOSITÓRIO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127248" y="1792224"/>
            <a:ext cx="8001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3A"/>
                </a:solidFill>
              </a:rPr>
              <a:t>CRUD e regras de projetos, tarefas, governança, horas, despesas, financeiro, estoque, usuários e auditoria.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688336"/>
            <a:ext cx="1033272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3035808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E8A23B"/>
          </a:solidFill>
          <a:ln w="12700">
            <a:solidFill>
              <a:srgbClr val="E8A2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90672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DEPENDE DE AMBIENTE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27248" y="3017520"/>
            <a:ext cx="8001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3A"/>
                </a:solidFill>
              </a:rPr>
              <a:t>SMTP, OAuth, Microsoft Graph, PostgreSQL produtivo, worker, scheduler, storage e HTTPS.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913632"/>
            <a:ext cx="1033272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4261104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7467D8"/>
          </a:solidFill>
          <a:ln w="12700">
            <a:solidFill>
              <a:srgbClr val="7467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315968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PRECISA COMPROVAÇÃO EM USO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27248" y="4242816"/>
            <a:ext cx="8001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3A"/>
                </a:solidFill>
              </a:rPr>
              <a:t>Adoção, desempenho, disponibilidade, qualidade de dados, recuperação e valor percebido.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5605272"/>
            <a:ext cx="10469880" cy="411480"/>
          </a:xfrm>
          <a:prstGeom prst="roundRect">
            <a:avLst>
              <a:gd name="adj" fmla="val 26667"/>
            </a:avLst>
          </a:prstGeom>
          <a:solidFill>
            <a:srgbClr val="FFF0EF"/>
          </a:solidFill>
          <a:ln w="12700">
            <a:solidFill>
              <a:srgbClr val="F3CE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733288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2433A"/>
                </a:solidFill>
              </a:rPr>
              <a:t>O estado descrito nos documentos é um retrato do repositório; não substitui validação de produção.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0"/>
            <a:ext cx="3822192" cy="6858000"/>
          </a:xfrm>
          <a:prstGeom prst="rect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658368"/>
            <a:ext cx="2240280" cy="2240280"/>
          </a:xfrm>
          <a:prstGeom prst="ellipse">
            <a:avLst/>
          </a:prstGeom>
          <a:solidFill>
            <a:srgbClr val="19B5D1">
              <a:alpha val="82000"/>
            </a:srgbClr>
          </a:solidFill>
          <a:ln w="12700">
            <a:solidFill>
              <a:srgbClr val="19B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68580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19B5D1"/>
          </a:solidFill>
          <a:ln w="12700">
            <a:solidFill>
              <a:srgbClr val="19B5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740664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</a:rPr>
              <a:t>SÍNTESE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32588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Um projeto.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Uma história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de execução.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Um resultado.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4233672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E8F2"/>
                </a:solidFill>
              </a:rPr>
              <a:t>O Spot conecta gestão operacional e leitura financeira, com governança explícita.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562356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B5D1"/>
                </a:solidFill>
              </a:rPr>
              <a:t>Próximo passo: validar com usuários, medir operação e priorizar evoluções.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Computécnica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 — produto, tecnologia e mercado</dc:title>
  <dc:subject>Visão completa do produto, arquitetura e posicionamento do Spot</dc:subject>
  <dc:creator>Equipe Spot</dc:creator>
  <cp:lastModifiedBy>Equipe Spot</cp:lastModifiedBy>
  <cp:revision>1</cp:revision>
  <dcterms:created xsi:type="dcterms:W3CDTF">2026-10-20T00:02:26Z</dcterms:created>
  <dcterms:modified xsi:type="dcterms:W3CDTF">2026-10-20T00:02:26Z</dcterms:modified>
</cp:coreProperties>
</file>